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347472"/>
            <a:ext cx="2560320" cy="2377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474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Level 3  |  HB93CY004  |  4 Credits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713232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Learning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38912" y="26334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Resource  |  Jonathan Jones  |  Brynllywarch Outdoor Education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3090672"/>
            <a:ext cx="1572768" cy="621792"/>
          </a:xfrm>
          <a:prstGeom prst="rect">
            <a:avLst/>
          </a:prstGeom>
          <a:solidFill>
            <a:srgbClr val="1A6B3C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3090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Goals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3090672"/>
            <a:ext cx="1572768" cy="621792"/>
          </a:xfrm>
          <a:prstGeom prst="rect">
            <a:avLst/>
          </a:prstGeom>
          <a:solidFill>
            <a:srgbClr val="1A6B3C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090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(12hrs+)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67328" y="3090672"/>
            <a:ext cx="1572768" cy="621792"/>
          </a:xfrm>
          <a:prstGeom prst="rect">
            <a:avLst/>
          </a:prstGeom>
          <a:solidFill>
            <a:srgbClr val="1A6B3C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3090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67328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Goals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31536" y="3090672"/>
            <a:ext cx="1572768" cy="621792"/>
          </a:xfrm>
          <a:prstGeom prst="rect">
            <a:avLst/>
          </a:prstGeom>
          <a:solidFill>
            <a:srgbClr val="1A6B3C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3090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31536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Analysis</a:t>
            </a:r>
            <a:endParaRPr lang="en-US" sz="9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3977640"/>
            <a:ext cx="841248" cy="585216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023360"/>
            <a:ext cx="914400" cy="51206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at a Glance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For the learner to further increase development of own skills through participating in outdoor learning.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1115568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115568"/>
            <a:ext cx="2029968" cy="50292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1115568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77824" y="11155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Selection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Goals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1664208"/>
            <a:ext cx="186537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Select an activity + rationale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Explain contribution to short and long-term goals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487168" y="1115568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487168" y="1115568"/>
            <a:ext cx="2029968" cy="50292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487168" y="1115568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999232" y="11155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the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578608" y="1664208"/>
            <a:ext cx="186537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Participate in chosen activity (min. 12 hours) — OBSERVATION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Demonstrate skill progression — OBSERVATION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608576" y="1115568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08576" y="1115568"/>
            <a:ext cx="2029968" cy="50292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1115568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120640" y="11155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Personal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700016" y="1664208"/>
            <a:ext cx="186537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Evaluate personal progress during participation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Review goals from 1.2 + set new goals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729984" y="1115568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729984" y="1115568"/>
            <a:ext cx="2029968" cy="50292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29984" y="1115568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242048" y="11155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821424" y="1664208"/>
            <a:ext cx="186537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Explain how activity developed employability skills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Evaluate enjoyment, challenge and independence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5488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minimum 12 hours participation. AC 2.1 and AC 2.2 both require direct assessor observation.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-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47472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1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47472" y="8046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Activity and Set Goals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47472" y="19019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wisely, set SMART goals, and explain the connection between your activity and your development.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" y="2395728"/>
            <a:ext cx="5943600" cy="2377440"/>
          </a:xfrm>
          <a:prstGeom prst="rect">
            <a:avLst/>
          </a:prstGeom>
          <a:solidFill>
            <a:srgbClr val="0A2E1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4323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2724912"/>
            <a:ext cx="56875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Select an outdoor activity related to further development of own skills — provide a rationale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(e.g. to further develop skills in a chosen activity, or to develop new skills in a different activity)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Explain how the outdoor learning activity may contribute to own short and long-term goals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  |  Skills Development through Outdoor Learning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Your Activity — Making the Right Choice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9509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can be one you already participate in (further develop existing skills) OR a new one (develop new skills). Both are valid — the rationale is what counts.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" y="1280160"/>
            <a:ext cx="420624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1280160"/>
            <a:ext cx="4206240" cy="40233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12801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develop existing skills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75488" y="1719072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participate in this activity at a basic level. You want to reach the next stage — e.g. progress from Grade 1 to Grade 2 paddling, or improve navigation accuracy on longer routes.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5488" y="250545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rationale must address: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5488" y="2779776"/>
            <a:ext cx="398678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current skill level?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skills will you develop?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activity the best vehicle for that development?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81728" y="1280160"/>
            <a:ext cx="420624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81728" y="1280160"/>
            <a:ext cx="4206240" cy="40233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81728" y="12801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new skills in a different activity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91456" y="1719072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beginner in this activity. You want to acquire a new set of skills — e.g. start rock climbing, learn to mountain bike, take up sea kayaking.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791456" y="250545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rationale must address: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791456" y="2779776"/>
            <a:ext cx="398678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have you chosen this specific new activity?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skills will it develop that others wouldn't?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your starting point and your target level?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SMART Goals (AC 1.2)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969264"/>
            <a:ext cx="640080" cy="64008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9692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78992" y="969264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194560" y="96926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skill will you improve?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52544" y="1005840"/>
            <a:ext cx="2066544" cy="566928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07408" y="102412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'Get better at kayaking'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73952" y="1005840"/>
            <a:ext cx="2304288" cy="566928"/>
          </a:xfrm>
          <a:prstGeom prst="rect">
            <a:avLst/>
          </a:prstGeom>
          <a:solidFill>
            <a:srgbClr val="E8F5EE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28816" y="1024128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'Maintain a stable low brace in moving Grade 2 water'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65760" y="1737360"/>
            <a:ext cx="640080" cy="6400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1078992" y="1737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19456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know when you've achieved it?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352544" y="1773936"/>
            <a:ext cx="2066544" cy="566928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07408" y="1792224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'Improve my navigation'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473952" y="1773936"/>
            <a:ext cx="2304288" cy="566928"/>
          </a:xfrm>
          <a:prstGeom prst="rect">
            <a:avLst/>
          </a:prstGeom>
          <a:solidFill>
            <a:srgbClr val="E8F5EE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28816" y="179222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'Navigate a 10km route to within 100m of each checkpoint'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65760" y="2505456"/>
            <a:ext cx="640080" cy="640080"/>
          </a:xfrm>
          <a:prstGeom prst="ellipse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25054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1078992" y="2505456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2194560" y="25054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realistic given your current level and time?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352544" y="2542032"/>
            <a:ext cx="2066544" cy="566928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407408" y="256032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'Achieve Mountain Leader by end of term'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473952" y="2542032"/>
            <a:ext cx="2304288" cy="566928"/>
          </a:xfrm>
          <a:prstGeom prst="rect">
            <a:avLst/>
          </a:prstGeom>
          <a:solidFill>
            <a:srgbClr val="E8F5EE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528816" y="256032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'Complete the first two navigation modules of ML training'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65760" y="327355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65760" y="3273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36" name="Text 32"/>
          <p:cNvSpPr/>
          <p:nvPr/>
        </p:nvSpPr>
        <p:spPr>
          <a:xfrm>
            <a:off x="1078992" y="327355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2194560" y="32735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connect to your chosen activity and development needs?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352544" y="3310128"/>
            <a:ext cx="2066544" cy="566928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407408" y="3328416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'Get fitter'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473952" y="3310128"/>
            <a:ext cx="2304288" cy="566928"/>
          </a:xfrm>
          <a:prstGeom prst="rect">
            <a:avLst/>
          </a:prstGeom>
          <a:solidFill>
            <a:srgbClr val="E8F5EE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528816" y="332841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'Build the aerobic base needed for sustained upland walking'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365760" y="4041648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44" name="Text 40"/>
          <p:cNvSpPr/>
          <p:nvPr/>
        </p:nvSpPr>
        <p:spPr>
          <a:xfrm>
            <a:off x="1078992" y="4041648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2194560" y="4041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when? Short-term = within 12hrs. Long-term = end of year / beyond.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352544" y="4078224"/>
            <a:ext cx="2066544" cy="566928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407408" y="4096512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'At some point improve my rolling'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473952" y="4078224"/>
            <a:ext cx="2304288" cy="566928"/>
          </a:xfrm>
          <a:prstGeom prst="rect">
            <a:avLst/>
          </a:prstGeom>
          <a:solidFill>
            <a:srgbClr val="E8F5EE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528816" y="4096512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'Achieve a reliable kayak roll by the end of this unit (12 hrs)'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-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47472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2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47472" y="8046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Participate Safely in the Activity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47472" y="19019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out there — the learning is in the doing. Record every session and reflect on your development.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" y="2395728"/>
            <a:ext cx="5943600" cy="2377440"/>
          </a:xfrm>
          <a:prstGeom prst="rect">
            <a:avLst/>
          </a:prstGeom>
          <a:solidFill>
            <a:srgbClr val="0A2E1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4323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2724912"/>
            <a:ext cx="56875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Participate in the chosen outdoor learning activity — MINIMUM 12 HOURS — OBSERVATION required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Demonstrate progression of own skills — OBSERVATION required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  |  Skills Development through Outdoor Learning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Requirements (AC 2.1)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1060704"/>
            <a:ext cx="2304288" cy="20665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1060704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0" dirty="0"/>
          </a:p>
        </p:txBody>
      </p:sp>
      <p:sp>
        <p:nvSpPr>
          <p:cNvPr id="12" name="Text 8"/>
          <p:cNvSpPr/>
          <p:nvPr/>
        </p:nvSpPr>
        <p:spPr>
          <a:xfrm>
            <a:off x="365760" y="243230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98064" y="1060704"/>
            <a:ext cx="598017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871216" y="1097280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Multiple sessions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871216" y="1371600"/>
            <a:ext cx="5797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several sessions — not one single event. The participation log must show at least 3 separate sessions.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98064" y="1938528"/>
            <a:ext cx="598017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871216" y="1975104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Assessor observation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871216" y="2249424"/>
            <a:ext cx="5797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where your assessor is not present do not count toward the required 12 hours.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98064" y="2816352"/>
            <a:ext cx="598017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871216" y="2852928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 every session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871216" y="3127248"/>
            <a:ext cx="5797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duration, location, session focus, conditions and progress notes. Your log is evidence.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798064" y="3694176"/>
            <a:ext cx="598017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2871216" y="3730752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Show progression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871216" y="4005072"/>
            <a:ext cx="5797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 is also assessed — your assessor must observe demonstrable skill development over the 12 hours, not just attendance.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quality of participation counts. An engaged 3-hour session showing clear effort and reflection is stronger evidence than a passive 4-hour session.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Skill Progression (AC 2.2)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914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2.2: Your assessor must observe progression — not just participation. Your written account provides the supporting narrative.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1188720"/>
            <a:ext cx="4169664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1188720"/>
            <a:ext cx="4169664" cy="329184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118872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Kolb's Experiential Learning Cycle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" y="1682496"/>
            <a:ext cx="347472" cy="34747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96112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Concrete Experience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96112" y="1901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the activity — a session on the water, a route on the hill. This is the raw material for learning.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5488" y="2432304"/>
            <a:ext cx="347472" cy="34747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96112" y="23408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Reflective Observation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96112" y="2651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think about what happened — what worked, what didn't, how you felt.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5488" y="3182112"/>
            <a:ext cx="347472" cy="34747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96112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Abstract Conceptualisation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96112" y="3401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form a theory — 'if I lower my centre of gravity on river features, I maintain control'.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5488" y="3931920"/>
            <a:ext cx="347472" cy="34747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96112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Active Experimentation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96112" y="41513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try the theory in practice at the next session — and the cycle continues.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663440" y="1188720"/>
            <a:ext cx="411480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663440" y="1188720"/>
            <a:ext cx="4114800" cy="32918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663440" y="11887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 Competence Model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663440" y="1591056"/>
            <a:ext cx="749808" cy="6583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663440" y="1591056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Incompetence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486400" y="1591056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what you don't know — unaware of the skill gap.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663440" y="2340864"/>
            <a:ext cx="7498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663440" y="2340864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Incompetence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486400" y="2340864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you can't do yet — the most common starting point.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663440" y="3090672"/>
            <a:ext cx="749808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663440" y="3090672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0" y="3090672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do it, but it requires full concentration and thought.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663440" y="3840480"/>
            <a:ext cx="749808" cy="65836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663440" y="3840480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5486400" y="384048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level — the skill is automatic and habitual.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-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47472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3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47472" y="8046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Review Personal Goals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47472" y="19019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evidence-based evaluation is the mark of a serious practitioner.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" y="2395728"/>
            <a:ext cx="5943600" cy="2377440"/>
          </a:xfrm>
          <a:prstGeom prst="rect">
            <a:avLst/>
          </a:prstGeom>
          <a:solidFill>
            <a:srgbClr val="0A2E1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4323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2724912"/>
            <a:ext cx="56875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Evaluate personal progress whilst participating in the outdoor learning activity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Review personal goals from 1.2 and set new goals for future progression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  |  Skills Development through Outdoor Learning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Your Progress (AC 3.1)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9144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= make a judgement, supported by evidence. 'I improved at kayaking' is description. 'I progressed from Conscious Incompetence to Conscious Competence on the forward stroke' is evaluation.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" y="1316736"/>
            <a:ext cx="2706624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1316736"/>
            <a:ext cx="50292" cy="15361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1353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achieve each goal from LO 1?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177393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goal: Met / Partially met / Not met. Cite specific evidence from your participation log.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82112" y="1316736"/>
            <a:ext cx="2706624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82112" y="1316736"/>
            <a:ext cx="50292" cy="15361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73552" y="1353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 why not?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73552" y="177393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factors — was the goal realistic? Were conditions or resources limiting? Was your approach effective?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98464" y="1316736"/>
            <a:ext cx="2706624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98464" y="1316736"/>
            <a:ext cx="50292" cy="1536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89904" y="1353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you?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089904" y="177393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 aspects of progress surprise you — positively or negatively? What does this tell you about your learning?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65760" y="2980944"/>
            <a:ext cx="2706624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0F452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5760" y="2980944"/>
            <a:ext cx="50292" cy="1536192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on the Conscious Competence scale for each skill?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7200" y="343814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to locate each skill on the four-stage scale. This is a concrete way to evidence progression.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182112" y="2980944"/>
            <a:ext cx="2706624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182112" y="2980944"/>
            <a:ext cx="50292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73552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your most significant development?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273552" y="343814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ONE skill area where you made the most progress. Explain why and what drove it.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998464" y="2980944"/>
            <a:ext cx="2706624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998464" y="2980944"/>
            <a:ext cx="50292" cy="153619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089904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differently to accelerate progress?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089904" y="343814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forward — if you had the 12 hours again, what would you change? This shows learning from reflection.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Goals and Setting New Ones (AC 3.2)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3.2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1060704"/>
            <a:ext cx="4169664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060704"/>
            <a:ext cx="4169664" cy="36576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1060704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Goals from AC 1.2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5488" y="1481328"/>
            <a:ext cx="391363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Re-state each original goal exactly as you wrote it in AC 1.2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clearly: Met / Partially met / Not yet met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specific evidence from your participation log for each judgement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not met: explain why — factors within and outside your 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long-term goals if what you have learned about your learning rate changes your timeline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1060704"/>
            <a:ext cx="411480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060704"/>
            <a:ext cx="4114800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63440" y="1060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New Goals for Future Progression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73168" y="1481328"/>
            <a:ext cx="391363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goals must logically follow from your evaluation — extend what you achieved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didn't fully achieve a goal: either carry forward with adjustments, or replace with a more suitable target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new goal: specific, achievable at next stage of participation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new goal: may include NGB qualifications, leadership aspirations, or a related activity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 least one new short-term AND one new long-term goal — both must be SMART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-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47472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4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47472" y="8046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Outdoor Learning Developed Own Skills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47472" y="19019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outdoor experience to the broader world of work and personal development.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" y="2395728"/>
            <a:ext cx="5943600" cy="2377440"/>
          </a:xfrm>
          <a:prstGeom prst="rect">
            <a:avLst/>
          </a:prstGeom>
          <a:solidFill>
            <a:srgbClr val="0A2E1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4323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2724912"/>
            <a:ext cx="56875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Explain how participating in the outdoor learning activity has developed own employability skills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Evaluate how participating related to: aspects of enjoyment; aspects of challenge; aspects of independence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  |  Skills Development through Outdoor Learning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Employability Skills Developed Through Outdoor Learning (AC 4.1)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914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specific skill — explain HOW the activity developed it — give an example from a session. Generic statements don't meet Level 3.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621024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Employability 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outdoor activities develop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Conveying information clearly; active listening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Briefing your group before a rapid; calling hazards; giving feedback; navigation instructions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effectively with others toward a shared goal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expeditions; buddy systems; collective route decisions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Taking initiative; guiding and motivating others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 sections of a route; making dynamic risk decisions; supporting group welfare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Problem-solving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Identifying issues and generating effective solutions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Route-finding under pressure; equipment failure; adapting to changed conditions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Persisting through difficulty; recovering from setbacks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Pushing through challenging terrain; dealing with capsizes; adapting to adverse weather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Planning, organising, taking responsibility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Preparing kit; managing nutrition/hydration; self-assessing skill level vs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Identifying, assessing and managing hazards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Applying RA skills in real dynamic conditions with genuine consequences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Enjoyment, Challenge and Independence (AC 4.2)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877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914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(not just describe) — judge the quality of each aspect and explain WHY using specific examples from your participation.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1207008"/>
            <a:ext cx="2743200" cy="3529584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1207008"/>
            <a:ext cx="2743200" cy="4572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1207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Enjoyment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5488" y="1719072"/>
            <a:ext cx="25237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aspects of the activity did you enjoy most?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your enjoyment change as your skills developed?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there moments of flow — where challenge and skill were perfectly matched?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outdoor environment itself contribute to your enjoyment?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18688" y="1207008"/>
            <a:ext cx="2743200" cy="3529584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18688" y="1207008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18688" y="1207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  Challenge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328416" y="1719072"/>
            <a:ext cx="25237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types of challenge did you encounter — physical, cognitive, emotional?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respond when things got hard?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overcoming a challenge feel like and what did it teach you?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level of challenge affect your motivation and learning?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71616" y="1207008"/>
            <a:ext cx="2743200" cy="3529584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71616" y="1207008"/>
            <a:ext cx="274320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71616" y="1207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Independence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181344" y="1719072"/>
            <a:ext cx="25237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 ways did you work more independently by the end than at the start?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specific examples of independent decision-making or self-direction.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taking responsibility for your own risk management feel?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this experience prepared you for leading or instructing others?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through Outdoor Learning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Revision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58368"/>
            <a:ext cx="8412480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define each term without looking? Test yourself with a partner.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9264"/>
          <a:ext cx="4169664" cy="3913632"/>
        </p:xfrm>
        <a:graphic>
          <a:graphicData uri="http://schemas.openxmlformats.org/drawingml/2006/table">
            <a:tbl>
              <a:tblPr/>
              <a:tblGrid>
                <a:gridCol w="1280160"/>
                <a:gridCol w="28895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Outdoor learning 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structured activity in the natural environment providing specific skill, knowledge or personal development opportunities.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progression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 improvement in the quality, consistency or range of application of a specific skill over time.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goals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 that are Specific, Measurable, Achievable, Relevant and Time-bound.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goal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goal achievable within the duration of this unit (12 hours of participation).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goal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goal extending beyond this unit — may take months or years to achieve.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Kolb's Learning 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Experience → Reflective Observation → Abstract Conceptualisation → Active Experimentation.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08576" y="969264"/>
          <a:ext cx="4169664" cy="3913632"/>
        </p:xfrm>
        <a:graphic>
          <a:graphicData uri="http://schemas.openxmlformats.org/drawingml/2006/table">
            <a:tbl>
              <a:tblPr/>
              <a:tblGrid>
                <a:gridCol w="1280160"/>
                <a:gridCol w="28895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Conscious Competence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four-stage model: Unconscious Incompetence → Conscious Incompetence → Conscious Competence → Unconscious Competence.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 judgement about quality or effectiveness, supported by evidence — not just description.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reasoned, logical explanation of why a particular choice has been made.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Employability skills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Transferable skills valued by employers: communication, teamwork, leadership, problem-solving, resilience, self-management.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ability to persist through difficulty, recover from setbacks and adapt to challenging circumstances.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capacity to direct one's own learning and participation with decreasing reliance on external guidance.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Open Your Digital Workbook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HB93CY004SkillsDevelopmentDigital.html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176272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student details and chosen activity on the Cover page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1: Name your activity, write your rationale, and set SMART short and long-term goals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2: Use the participation log to record every observed session — you need at least 12 hours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and 2.2 require your assessor to observe you — written account supports but does not replace observation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3: Evaluate your progress honestly — use evidence from your log entries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4: Name specific employability skills and evaluate enjoyment, challenge and independence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work after every session using the ↓ Save button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3977640"/>
            <a:ext cx="841248" cy="58521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023360"/>
            <a:ext cx="914400" cy="5120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HB93CY004  |  Skills Development through Outdoor Learning  |  Jonathan Jones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HB93CY004 Skills Development through Outdoor Learning</dc:title>
  <dc:subject>PptxGenJS Presentation</dc:subject>
  <dc:creator>Jonathan Jones</dc:creator>
  <cp:lastModifiedBy>Jonathan Jones</cp:lastModifiedBy>
  <cp:revision>1</cp:revision>
  <dcterms:created xsi:type="dcterms:W3CDTF">2026-06-03T06:44:53Z</dcterms:created>
  <dcterms:modified xsi:type="dcterms:W3CDTF">2026-06-03T06:44:53Z</dcterms:modified>
</cp:coreProperties>
</file>