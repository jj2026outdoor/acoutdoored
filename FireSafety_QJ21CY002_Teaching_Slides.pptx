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2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slide" Target="slide13.xml"/><Relationship Id="rId3" Type="http://schemas.openxmlformats.org/officeDocument/2006/relationships/slide" Target="slide13.xml"/><Relationship Id="rId4" Type="http://schemas.openxmlformats.org/officeDocument/2006/relationships/slide" Target="slide13.xml"/><Relationship Id="rId5" Type="http://schemas.openxmlformats.org/officeDocument/2006/relationships/slide" Target="slide13.xml"/><Relationship Id="rId6" Type="http://schemas.openxmlformats.org/officeDocument/2006/relationships/slide" Target="slide13.xml"/><Relationship Id="rId7" Type="http://schemas.openxmlformats.org/officeDocument/2006/relationships/slide" Target="slide13.xml"/><Relationship Id="rId8" Type="http://schemas.openxmlformats.org/officeDocument/2006/relationships/slide" Target="slide13.xml"/><Relationship Id="rId9" Type="http://schemas.openxmlformats.org/officeDocument/2006/relationships/slide" Target="slide12.xml"/><Relationship Id="rId10" Type="http://schemas.openxmlformats.org/officeDocument/2006/relationships/slide" Target="slide12.xml"/><Relationship Id="rId11" Type="http://schemas.openxmlformats.org/officeDocument/2006/relationships/slide" Target="slide12.xml"/><Relationship Id="rId12" Type="http://schemas.openxmlformats.org/officeDocument/2006/relationships/slide" Target="slide12.xml"/><Relationship Id="rId13" Type="http://schemas.openxmlformats.org/officeDocument/2006/relationships/slide" Target="slide13.xml"/><Relationship Id="rId14" Type="http://schemas.openxmlformats.org/officeDocument/2006/relationships/slide" Target="slide13.xml"/><Relationship Id="rId15" Type="http://schemas.openxmlformats.org/officeDocument/2006/relationships/slide" Target="slide13.xml"/><Relationship Id="rId16" Type="http://schemas.openxmlformats.org/officeDocument/2006/relationships/slide" Target="slide13.xml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3" Type="http://schemas.openxmlformats.org/officeDocument/2006/relationships/slide" Target="slide14.xml"/><Relationship Id="rId1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3" Type="http://schemas.openxmlformats.org/officeDocument/2006/relationships/slide" Target="slide11.xml"/><Relationship Id="rId4" Type="http://schemas.openxmlformats.org/officeDocument/2006/relationships/slide" Target="slide14.xml"/><Relationship Id="rId5" Type="http://schemas.openxmlformats.org/officeDocument/2006/relationships/slide" Target="slide14.xml"/><Relationship Id="rId1" Type="http://schemas.openxmlformats.org/officeDocument/2006/relationships/image" Target="../media/image-13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16.xml"/><Relationship Id="rId2" Type="http://schemas.openxmlformats.org/officeDocument/2006/relationships/slide" Target="slide16.xml"/><Relationship Id="rId3" Type="http://schemas.openxmlformats.org/officeDocument/2006/relationships/slide" Target="slide16.xml"/><Relationship Id="rId4" Type="http://schemas.openxmlformats.org/officeDocument/2006/relationships/slide" Target="slide16.xml"/><Relationship Id="rId5" Type="http://schemas.openxmlformats.org/officeDocument/2006/relationships/slide" Target="slide15.xml"/><Relationship Id="rId6" Type="http://schemas.openxmlformats.org/officeDocument/2006/relationships/slide" Target="slide15.xml"/><Relationship Id="rId7" Type="http://schemas.openxmlformats.org/officeDocument/2006/relationships/slide" Target="slide15.xml"/><Relationship Id="rId8" Type="http://schemas.openxmlformats.org/officeDocument/2006/relationships/slide" Target="slide15.xml"/><Relationship Id="rId9" Type="http://schemas.openxmlformats.org/officeDocument/2006/relationships/slide" Target="slide16.xml"/><Relationship Id="rId10" Type="http://schemas.openxmlformats.org/officeDocument/2006/relationships/slide" Target="slide16.xml"/><Relationship Id="rId11" Type="http://schemas.openxmlformats.org/officeDocument/2006/relationships/slide" Target="slide16.xml"/><Relationship Id="rId12" Type="http://schemas.openxmlformats.org/officeDocument/2006/relationships/slide" Target="slide16.xml"/><Relationship Id="rId13" Type="http://schemas.openxmlformats.org/officeDocument/2006/relationships/slide" Target="slide16.xml"/><Relationship Id="rId14" Type="http://schemas.openxmlformats.org/officeDocument/2006/relationships/slide" Target="slide16.xml"/><Relationship Id="rId15" Type="http://schemas.openxmlformats.org/officeDocument/2006/relationships/slide" Target="slide16.xml"/><Relationship Id="rId16" Type="http://schemas.openxmlformats.org/officeDocument/2006/relationships/slide" Target="slide16.xml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3" Type="http://schemas.openxmlformats.org/officeDocument/2006/relationships/slide" Target="slide17.xml"/><Relationship Id="rId1" Type="http://schemas.openxmlformats.org/officeDocument/2006/relationships/image" Target="../media/image-1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3" Type="http://schemas.openxmlformats.org/officeDocument/2006/relationships/slide" Target="slide14.xml"/><Relationship Id="rId4" Type="http://schemas.openxmlformats.org/officeDocument/2006/relationships/slide" Target="slide17.xml"/><Relationship Id="rId5" Type="http://schemas.openxmlformats.org/officeDocument/2006/relationships/slide" Target="slide17.xml"/><Relationship Id="rId1" Type="http://schemas.openxmlformats.org/officeDocument/2006/relationships/image" Target="../media/image-16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19.xml"/><Relationship Id="rId2" Type="http://schemas.openxmlformats.org/officeDocument/2006/relationships/slide" Target="slide19.xml"/><Relationship Id="rId3" Type="http://schemas.openxmlformats.org/officeDocument/2006/relationships/slide" Target="slide19.xml"/><Relationship Id="rId4" Type="http://schemas.openxmlformats.org/officeDocument/2006/relationships/slide" Target="slide19.xml"/><Relationship Id="rId5" Type="http://schemas.openxmlformats.org/officeDocument/2006/relationships/slide" Target="slide18.xml"/><Relationship Id="rId6" Type="http://schemas.openxmlformats.org/officeDocument/2006/relationships/slide" Target="slide18.xml"/><Relationship Id="rId7" Type="http://schemas.openxmlformats.org/officeDocument/2006/relationships/slide" Target="slide18.xml"/><Relationship Id="rId8" Type="http://schemas.openxmlformats.org/officeDocument/2006/relationships/slide" Target="slide18.xml"/><Relationship Id="rId9" Type="http://schemas.openxmlformats.org/officeDocument/2006/relationships/slide" Target="slide19.xml"/><Relationship Id="rId10" Type="http://schemas.openxmlformats.org/officeDocument/2006/relationships/slide" Target="slide19.xml"/><Relationship Id="rId11" Type="http://schemas.openxmlformats.org/officeDocument/2006/relationships/slide" Target="slide19.xml"/><Relationship Id="rId12" Type="http://schemas.openxmlformats.org/officeDocument/2006/relationships/slide" Target="slide19.xml"/><Relationship Id="rId13" Type="http://schemas.openxmlformats.org/officeDocument/2006/relationships/slide" Target="slide19.xml"/><Relationship Id="rId14" Type="http://schemas.openxmlformats.org/officeDocument/2006/relationships/slide" Target="slide19.xml"/><Relationship Id="rId15" Type="http://schemas.openxmlformats.org/officeDocument/2006/relationships/slide" Target="slide19.xml"/><Relationship Id="rId16" Type="http://schemas.openxmlformats.org/officeDocument/2006/relationships/slide" Target="slide19.xml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3" Type="http://schemas.openxmlformats.org/officeDocument/2006/relationships/slide" Target="slide20.xml"/><Relationship Id="rId1" Type="http://schemas.openxmlformats.org/officeDocument/2006/relationships/image" Target="../media/image-1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3" Type="http://schemas.openxmlformats.org/officeDocument/2006/relationships/slide" Target="slide17.xml"/><Relationship Id="rId4" Type="http://schemas.openxmlformats.org/officeDocument/2006/relationships/slide" Target="slide20.xml"/><Relationship Id="rId5" Type="http://schemas.openxmlformats.org/officeDocument/2006/relationships/slide" Target="slide20.xml"/><Relationship Id="rId1" Type="http://schemas.openxmlformats.org/officeDocument/2006/relationships/image" Target="../media/image-19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2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C2A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188720"/>
            <a:ext cx="914400" cy="914400"/>
          </a:xfrm>
          <a:prstGeom prst="ellipse">
            <a:avLst/>
          </a:prstGeom>
          <a:solidFill>
            <a:srgbClr val="B5541F"/>
          </a:solidFill>
          <a:ln/>
        </p:spPr>
      </p:sp>
      <p:pic>
        <p:nvPicPr>
          <p:cNvPr id="5" name="Image 0" descr="/home/claude/wb/ppt-kit/icons/fl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298448"/>
            <a:ext cx="694944" cy="694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AGORED CYMRU  ·  LEVEL ONE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 Safety in the Home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3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QJ21CY002  ·  CDL266  ·  1 Credit  ·  9 hours GLH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48920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7A3A17"/>
          </a:solidFill>
          <a:ln w="12700">
            <a:solidFill>
              <a:srgbClr val="B5541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05840" y="50749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54406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hazards in the home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80560" y="48920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7A3A17"/>
          </a:solidFill>
          <a:ln w="12700">
            <a:solidFill>
              <a:srgbClr val="B5541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63440" y="50749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54406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escape/safety plan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38160" y="48920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7A3A17"/>
          </a:solidFill>
          <a:ln w="12700">
            <a:solidFill>
              <a:srgbClr val="B5541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21040" y="50749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54406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fire triangle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C2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learn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B5541F"/>
          </a:solidFill>
          <a:ln/>
        </p:spPr>
      </p:sp>
      <p:pic>
        <p:nvPicPr>
          <p:cNvPr id="6" name="Image 0" descr="/home/claude/wb/ppt-kit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610" y="2204618"/>
            <a:ext cx="473659" cy="47365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97510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24942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fire hazards in the home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26060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 Identify fire hazards in the home (at least three).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3264408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557016"/>
            <a:ext cx="640080" cy="640080"/>
          </a:xfrm>
          <a:prstGeom prst="ellipse">
            <a:avLst/>
          </a:prstGeom>
          <a:solidFill>
            <a:srgbClr val="B5541F"/>
          </a:solidFill>
          <a:ln/>
        </p:spPr>
      </p:sp>
      <p:pic>
        <p:nvPicPr>
          <p:cNvPr id="12" name="Image 1" descr="/home/claude/wb/ppt-kit/icons/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610" y="3640226"/>
            <a:ext cx="473659" cy="47365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37360" y="34107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737360" y="36850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 Home Escape/Safety plan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1737360" y="404164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 Outline a home fire escape plan. AC 2.2 Identify the rules of home fire safety. AC 2.3 Describe skills to help escape a fire.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4700016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992624"/>
            <a:ext cx="640080" cy="640080"/>
          </a:xfrm>
          <a:prstGeom prst="ellipse">
            <a:avLst/>
          </a:prstGeom>
          <a:solidFill>
            <a:srgbClr val="B5541F"/>
          </a:solidFill>
          <a:ln/>
        </p:spPr>
      </p:sp>
      <p:pic>
        <p:nvPicPr>
          <p:cNvPr id="18" name="Image 2" descr="/home/claude/wb/ppt-kit/icons/fla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10" y="5075834"/>
            <a:ext cx="473659" cy="47365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737360" y="48463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737360" y="5120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fire triangle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1737360" y="547725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 Identify the three elements of the fire triangle. AC 3.2 Outline how the three elements depend on each other.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in the Home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C2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C2A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 Hazards in the Home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start a fire or make one worse — and where to look for it.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1.1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in the Home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C2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Fire Hazards in the Home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3E9"/>
          </a:solidFill>
          <a:ln w="12700">
            <a:solidFill>
              <a:srgbClr val="E4D3C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B5541F"/>
          </a:solidFill>
          <a:ln/>
        </p:spPr>
      </p:sp>
      <p:pic>
        <p:nvPicPr>
          <p:cNvPr id="6" name="Image 0" descr="/home/claude/wb/ppt-kit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9" y="1990649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928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Overloaded electrical sockets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212848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plugs on one socket or extension lead can overheat.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7F7F5"/>
          </a:solidFill>
          <a:ln w="12700">
            <a:solidFill>
              <a:srgbClr val="E4D3C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2788920"/>
            <a:ext cx="502920" cy="502920"/>
          </a:xfrm>
          <a:prstGeom prst="ellipse">
            <a:avLst/>
          </a:prstGeom>
          <a:solidFill>
            <a:srgbClr val="B5541F"/>
          </a:solidFill>
          <a:ln/>
        </p:spPr>
      </p:sp>
      <p:pic>
        <p:nvPicPr>
          <p:cNvPr id="11" name="Image 1" descr="/home/claude/wb/ppt-kit/icons/fl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9" y="285932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76148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Unattended candles or naked flames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081528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burning near curtains, bedding or other combustible material.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5204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3E9"/>
          </a:solidFill>
          <a:ln w="12700">
            <a:solidFill>
              <a:srgbClr val="E4D3C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657600"/>
            <a:ext cx="502920" cy="502920"/>
          </a:xfrm>
          <a:prstGeom prst="ellipse">
            <a:avLst/>
          </a:prstGeom>
          <a:solidFill>
            <a:srgbClr val="B5541F"/>
          </a:solidFill>
          <a:ln/>
        </p:spPr>
      </p:sp>
      <p:pic>
        <p:nvPicPr>
          <p:cNvPr id="16" name="Image 2" descr="/home/claude/wb/ppt-kit/icons/to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9" y="372800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63016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Faulty or damaged appliances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3950208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Frayed wires, damaged plugs or old appliances that haven't been checked.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3891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7F7F5"/>
          </a:solidFill>
          <a:ln w="12700">
            <a:solidFill>
              <a:srgbClr val="E4D3C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526280"/>
            <a:ext cx="502920" cy="502920"/>
          </a:xfrm>
          <a:prstGeom prst="ellipse">
            <a:avLst/>
          </a:prstGeom>
          <a:solidFill>
            <a:srgbClr val="B5541F"/>
          </a:solidFill>
          <a:ln/>
        </p:spPr>
      </p:sp>
      <p:pic>
        <p:nvPicPr>
          <p:cNvPr id="21" name="Image 3" descr="/home/claude/wb/ppt-kit/icons/clou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9" y="4596689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49884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pans and cooking left unattended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1554480" y="4818888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oil left on the hob is one of the most common causes of house fires.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3E9"/>
          </a:solidFill>
          <a:ln w="12700">
            <a:solidFill>
              <a:srgbClr val="E4D3C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68680" y="5394960"/>
            <a:ext cx="502920" cy="502920"/>
          </a:xfrm>
          <a:prstGeom prst="ellipse">
            <a:avLst/>
          </a:prstGeom>
          <a:solidFill>
            <a:srgbClr val="B5541F"/>
          </a:solidFill>
          <a:ln/>
        </p:spPr>
      </p:sp>
      <p:pic>
        <p:nvPicPr>
          <p:cNvPr id="26" name="Image 4" descr="/home/claude/wb/ppt-kit/icons/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89" y="5465369"/>
            <a:ext cx="362102" cy="3621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54480" y="536752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materials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1554480" y="5687568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Cigarettes not fully extinguished, especially in bedrooms or on furniture.</a:t>
            </a:r>
            <a:endParaRPr lang="en-US" sz="1150" dirty="0"/>
          </a:p>
        </p:txBody>
      </p:sp>
      <p:sp>
        <p:nvSpPr>
          <p:cNvPr id="29" name="Text 22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in the Home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C2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C2A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Escape/Safety Plan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 way out, the everyday rules that reduce risk, and the skills that could help you escape.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2.1, 2.2, 2.3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in the Home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C2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Home Fire Escape Plan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95628" y="2148840"/>
            <a:ext cx="512064" cy="512064"/>
          </a:xfrm>
          <a:prstGeom prst="ellipse">
            <a:avLst/>
          </a:prstGeom>
          <a:solidFill>
            <a:srgbClr val="B554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95628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77340" y="2834640"/>
            <a:ext cx="548640" cy="548640"/>
          </a:xfrm>
          <a:prstGeom prst="ellipse">
            <a:avLst/>
          </a:prstGeom>
          <a:solidFill>
            <a:srgbClr val="FFF3E9"/>
          </a:solidFill>
          <a:ln/>
        </p:spPr>
      </p:sp>
      <p:pic>
        <p:nvPicPr>
          <p:cNvPr id="8" name="Image 0" descr="/home/claude/wb/ppt-kit/icons/search_mu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826" y="2840126"/>
            <a:ext cx="537667" cy="5376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3520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two ways out of every room, where possible.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19202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30268" y="2148840"/>
            <a:ext cx="512064" cy="512064"/>
          </a:xfrm>
          <a:prstGeom prst="ellipse">
            <a:avLst/>
          </a:prstGeom>
          <a:solidFill>
            <a:srgbClr val="B5541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430268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411980" y="2834640"/>
            <a:ext cx="548640" cy="548640"/>
          </a:xfrm>
          <a:prstGeom prst="ellipse">
            <a:avLst/>
          </a:prstGeom>
          <a:solidFill>
            <a:srgbClr val="FFF3E9"/>
          </a:solidFill>
          <a:ln/>
        </p:spPr>
      </p:sp>
      <p:pic>
        <p:nvPicPr>
          <p:cNvPr id="14" name="Image 1" descr="/home/claude/wb/ppt-kit/icons/users_mu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466" y="2840126"/>
            <a:ext cx="537667" cy="53766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20440" y="3520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a meeting point outside, away from the house.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64908" y="2148840"/>
            <a:ext cx="512064" cy="512064"/>
          </a:xfrm>
          <a:prstGeom prst="ellipse">
            <a:avLst/>
          </a:prstGeom>
          <a:solidFill>
            <a:srgbClr val="B5541F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264908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7246620" y="2834640"/>
            <a:ext cx="548640" cy="548640"/>
          </a:xfrm>
          <a:prstGeom prst="ellipse">
            <a:avLst/>
          </a:prstGeom>
          <a:solidFill>
            <a:srgbClr val="FFF3E9"/>
          </a:solidFill>
          <a:ln/>
        </p:spPr>
      </p:sp>
      <p:pic>
        <p:nvPicPr>
          <p:cNvPr id="20" name="Image 2" descr="/home/claude/wb/ppt-kit/icons/key_mu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106" y="2840126"/>
            <a:ext cx="537667" cy="53766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55080" y="3520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keys for locked doors/windows somewhere everyone knows.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052560" y="19202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99548" y="2148840"/>
            <a:ext cx="512064" cy="512064"/>
          </a:xfrm>
          <a:prstGeom prst="ellipse">
            <a:avLst/>
          </a:prstGeom>
          <a:solidFill>
            <a:srgbClr val="B5541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10099548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10081260" y="2834640"/>
            <a:ext cx="548640" cy="548640"/>
          </a:xfrm>
          <a:prstGeom prst="ellipse">
            <a:avLst/>
          </a:prstGeom>
          <a:solidFill>
            <a:srgbClr val="FFF3E9"/>
          </a:solidFill>
          <a:ln/>
        </p:spPr>
      </p:sp>
      <p:pic>
        <p:nvPicPr>
          <p:cNvPr id="26" name="Image 3" descr="/home/claude/wb/ppt-kit/icons/phone_mut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6746" y="2840126"/>
            <a:ext cx="537667" cy="537667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189720" y="3520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how to call 999 once you are safely outside.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8E6"/>
          </a:solidFill>
          <a:ln w="12700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Text 23"/>
          <p:cNvSpPr txBox="1"/>
          <p:nvPr/>
        </p:nvSpPr>
        <p:spPr>
          <a:xfrm>
            <a:off x="822960" y="51663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ACTIVITY  ·  Outline your own home fire escape plan, step by step.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in the Home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C2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Rules of Home Fire Safety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3E9"/>
          </a:solidFill>
          <a:ln w="12700">
            <a:solidFill>
              <a:srgbClr val="E4D3C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B5541F"/>
          </a:solidFill>
          <a:ln/>
        </p:spPr>
      </p:sp>
      <p:pic>
        <p:nvPicPr>
          <p:cNvPr id="6" name="Image 0" descr="/home/claude/wb/ppt-kit/icons/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9" y="2082089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8424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and clean your smoke alarms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304288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weekly and clean regularly so they can actually detect smoke.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 w="12700">
            <a:solidFill>
              <a:srgbClr val="E4D3C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B5541F"/>
          </a:solidFill>
          <a:ln/>
        </p:spPr>
      </p:sp>
      <p:pic>
        <p:nvPicPr>
          <p:cNvPr id="11" name="Image 1" descr="/home/claude/wb/ppt-kit/icons/mo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9" y="313364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30358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 doors when going to bed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355848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door slows a fire's spread and buys you time to escape.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3E9"/>
          </a:solidFill>
          <a:ln w="12700">
            <a:solidFill>
              <a:srgbClr val="E4D3C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114800"/>
            <a:ext cx="502920" cy="502920"/>
          </a:xfrm>
          <a:prstGeom prst="ellipse">
            <a:avLst/>
          </a:prstGeom>
          <a:solidFill>
            <a:srgbClr val="B5541F"/>
          </a:solidFill>
          <a:ln/>
        </p:spPr>
      </p:sp>
      <p:pic>
        <p:nvPicPr>
          <p:cNvPr id="16" name="Image 2" descr="/home/claude/wb/ppt-kit/icons/pow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9" y="418520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08736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off non-essential electrical appliances at night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407408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chance of an appliance overheating while no one is awake.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8E6"/>
          </a:solidFill>
          <a:ln w="12700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ACTIVITY  ·  These three rules must all appear in your answer, plus at least one more of your own.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in the Home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2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That Could Help You Escape a Fire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B5541F"/>
          </a:solidFill>
          <a:ln/>
        </p:spPr>
      </p:sp>
      <p:pic>
        <p:nvPicPr>
          <p:cNvPr id="5" name="Image 0" descr="/home/claude/wb/ppt-kit/icons/arrow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049" y="1853489"/>
            <a:ext cx="362102" cy="3621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755648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low to avoid smoke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075688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and toxic gases rise — the cleanest air is close to the floor.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B5541F"/>
          </a:solidFill>
          <a:ln/>
        </p:spPr>
      </p:sp>
      <p:pic>
        <p:nvPicPr>
          <p:cNvPr id="9" name="Image 1" descr="/home/claude/wb/ppt-kit/icons/h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9" y="2722169"/>
            <a:ext cx="362102" cy="36210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624328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doors before opening them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2944368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hot door means fire on the other side — do not open it.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B5541F"/>
          </a:solidFill>
          <a:ln/>
        </p:spPr>
      </p:sp>
      <p:pic>
        <p:nvPicPr>
          <p:cNvPr id="13" name="Image 2" descr="/home/claude/wb/ppt-kit/icons/mapP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3590849"/>
            <a:ext cx="362102" cy="36210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3493008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your escape route in the dark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3813048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often knock out the lights — practise finding your way out.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rgbClr val="B5541F"/>
          </a:solidFill>
          <a:ln/>
        </p:spPr>
      </p:sp>
      <p:pic>
        <p:nvPicPr>
          <p:cNvPr id="17" name="Image 3" descr="/home/claude/wb/ppt-kit/icons/ph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9" y="4459529"/>
            <a:ext cx="362102" cy="3621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34440" y="4361688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999 once safely outside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234440" y="4681728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go back inside for belongings or pets — let the fire service handle it.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in the Home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C2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C2A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Fire Triangle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fire actually needs to burn — and what happens when you take one part away.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3.1, 3.2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in the Home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C2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Fire Triangle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29000" y="1691640"/>
            <a:ext cx="1005840" cy="10058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" name="Image 0" descr="/home/claude/wb/ppt-kit/icons/fl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9759" y="1822399"/>
            <a:ext cx="744322" cy="74432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971800" y="2743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933598" y="4297680"/>
            <a:ext cx="1005840" cy="10058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8" name="Image 1" descr="/home/claude/wb/ppt-kit/icons/drop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357" y="4428439"/>
            <a:ext cx="744322" cy="74432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476398" y="5349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1924402" y="4297680"/>
            <a:ext cx="1005840" cy="1005840"/>
          </a:xfrm>
          <a:prstGeom prst="ellipse">
            <a:avLst/>
          </a:prstGeom>
          <a:solidFill>
            <a:srgbClr val="B5541F"/>
          </a:solidFill>
          <a:ln/>
        </p:spPr>
      </p:sp>
      <p:pic>
        <p:nvPicPr>
          <p:cNvPr id="11" name="Image 2" descr="/home/claude/wb/ppt-kit/icons/clo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161" y="4428439"/>
            <a:ext cx="744322" cy="74432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7202" y="5349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3108960" y="34747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PRESENT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766560" y="1737360"/>
            <a:ext cx="4846320" cy="4023360"/>
          </a:xfrm>
          <a:prstGeom prst="roundRect">
            <a:avLst>
              <a:gd name="adj" fmla="val 1818"/>
            </a:avLst>
          </a:prstGeom>
          <a:solidFill>
            <a:srgbClr val="FFF3E9"/>
          </a:solidFill>
          <a:ln w="12700">
            <a:solidFill>
              <a:srgbClr val="B5541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7040880" y="1965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ANY ONE SIDE…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7040880" y="2377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the fire cannot keep burning. That's why: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040880" y="2926080"/>
            <a:ext cx="502920" cy="502920"/>
          </a:xfrm>
          <a:prstGeom prst="ellipse">
            <a:avLst/>
          </a:prstGeom>
          <a:solidFill>
            <a:srgbClr val="B5541F"/>
          </a:solidFill>
          <a:ln/>
        </p:spPr>
      </p:sp>
      <p:pic>
        <p:nvPicPr>
          <p:cNvPr id="18" name="Image 3" descr="/home/claude/wb/ppt-kit/icons/drop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289" y="2996489"/>
            <a:ext cx="362102" cy="3621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726680" y="289864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7726680" y="321868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removes heat — that's how it puts a fire out.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7040880" y="3749040"/>
            <a:ext cx="502920" cy="502920"/>
          </a:xfrm>
          <a:prstGeom prst="ellipse">
            <a:avLst/>
          </a:prstGeom>
          <a:solidFill>
            <a:srgbClr val="B5541F"/>
          </a:solidFill>
          <a:ln/>
        </p:spPr>
      </p:sp>
      <p:pic>
        <p:nvPicPr>
          <p:cNvPr id="22" name="Image 4" descr="/home/claude/wb/ppt-kit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289" y="3819449"/>
            <a:ext cx="362102" cy="36210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726680" y="37216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7726680" y="404164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fire blanket or foam removes oxygen.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7040880" y="4572000"/>
            <a:ext cx="502920" cy="502920"/>
          </a:xfrm>
          <a:prstGeom prst="ellipse">
            <a:avLst/>
          </a:prstGeom>
          <a:solidFill>
            <a:srgbClr val="B5541F"/>
          </a:solidFill>
          <a:ln/>
        </p:spPr>
      </p:sp>
      <p:pic>
        <p:nvPicPr>
          <p:cNvPr id="26" name="Image 5" descr="/home/claude/wb/ppt-kit/icons/slas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1289" y="4642409"/>
            <a:ext cx="362102" cy="3621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726680" y="45445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7726680" y="486460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away fuel stops a fire spreading further.</a:t>
            </a:r>
            <a:endParaRPr lang="en-US" sz="1150" dirty="0"/>
          </a:p>
        </p:txBody>
      </p:sp>
      <p:sp>
        <p:nvSpPr>
          <p:cNvPr id="29" name="Text 21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in the Home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·  1 OF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C2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of these is NOT one of the three elements of the fire triangle?</a:t>
            </a:r>
            <a:endParaRPr lang="en-US" sz="2200" dirty="0"/>
          </a:p>
        </p:txBody>
      </p:sp>
      <p:sp>
        <p:nvSpPr>
          <p:cNvPr id="5" name="Shape 3">
            <a:hlinkClick r:id="rId1" tooltip="" action="ppaction://hlinksldjump"/>
          </p:cNvPr>
          <p:cNvSpPr/>
          <p:nvPr/>
        </p:nvSpPr>
        <p:spPr>
          <a:xfrm>
            <a:off x="548640" y="25146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9050">
            <a:solidFill>
              <a:srgbClr val="C9D6C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>
            <a:hlinkClick r:id="rId2" tooltip="" action="ppaction://hlinksldjump"/>
          </p:cNvPr>
          <p:cNvSpPr/>
          <p:nvPr/>
        </p:nvSpPr>
        <p:spPr>
          <a:xfrm>
            <a:off x="749808" y="2596896"/>
            <a:ext cx="402336" cy="402336"/>
          </a:xfrm>
          <a:prstGeom prst="ellipse">
            <a:avLst/>
          </a:prstGeom>
          <a:solidFill>
            <a:srgbClr val="B5541F"/>
          </a:solidFill>
          <a:ln/>
        </p:spPr>
      </p:sp>
      <p:sp>
        <p:nvSpPr>
          <p:cNvPr id="7" name="Text 5">
            <a:hlinkClick r:id="rId3" tooltip="" action="ppaction://hlinksldjump"/>
          </p:cNvPr>
          <p:cNvSpPr txBox="1"/>
          <p:nvPr/>
        </p:nvSpPr>
        <p:spPr>
          <a:xfrm>
            <a:off x="749808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1500" dirty="0"/>
          </a:p>
        </p:txBody>
      </p:sp>
      <p:sp>
        <p:nvSpPr>
          <p:cNvPr id="8" name="Text 6">
            <a:hlinkClick r:id="rId4" tooltip="" action="ppaction://hlinksldjump"/>
          </p:cNvPr>
          <p:cNvSpPr txBox="1"/>
          <p:nvPr/>
        </p:nvSpPr>
        <p:spPr>
          <a:xfrm>
            <a:off x="1325880" y="2514600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Heat</a:t>
            </a:r>
            <a:endParaRPr lang="en-US" sz="1450" dirty="0"/>
          </a:p>
        </p:txBody>
      </p:sp>
      <p:sp>
        <p:nvSpPr>
          <p:cNvPr id="9" name="Shape 7">
            <a:hlinkClick r:id="rId5" tooltip="" action="ppaction://hlinksldjump"/>
          </p:cNvPr>
          <p:cNvSpPr/>
          <p:nvPr/>
        </p:nvSpPr>
        <p:spPr>
          <a:xfrm>
            <a:off x="548640" y="32004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9050">
            <a:solidFill>
              <a:srgbClr val="C9D6C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>
            <a:hlinkClick r:id="rId6" tooltip="" action="ppaction://hlinksldjump"/>
          </p:cNvPr>
          <p:cNvSpPr/>
          <p:nvPr/>
        </p:nvSpPr>
        <p:spPr>
          <a:xfrm>
            <a:off x="749808" y="3282696"/>
            <a:ext cx="402336" cy="402336"/>
          </a:xfrm>
          <a:prstGeom prst="ellipse">
            <a:avLst/>
          </a:prstGeom>
          <a:solidFill>
            <a:srgbClr val="B5541F"/>
          </a:solidFill>
          <a:ln/>
        </p:spPr>
      </p:sp>
      <p:sp>
        <p:nvSpPr>
          <p:cNvPr id="11" name="Text 9">
            <a:hlinkClick r:id="rId7" tooltip="" action="ppaction://hlinksldjump"/>
          </p:cNvPr>
          <p:cNvSpPr txBox="1"/>
          <p:nvPr/>
        </p:nvSpPr>
        <p:spPr>
          <a:xfrm>
            <a:off x="749808" y="3282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1500" dirty="0"/>
          </a:p>
        </p:txBody>
      </p:sp>
      <p:sp>
        <p:nvSpPr>
          <p:cNvPr id="12" name="Text 10">
            <a:hlinkClick r:id="rId8" tooltip="" action="ppaction://hlinksldjump"/>
          </p:cNvPr>
          <p:cNvSpPr txBox="1"/>
          <p:nvPr/>
        </p:nvSpPr>
        <p:spPr>
          <a:xfrm>
            <a:off x="1325880" y="3200400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Fuel</a:t>
            </a:r>
            <a:endParaRPr lang="en-US" sz="1450" dirty="0"/>
          </a:p>
        </p:txBody>
      </p:sp>
      <p:sp>
        <p:nvSpPr>
          <p:cNvPr id="13" name="Shape 11">
            <a:hlinkClick r:id="rId9" tooltip="" action="ppaction://hlinksldjump"/>
          </p:cNvPr>
          <p:cNvSpPr/>
          <p:nvPr/>
        </p:nvSpPr>
        <p:spPr>
          <a:xfrm>
            <a:off x="548640" y="38862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9050">
            <a:solidFill>
              <a:srgbClr val="C9D6C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>
            <a:hlinkClick r:id="rId10" tooltip="" action="ppaction://hlinksldjump"/>
          </p:cNvPr>
          <p:cNvSpPr/>
          <p:nvPr/>
        </p:nvSpPr>
        <p:spPr>
          <a:xfrm>
            <a:off x="749808" y="3968496"/>
            <a:ext cx="402336" cy="402336"/>
          </a:xfrm>
          <a:prstGeom prst="ellipse">
            <a:avLst/>
          </a:prstGeom>
          <a:solidFill>
            <a:srgbClr val="B5541F"/>
          </a:solidFill>
          <a:ln/>
        </p:spPr>
      </p:sp>
      <p:sp>
        <p:nvSpPr>
          <p:cNvPr id="15" name="Text 13">
            <a:hlinkClick r:id="rId11" tooltip="" action="ppaction://hlinksldjump"/>
          </p:cNvPr>
          <p:cNvSpPr txBox="1"/>
          <p:nvPr/>
        </p:nvSpPr>
        <p:spPr>
          <a:xfrm>
            <a:off x="749808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1500" dirty="0"/>
          </a:p>
        </p:txBody>
      </p:sp>
      <p:sp>
        <p:nvSpPr>
          <p:cNvPr id="16" name="Text 14">
            <a:hlinkClick r:id="rId12" tooltip="" action="ppaction://hlinksldjump"/>
          </p:cNvPr>
          <p:cNvSpPr txBox="1"/>
          <p:nvPr/>
        </p:nvSpPr>
        <p:spPr>
          <a:xfrm>
            <a:off x="1325880" y="3886200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Water</a:t>
            </a:r>
            <a:endParaRPr lang="en-US" sz="1450" dirty="0"/>
          </a:p>
        </p:txBody>
      </p:sp>
      <p:sp>
        <p:nvSpPr>
          <p:cNvPr id="17" name="Shape 15">
            <a:hlinkClick r:id="rId13" tooltip="" action="ppaction://hlinksldjump"/>
          </p:cNvPr>
          <p:cNvSpPr/>
          <p:nvPr/>
        </p:nvSpPr>
        <p:spPr>
          <a:xfrm>
            <a:off x="548640" y="45720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9050">
            <a:solidFill>
              <a:srgbClr val="C9D6C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>
            <a:hlinkClick r:id="rId14" tooltip="" action="ppaction://hlinksldjump"/>
          </p:cNvPr>
          <p:cNvSpPr/>
          <p:nvPr/>
        </p:nvSpPr>
        <p:spPr>
          <a:xfrm>
            <a:off x="749808" y="4654296"/>
            <a:ext cx="402336" cy="402336"/>
          </a:xfrm>
          <a:prstGeom prst="ellipse">
            <a:avLst/>
          </a:prstGeom>
          <a:solidFill>
            <a:srgbClr val="B5541F"/>
          </a:solidFill>
          <a:ln/>
        </p:spPr>
      </p:sp>
      <p:sp>
        <p:nvSpPr>
          <p:cNvPr id="19" name="Text 17">
            <a:hlinkClick r:id="rId15" tooltip="" action="ppaction://hlinksldjump"/>
          </p:cNvPr>
          <p:cNvSpPr txBox="1"/>
          <p:nvPr/>
        </p:nvSpPr>
        <p:spPr>
          <a:xfrm>
            <a:off x="749808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1500" dirty="0"/>
          </a:p>
        </p:txBody>
      </p:sp>
      <p:sp>
        <p:nvSpPr>
          <p:cNvPr id="20" name="Text 18">
            <a:hlinkClick r:id="rId16" tooltip="" action="ppaction://hlinksldjump"/>
          </p:cNvPr>
          <p:cNvSpPr txBox="1"/>
          <p:nvPr/>
        </p:nvSpPr>
        <p:spPr>
          <a:xfrm>
            <a:off x="1325880" y="4572000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Oxygen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in the Home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005840"/>
            <a:ext cx="1005840" cy="1005840"/>
          </a:xfrm>
          <a:prstGeom prst="ellipse">
            <a:avLst/>
          </a:prstGeom>
          <a:solidFill>
            <a:srgbClr val="B5541F"/>
          </a:solidFill>
          <a:ln/>
        </p:spPr>
      </p:sp>
      <p:pic>
        <p:nvPicPr>
          <p:cNvPr id="3" name="Image 0" descr="/home/claude/wb/ppt-kit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2198" y="1116482"/>
            <a:ext cx="784555" cy="78455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14884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55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— Water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645920" y="2880360"/>
            <a:ext cx="889711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920240" y="3017520"/>
            <a:ext cx="8348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isn't part of the fire triangle — it's often used to remove heat and put a fire out. The three elements are heat, fuel and oxygen.</a:t>
            </a:r>
            <a:endParaRPr lang="en-US" sz="1450" dirty="0"/>
          </a:p>
        </p:txBody>
      </p:sp>
      <p:sp>
        <p:nvSpPr>
          <p:cNvPr id="7" name="Shape 4">
            <a:hlinkClick r:id="rId2" tooltip="" action="ppaction://hlinksldjump"/>
          </p:cNvPr>
          <p:cNvSpPr/>
          <p:nvPr/>
        </p:nvSpPr>
        <p:spPr>
          <a:xfrm>
            <a:off x="4905756" y="484632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B5541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5">
            <a:hlinkClick r:id="rId3" tooltip="" action="ppaction://hlinksldjump"/>
          </p:cNvPr>
          <p:cNvSpPr txBox="1"/>
          <p:nvPr/>
        </p:nvSpPr>
        <p:spPr>
          <a:xfrm>
            <a:off x="4905756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Continue  →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in the Home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005840"/>
            <a:ext cx="1005840" cy="10058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" name="Image 0" descr="/home/claude/wb/ppt-kit/icons/x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2198" y="1116482"/>
            <a:ext cx="784555" cy="78455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14884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quite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645920" y="2880360"/>
            <a:ext cx="889711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920240" y="3017520"/>
            <a:ext cx="8348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fire triangle is heat, fuel and oxygen. Water isn't one of the three — it's commonly used to take heat away and put a fire out.</a:t>
            </a:r>
            <a:endParaRPr lang="en-US" sz="1450" dirty="0"/>
          </a:p>
        </p:txBody>
      </p:sp>
      <p:sp>
        <p:nvSpPr>
          <p:cNvPr id="7" name="Shape 4">
            <a:hlinkClick r:id="rId2" tooltip="" action="ppaction://hlinksldjump"/>
          </p:cNvPr>
          <p:cNvSpPr/>
          <p:nvPr/>
        </p:nvSpPr>
        <p:spPr>
          <a:xfrm>
            <a:off x="3579876" y="484632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5">
            <a:hlinkClick r:id="rId3" tooltip="" action="ppaction://hlinksldjump"/>
          </p:cNvPr>
          <p:cNvSpPr txBox="1"/>
          <p:nvPr/>
        </p:nvSpPr>
        <p:spPr>
          <a:xfrm>
            <a:off x="3579876" y="4846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Try Again</a:t>
            </a:r>
            <a:endParaRPr lang="en-US" sz="1400" dirty="0"/>
          </a:p>
        </p:txBody>
      </p:sp>
      <p:sp>
        <p:nvSpPr>
          <p:cNvPr id="9" name="Shape 6">
            <a:hlinkClick r:id="rId4" tooltip="" action="ppaction://hlinksldjump"/>
          </p:cNvPr>
          <p:cNvSpPr/>
          <p:nvPr/>
        </p:nvSpPr>
        <p:spPr>
          <a:xfrm>
            <a:off x="6323076" y="484632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B5541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7">
            <a:hlinkClick r:id="rId5" tooltip="" action="ppaction://hlinksldjump"/>
          </p:cNvPr>
          <p:cNvSpPr txBox="1"/>
          <p:nvPr/>
        </p:nvSpPr>
        <p:spPr>
          <a:xfrm>
            <a:off x="6323076" y="4846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Show Answer  →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in the Home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·  2 OF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C2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remove just ONE side of the fire triangle, what happens to the fire?</a:t>
            </a:r>
            <a:endParaRPr lang="en-US" sz="2200" dirty="0"/>
          </a:p>
        </p:txBody>
      </p:sp>
      <p:sp>
        <p:nvSpPr>
          <p:cNvPr id="5" name="Shape 3">
            <a:hlinkClick r:id="rId1" tooltip="" action="ppaction://hlinksldjump"/>
          </p:cNvPr>
          <p:cNvSpPr/>
          <p:nvPr/>
        </p:nvSpPr>
        <p:spPr>
          <a:xfrm>
            <a:off x="548640" y="25146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9050">
            <a:solidFill>
              <a:srgbClr val="C9D6C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>
            <a:hlinkClick r:id="rId2" tooltip="" action="ppaction://hlinksldjump"/>
          </p:cNvPr>
          <p:cNvSpPr/>
          <p:nvPr/>
        </p:nvSpPr>
        <p:spPr>
          <a:xfrm>
            <a:off x="749808" y="2596896"/>
            <a:ext cx="402336" cy="402336"/>
          </a:xfrm>
          <a:prstGeom prst="ellipse">
            <a:avLst/>
          </a:prstGeom>
          <a:solidFill>
            <a:srgbClr val="B5541F"/>
          </a:solidFill>
          <a:ln/>
        </p:spPr>
      </p:sp>
      <p:sp>
        <p:nvSpPr>
          <p:cNvPr id="7" name="Text 5">
            <a:hlinkClick r:id="rId3" tooltip="" action="ppaction://hlinksldjump"/>
          </p:cNvPr>
          <p:cNvSpPr txBox="1"/>
          <p:nvPr/>
        </p:nvSpPr>
        <p:spPr>
          <a:xfrm>
            <a:off x="749808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1500" dirty="0"/>
          </a:p>
        </p:txBody>
      </p:sp>
      <p:sp>
        <p:nvSpPr>
          <p:cNvPr id="8" name="Text 6">
            <a:hlinkClick r:id="rId4" tooltip="" action="ppaction://hlinksldjump"/>
          </p:cNvPr>
          <p:cNvSpPr txBox="1"/>
          <p:nvPr/>
        </p:nvSpPr>
        <p:spPr>
          <a:xfrm>
            <a:off x="1325880" y="2514600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 burns even hotter</a:t>
            </a:r>
            <a:endParaRPr lang="en-US" sz="1450" dirty="0"/>
          </a:p>
        </p:txBody>
      </p:sp>
      <p:sp>
        <p:nvSpPr>
          <p:cNvPr id="9" name="Shape 7">
            <a:hlinkClick r:id="rId5" tooltip="" action="ppaction://hlinksldjump"/>
          </p:cNvPr>
          <p:cNvSpPr/>
          <p:nvPr/>
        </p:nvSpPr>
        <p:spPr>
          <a:xfrm>
            <a:off x="548640" y="32004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9050">
            <a:solidFill>
              <a:srgbClr val="C9D6C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>
            <a:hlinkClick r:id="rId6" tooltip="" action="ppaction://hlinksldjump"/>
          </p:cNvPr>
          <p:cNvSpPr/>
          <p:nvPr/>
        </p:nvSpPr>
        <p:spPr>
          <a:xfrm>
            <a:off x="749808" y="3282696"/>
            <a:ext cx="402336" cy="402336"/>
          </a:xfrm>
          <a:prstGeom prst="ellipse">
            <a:avLst/>
          </a:prstGeom>
          <a:solidFill>
            <a:srgbClr val="B5541F"/>
          </a:solidFill>
          <a:ln/>
        </p:spPr>
      </p:sp>
      <p:sp>
        <p:nvSpPr>
          <p:cNvPr id="11" name="Text 9">
            <a:hlinkClick r:id="rId7" tooltip="" action="ppaction://hlinksldjump"/>
          </p:cNvPr>
          <p:cNvSpPr txBox="1"/>
          <p:nvPr/>
        </p:nvSpPr>
        <p:spPr>
          <a:xfrm>
            <a:off x="749808" y="3282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1500" dirty="0"/>
          </a:p>
        </p:txBody>
      </p:sp>
      <p:sp>
        <p:nvSpPr>
          <p:cNvPr id="12" name="Text 10">
            <a:hlinkClick r:id="rId8" tooltip="" action="ppaction://hlinksldjump"/>
          </p:cNvPr>
          <p:cNvSpPr txBox="1"/>
          <p:nvPr/>
        </p:nvSpPr>
        <p:spPr>
          <a:xfrm>
            <a:off x="1325880" y="3200400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 cannot keep burning</a:t>
            </a:r>
            <a:endParaRPr lang="en-US" sz="1450" dirty="0"/>
          </a:p>
        </p:txBody>
      </p:sp>
      <p:sp>
        <p:nvSpPr>
          <p:cNvPr id="13" name="Shape 11">
            <a:hlinkClick r:id="rId9" tooltip="" action="ppaction://hlinksldjump"/>
          </p:cNvPr>
          <p:cNvSpPr/>
          <p:nvPr/>
        </p:nvSpPr>
        <p:spPr>
          <a:xfrm>
            <a:off x="548640" y="38862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9050">
            <a:solidFill>
              <a:srgbClr val="C9D6C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>
            <a:hlinkClick r:id="rId10" tooltip="" action="ppaction://hlinksldjump"/>
          </p:cNvPr>
          <p:cNvSpPr/>
          <p:nvPr/>
        </p:nvSpPr>
        <p:spPr>
          <a:xfrm>
            <a:off x="749808" y="3968496"/>
            <a:ext cx="402336" cy="402336"/>
          </a:xfrm>
          <a:prstGeom prst="ellipse">
            <a:avLst/>
          </a:prstGeom>
          <a:solidFill>
            <a:srgbClr val="B5541F"/>
          </a:solidFill>
          <a:ln/>
        </p:spPr>
      </p:sp>
      <p:sp>
        <p:nvSpPr>
          <p:cNvPr id="15" name="Text 13">
            <a:hlinkClick r:id="rId11" tooltip="" action="ppaction://hlinksldjump"/>
          </p:cNvPr>
          <p:cNvSpPr txBox="1"/>
          <p:nvPr/>
        </p:nvSpPr>
        <p:spPr>
          <a:xfrm>
            <a:off x="749808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1500" dirty="0"/>
          </a:p>
        </p:txBody>
      </p:sp>
      <p:sp>
        <p:nvSpPr>
          <p:cNvPr id="16" name="Text 14">
            <a:hlinkClick r:id="rId12" tooltip="" action="ppaction://hlinksldjump"/>
          </p:cNvPr>
          <p:cNvSpPr txBox="1"/>
          <p:nvPr/>
        </p:nvSpPr>
        <p:spPr>
          <a:xfrm>
            <a:off x="1325880" y="3886200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Nothing changes</a:t>
            </a:r>
            <a:endParaRPr lang="en-US" sz="1450" dirty="0"/>
          </a:p>
        </p:txBody>
      </p:sp>
      <p:sp>
        <p:nvSpPr>
          <p:cNvPr id="17" name="Shape 15">
            <a:hlinkClick r:id="rId13" tooltip="" action="ppaction://hlinksldjump"/>
          </p:cNvPr>
          <p:cNvSpPr/>
          <p:nvPr/>
        </p:nvSpPr>
        <p:spPr>
          <a:xfrm>
            <a:off x="548640" y="45720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9050">
            <a:solidFill>
              <a:srgbClr val="C9D6C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>
            <a:hlinkClick r:id="rId14" tooltip="" action="ppaction://hlinksldjump"/>
          </p:cNvPr>
          <p:cNvSpPr/>
          <p:nvPr/>
        </p:nvSpPr>
        <p:spPr>
          <a:xfrm>
            <a:off x="749808" y="4654296"/>
            <a:ext cx="402336" cy="402336"/>
          </a:xfrm>
          <a:prstGeom prst="ellipse">
            <a:avLst/>
          </a:prstGeom>
          <a:solidFill>
            <a:srgbClr val="B5541F"/>
          </a:solidFill>
          <a:ln/>
        </p:spPr>
      </p:sp>
      <p:sp>
        <p:nvSpPr>
          <p:cNvPr id="19" name="Text 17">
            <a:hlinkClick r:id="rId15" tooltip="" action="ppaction://hlinksldjump"/>
          </p:cNvPr>
          <p:cNvSpPr txBox="1"/>
          <p:nvPr/>
        </p:nvSpPr>
        <p:spPr>
          <a:xfrm>
            <a:off x="749808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1500" dirty="0"/>
          </a:p>
        </p:txBody>
      </p:sp>
      <p:sp>
        <p:nvSpPr>
          <p:cNvPr id="20" name="Text 18">
            <a:hlinkClick r:id="rId16" tooltip="" action="ppaction://hlinksldjump"/>
          </p:cNvPr>
          <p:cNvSpPr txBox="1"/>
          <p:nvPr/>
        </p:nvSpPr>
        <p:spPr>
          <a:xfrm>
            <a:off x="1325880" y="4572000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 spreads faster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in the Home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005840"/>
            <a:ext cx="1005840" cy="1005840"/>
          </a:xfrm>
          <a:prstGeom prst="ellipse">
            <a:avLst/>
          </a:prstGeom>
          <a:solidFill>
            <a:srgbClr val="B5541F"/>
          </a:solidFill>
          <a:ln/>
        </p:spPr>
      </p:sp>
      <p:pic>
        <p:nvPicPr>
          <p:cNvPr id="3" name="Image 0" descr="/home/claude/wb/ppt-kit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2198" y="1116482"/>
            <a:ext cx="784555" cy="78455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14884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55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645920" y="2880360"/>
            <a:ext cx="889711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920240" y="3017520"/>
            <a:ext cx="8348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elements have to be present together — take away any one of them and the fire cannot sustain itself.</a:t>
            </a:r>
            <a:endParaRPr lang="en-US" sz="1450" dirty="0"/>
          </a:p>
        </p:txBody>
      </p:sp>
      <p:sp>
        <p:nvSpPr>
          <p:cNvPr id="7" name="Shape 4">
            <a:hlinkClick r:id="rId2" tooltip="" action="ppaction://hlinksldjump"/>
          </p:cNvPr>
          <p:cNvSpPr/>
          <p:nvPr/>
        </p:nvSpPr>
        <p:spPr>
          <a:xfrm>
            <a:off x="4905756" y="484632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B5541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5">
            <a:hlinkClick r:id="rId3" tooltip="" action="ppaction://hlinksldjump"/>
          </p:cNvPr>
          <p:cNvSpPr txBox="1"/>
          <p:nvPr/>
        </p:nvSpPr>
        <p:spPr>
          <a:xfrm>
            <a:off x="4905756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Continue  →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in the Home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005840"/>
            <a:ext cx="1005840" cy="10058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" name="Image 0" descr="/home/claude/wb/ppt-kit/icons/x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2198" y="1116482"/>
            <a:ext cx="784555" cy="78455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14884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quite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645920" y="2880360"/>
            <a:ext cx="889711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920240" y="3017520"/>
            <a:ext cx="8348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elements have to be present together. Take away any one of heat, fuel or oxygen, and the fire cannot keep burning.</a:t>
            </a:r>
            <a:endParaRPr lang="en-US" sz="1450" dirty="0"/>
          </a:p>
        </p:txBody>
      </p:sp>
      <p:sp>
        <p:nvSpPr>
          <p:cNvPr id="7" name="Shape 4">
            <a:hlinkClick r:id="rId2" tooltip="" action="ppaction://hlinksldjump"/>
          </p:cNvPr>
          <p:cNvSpPr/>
          <p:nvPr/>
        </p:nvSpPr>
        <p:spPr>
          <a:xfrm>
            <a:off x="3579876" y="484632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5">
            <a:hlinkClick r:id="rId3" tooltip="" action="ppaction://hlinksldjump"/>
          </p:cNvPr>
          <p:cNvSpPr txBox="1"/>
          <p:nvPr/>
        </p:nvSpPr>
        <p:spPr>
          <a:xfrm>
            <a:off x="3579876" y="4846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Try Again</a:t>
            </a:r>
            <a:endParaRPr lang="en-US" sz="1400" dirty="0"/>
          </a:p>
        </p:txBody>
      </p:sp>
      <p:sp>
        <p:nvSpPr>
          <p:cNvPr id="9" name="Shape 6">
            <a:hlinkClick r:id="rId4" tooltip="" action="ppaction://hlinksldjump"/>
          </p:cNvPr>
          <p:cNvSpPr/>
          <p:nvPr/>
        </p:nvSpPr>
        <p:spPr>
          <a:xfrm>
            <a:off x="6323076" y="484632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B5541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7">
            <a:hlinkClick r:id="rId5" tooltip="" action="ppaction://hlinksldjump"/>
          </p:cNvPr>
          <p:cNvSpPr txBox="1"/>
          <p:nvPr/>
        </p:nvSpPr>
        <p:spPr>
          <a:xfrm>
            <a:off x="6323076" y="4846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Show Answer  →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in the Home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·  3 OF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C2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chip pan catches fire on the hob. What is the safest thing to do?</a:t>
            </a:r>
            <a:endParaRPr lang="en-US" sz="2200" dirty="0"/>
          </a:p>
        </p:txBody>
      </p:sp>
      <p:sp>
        <p:nvSpPr>
          <p:cNvPr id="5" name="Shape 3">
            <a:hlinkClick r:id="rId1" tooltip="" action="ppaction://hlinksldjump"/>
          </p:cNvPr>
          <p:cNvSpPr/>
          <p:nvPr/>
        </p:nvSpPr>
        <p:spPr>
          <a:xfrm>
            <a:off x="548640" y="25146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9050">
            <a:solidFill>
              <a:srgbClr val="C9D6C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>
            <a:hlinkClick r:id="rId2" tooltip="" action="ppaction://hlinksldjump"/>
          </p:cNvPr>
          <p:cNvSpPr/>
          <p:nvPr/>
        </p:nvSpPr>
        <p:spPr>
          <a:xfrm>
            <a:off x="749808" y="2596896"/>
            <a:ext cx="402336" cy="402336"/>
          </a:xfrm>
          <a:prstGeom prst="ellipse">
            <a:avLst/>
          </a:prstGeom>
          <a:solidFill>
            <a:srgbClr val="B5541F"/>
          </a:solidFill>
          <a:ln/>
        </p:spPr>
      </p:sp>
      <p:sp>
        <p:nvSpPr>
          <p:cNvPr id="7" name="Text 5">
            <a:hlinkClick r:id="rId3" tooltip="" action="ppaction://hlinksldjump"/>
          </p:cNvPr>
          <p:cNvSpPr txBox="1"/>
          <p:nvPr/>
        </p:nvSpPr>
        <p:spPr>
          <a:xfrm>
            <a:off x="749808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1500" dirty="0"/>
          </a:p>
        </p:txBody>
      </p:sp>
      <p:sp>
        <p:nvSpPr>
          <p:cNvPr id="8" name="Text 6">
            <a:hlinkClick r:id="rId4" tooltip="" action="ppaction://hlinksldjump"/>
          </p:cNvPr>
          <p:cNvSpPr txBox="1"/>
          <p:nvPr/>
        </p:nvSpPr>
        <p:spPr>
          <a:xfrm>
            <a:off x="1325880" y="2514600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Throw water on it</a:t>
            </a:r>
            <a:endParaRPr lang="en-US" sz="1450" dirty="0"/>
          </a:p>
        </p:txBody>
      </p:sp>
      <p:sp>
        <p:nvSpPr>
          <p:cNvPr id="9" name="Shape 7">
            <a:hlinkClick r:id="rId5" tooltip="" action="ppaction://hlinksldjump"/>
          </p:cNvPr>
          <p:cNvSpPr/>
          <p:nvPr/>
        </p:nvSpPr>
        <p:spPr>
          <a:xfrm>
            <a:off x="548640" y="32004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9050">
            <a:solidFill>
              <a:srgbClr val="C9D6C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>
            <a:hlinkClick r:id="rId6" tooltip="" action="ppaction://hlinksldjump"/>
          </p:cNvPr>
          <p:cNvSpPr/>
          <p:nvPr/>
        </p:nvSpPr>
        <p:spPr>
          <a:xfrm>
            <a:off x="749808" y="3282696"/>
            <a:ext cx="402336" cy="402336"/>
          </a:xfrm>
          <a:prstGeom prst="ellipse">
            <a:avLst/>
          </a:prstGeom>
          <a:solidFill>
            <a:srgbClr val="B5541F"/>
          </a:solidFill>
          <a:ln/>
        </p:spPr>
      </p:sp>
      <p:sp>
        <p:nvSpPr>
          <p:cNvPr id="11" name="Text 9">
            <a:hlinkClick r:id="rId7" tooltip="" action="ppaction://hlinksldjump"/>
          </p:cNvPr>
          <p:cNvSpPr txBox="1"/>
          <p:nvPr/>
        </p:nvSpPr>
        <p:spPr>
          <a:xfrm>
            <a:off x="749808" y="3282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1500" dirty="0"/>
          </a:p>
        </p:txBody>
      </p:sp>
      <p:sp>
        <p:nvSpPr>
          <p:cNvPr id="12" name="Text 10">
            <a:hlinkClick r:id="rId8" tooltip="" action="ppaction://hlinksldjump"/>
          </p:cNvPr>
          <p:cNvSpPr txBox="1"/>
          <p:nvPr/>
        </p:nvSpPr>
        <p:spPr>
          <a:xfrm>
            <a:off x="1325880" y="3200400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Turn off the heat if safe to do so, and never move the pan</a:t>
            </a:r>
            <a:endParaRPr lang="en-US" sz="1450" dirty="0"/>
          </a:p>
        </p:txBody>
      </p:sp>
      <p:sp>
        <p:nvSpPr>
          <p:cNvPr id="13" name="Shape 11">
            <a:hlinkClick r:id="rId9" tooltip="" action="ppaction://hlinksldjump"/>
          </p:cNvPr>
          <p:cNvSpPr/>
          <p:nvPr/>
        </p:nvSpPr>
        <p:spPr>
          <a:xfrm>
            <a:off x="548640" y="38862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9050">
            <a:solidFill>
              <a:srgbClr val="C9D6C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>
            <a:hlinkClick r:id="rId10" tooltip="" action="ppaction://hlinksldjump"/>
          </p:cNvPr>
          <p:cNvSpPr/>
          <p:nvPr/>
        </p:nvSpPr>
        <p:spPr>
          <a:xfrm>
            <a:off x="749808" y="3968496"/>
            <a:ext cx="402336" cy="402336"/>
          </a:xfrm>
          <a:prstGeom prst="ellipse">
            <a:avLst/>
          </a:prstGeom>
          <a:solidFill>
            <a:srgbClr val="B5541F"/>
          </a:solidFill>
          <a:ln/>
        </p:spPr>
      </p:sp>
      <p:sp>
        <p:nvSpPr>
          <p:cNvPr id="15" name="Text 13">
            <a:hlinkClick r:id="rId11" tooltip="" action="ppaction://hlinksldjump"/>
          </p:cNvPr>
          <p:cNvSpPr txBox="1"/>
          <p:nvPr/>
        </p:nvSpPr>
        <p:spPr>
          <a:xfrm>
            <a:off x="749808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1500" dirty="0"/>
          </a:p>
        </p:txBody>
      </p:sp>
      <p:sp>
        <p:nvSpPr>
          <p:cNvPr id="16" name="Text 14">
            <a:hlinkClick r:id="rId12" tooltip="" action="ppaction://hlinksldjump"/>
          </p:cNvPr>
          <p:cNvSpPr txBox="1"/>
          <p:nvPr/>
        </p:nvSpPr>
        <p:spPr>
          <a:xfrm>
            <a:off x="1325880" y="3886200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Carry it outside</a:t>
            </a:r>
            <a:endParaRPr lang="en-US" sz="1450" dirty="0"/>
          </a:p>
        </p:txBody>
      </p:sp>
      <p:sp>
        <p:nvSpPr>
          <p:cNvPr id="17" name="Shape 15">
            <a:hlinkClick r:id="rId13" tooltip="" action="ppaction://hlinksldjump"/>
          </p:cNvPr>
          <p:cNvSpPr/>
          <p:nvPr/>
        </p:nvSpPr>
        <p:spPr>
          <a:xfrm>
            <a:off x="548640" y="45720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9050">
            <a:solidFill>
              <a:srgbClr val="C9D6C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>
            <a:hlinkClick r:id="rId14" tooltip="" action="ppaction://hlinksldjump"/>
          </p:cNvPr>
          <p:cNvSpPr/>
          <p:nvPr/>
        </p:nvSpPr>
        <p:spPr>
          <a:xfrm>
            <a:off x="749808" y="4654296"/>
            <a:ext cx="402336" cy="402336"/>
          </a:xfrm>
          <a:prstGeom prst="ellipse">
            <a:avLst/>
          </a:prstGeom>
          <a:solidFill>
            <a:srgbClr val="B5541F"/>
          </a:solidFill>
          <a:ln/>
        </p:spPr>
      </p:sp>
      <p:sp>
        <p:nvSpPr>
          <p:cNvPr id="19" name="Text 17">
            <a:hlinkClick r:id="rId15" tooltip="" action="ppaction://hlinksldjump"/>
          </p:cNvPr>
          <p:cNvSpPr txBox="1"/>
          <p:nvPr/>
        </p:nvSpPr>
        <p:spPr>
          <a:xfrm>
            <a:off x="749808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1500" dirty="0"/>
          </a:p>
        </p:txBody>
      </p:sp>
      <p:sp>
        <p:nvSpPr>
          <p:cNvPr id="20" name="Text 18">
            <a:hlinkClick r:id="rId16" tooltip="" action="ppaction://hlinksldjump"/>
          </p:cNvPr>
          <p:cNvSpPr txBox="1"/>
          <p:nvPr/>
        </p:nvSpPr>
        <p:spPr>
          <a:xfrm>
            <a:off x="1325880" y="4572000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Fan the flames to cool it down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in the Home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005840"/>
            <a:ext cx="1005840" cy="1005840"/>
          </a:xfrm>
          <a:prstGeom prst="ellipse">
            <a:avLst/>
          </a:prstGeom>
          <a:solidFill>
            <a:srgbClr val="B5541F"/>
          </a:solidFill>
          <a:ln/>
        </p:spPr>
      </p:sp>
      <p:pic>
        <p:nvPicPr>
          <p:cNvPr id="3" name="Image 0" descr="/home/claude/wb/ppt-kit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2198" y="1116482"/>
            <a:ext cx="784555" cy="78455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14884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55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645920" y="2880360"/>
            <a:ext cx="889711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920240" y="3017520"/>
            <a:ext cx="8348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on a hot oil fire causes a dangerous fireball. Turn off the heat only if it's safe to reach, cover if you can, and never move a burning pan.</a:t>
            </a:r>
            <a:endParaRPr lang="en-US" sz="1450" dirty="0"/>
          </a:p>
        </p:txBody>
      </p:sp>
      <p:sp>
        <p:nvSpPr>
          <p:cNvPr id="7" name="Shape 4">
            <a:hlinkClick r:id="rId2" tooltip="" action="ppaction://hlinksldjump"/>
          </p:cNvPr>
          <p:cNvSpPr/>
          <p:nvPr/>
        </p:nvSpPr>
        <p:spPr>
          <a:xfrm>
            <a:off x="4905756" y="484632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B5541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5">
            <a:hlinkClick r:id="rId3" tooltip="" action="ppaction://hlinksldjump"/>
          </p:cNvPr>
          <p:cNvSpPr txBox="1"/>
          <p:nvPr/>
        </p:nvSpPr>
        <p:spPr>
          <a:xfrm>
            <a:off x="4905756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Continue  →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in the Home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005840"/>
            <a:ext cx="1005840" cy="10058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" name="Image 0" descr="/home/claude/wb/ppt-kit/icons/x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2198" y="1116482"/>
            <a:ext cx="784555" cy="78455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14884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quite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645920" y="2880360"/>
            <a:ext cx="889711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920240" y="3017520"/>
            <a:ext cx="8348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throw water on a chip-pan fire — it causes a dangerous fireball. Turn off the heat only if safe to reach, and never move the pan.</a:t>
            </a:r>
            <a:endParaRPr lang="en-US" sz="1450" dirty="0"/>
          </a:p>
        </p:txBody>
      </p:sp>
      <p:sp>
        <p:nvSpPr>
          <p:cNvPr id="7" name="Shape 4">
            <a:hlinkClick r:id="rId2" tooltip="" action="ppaction://hlinksldjump"/>
          </p:cNvPr>
          <p:cNvSpPr/>
          <p:nvPr/>
        </p:nvSpPr>
        <p:spPr>
          <a:xfrm>
            <a:off x="3579876" y="484632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5">
            <a:hlinkClick r:id="rId3" tooltip="" action="ppaction://hlinksldjump"/>
          </p:cNvPr>
          <p:cNvSpPr txBox="1"/>
          <p:nvPr/>
        </p:nvSpPr>
        <p:spPr>
          <a:xfrm>
            <a:off x="3579876" y="4846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Try Again</a:t>
            </a:r>
            <a:endParaRPr lang="en-US" sz="1400" dirty="0"/>
          </a:p>
        </p:txBody>
      </p:sp>
      <p:sp>
        <p:nvSpPr>
          <p:cNvPr id="9" name="Shape 6">
            <a:hlinkClick r:id="rId4" tooltip="" action="ppaction://hlinksldjump"/>
          </p:cNvPr>
          <p:cNvSpPr/>
          <p:nvPr/>
        </p:nvSpPr>
        <p:spPr>
          <a:xfrm>
            <a:off x="6323076" y="484632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B5541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7">
            <a:hlinkClick r:id="rId5" tooltip="" action="ppaction://hlinksldjump"/>
          </p:cNvPr>
          <p:cNvSpPr txBox="1"/>
          <p:nvPr/>
        </p:nvSpPr>
        <p:spPr>
          <a:xfrm>
            <a:off x="6323076" y="4846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Show Answer  →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in the Home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5C2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All Three Elements Depend on Each Other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Heat, fuel and oxygen aren't three separate risks — they only cause a fire when all three are present together, at the same time, in the same place. That's the whole idea of the fire triangle: it isn't a checklist, it's a dependency.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FFF3E9"/>
          </a:solidFill>
          <a:ln w="12700">
            <a:solidFill>
              <a:srgbClr val="B5541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ACTIVITY  ·  AC 3.2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the interdependence of the three elements of the fire triangle in sustaining a fire — in other words, explain why a fire needs all three at once, not just one or two.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in the Home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5C2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C2A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B5541F"/>
          </a:solidFill>
          <a:ln/>
        </p:spPr>
      </p:sp>
      <p:pic>
        <p:nvPicPr>
          <p:cNvPr id="5" name="Image 0" descr="/home/claude/wb/ppt-kit/icons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784555"/>
            <a:ext cx="625450" cy="6254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RECAP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know…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B5541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1828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182880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3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identify fire hazards in the home.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2960" y="260604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B5541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26060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828800" y="2606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3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plan a home fire escape and the rules that reduce risk.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22960" y="338328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B5541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33832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828800" y="338328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3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fire triangle, and why all three elements depend on each other.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22960" y="4206240"/>
            <a:ext cx="10515600" cy="1143000"/>
          </a:xfrm>
          <a:prstGeom prst="roundRect">
            <a:avLst>
              <a:gd name="adj" fmla="val 6400"/>
            </a:avLst>
          </a:prstGeom>
          <a:solidFill>
            <a:srgbClr val="7A3A17"/>
          </a:solidFill>
          <a:ln w="12700">
            <a:solidFill>
              <a:srgbClr val="B5541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1097280" y="4206240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 ·  Open your digital workbook to complete the Learning Outcome activities for QJ21CY002.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in the Home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2026-09-26T11:00:44Z</dcterms:created>
  <dcterms:modified xsi:type="dcterms:W3CDTF">2026-09-26T11:00:44Z</dcterms:modified>
</cp:coreProperties>
</file>