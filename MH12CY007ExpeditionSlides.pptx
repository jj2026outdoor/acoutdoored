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005840" cy="71323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08760" y="256032"/>
            <a:ext cx="1280160" cy="4297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|  Level 2  |  MH12CY007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36576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an Expedition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36576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Three-Day Expedition  |  6 Credits  |  56 GLH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274320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274320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Procedures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1243584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243584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243584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 &amp; Risks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2212848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212848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212848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Expedition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3182112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182112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4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182112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Rucksack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4151376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151376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5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151376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Expedition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5120640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5120640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6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120640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Code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6089904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089904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7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089904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7059168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7059168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8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059168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Equipment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8028432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8028432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9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8028432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700" dirty="0"/>
          </a:p>
        </p:txBody>
      </p:sp>
      <p:sp>
        <p:nvSpPr>
          <p:cNvPr id="35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82880" y="4818888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Jones  |  Bryn Llywarch Outdoor Education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 — MH12CY007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274320" y="57607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an Expedition  |  Level 2  |  6 Credits  |  56 GLH  |  Three-Day Expedition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37160" y="1005840"/>
            <a:ext cx="886968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" y="1005840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" y="101498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77240" y="10149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Procedures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468880" y="101498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— Describe emergency procedures that may be used during an expedition.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37160" y="1426464"/>
            <a:ext cx="8869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37160" y="1426464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37160" y="14356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77240" y="1435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 &amp; Risks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468880" y="143560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— Assess expedition hazards and risks.  AC 2.2 — Mitigate against them.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137160" y="1847088"/>
            <a:ext cx="886968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37160" y="1847088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37160" y="185623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77240" y="1856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Expedition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468880" y="185623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 — Plan a three-day expedition (equipment, sundries, meals, route planners).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137160" y="2267712"/>
            <a:ext cx="8869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37160" y="2267712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37160" y="227685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4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77240" y="22768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Rucksack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2468880" y="227685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 — Pack a rucksack effectively (weight distribution, frequently used items).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137160" y="2688336"/>
            <a:ext cx="886968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37160" y="2688336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37160" y="2697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5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77724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Expedition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2468880" y="2697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5.1 — Complete a three-day expedition (practical demonstration).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137160" y="3108960"/>
            <a:ext cx="8869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37160" y="3108960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37160" y="311810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6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77240" y="31181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Code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2468880" y="311810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6.1 — Comply with the Country Code during the expedition.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137160" y="3529584"/>
            <a:ext cx="886968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37160" y="3529584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37160" y="353872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7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777240" y="3538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2468880" y="353872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7.1 — Use navigation techniques during the expedition.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137160" y="3950208"/>
            <a:ext cx="8869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37160" y="3950208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" y="395935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8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777240" y="39593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Equipment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2468880" y="395935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8.1 — Maintain expedition equipment.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137160" y="4370832"/>
            <a:ext cx="886968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37160" y="4370832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37160" y="437997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9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777240" y="43799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1100" dirty="0"/>
          </a:p>
        </p:txBody>
      </p:sp>
      <p:sp>
        <p:nvSpPr>
          <p:cNvPr id="53" name="Text 49"/>
          <p:cNvSpPr/>
          <p:nvPr/>
        </p:nvSpPr>
        <p:spPr>
          <a:xfrm>
            <a:off x="2468880" y="437997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9.1 — Assess the expedition following completion.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Emergency Procedures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— Describe the emergency procedures that may be used during an expedition.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(EAP)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 / AC 1.1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expedition must have a pre-agreed Emergency Action Plan.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Procedure: Stop — Think — Observe — Plan.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panic and ensures a coordinated response.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 roles in advance: who calls for help, who stays with casualty.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999: ask for Police, then Mountain Rescue.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signal? — 6 whistle blasts (repeated) or torch flashes.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for emergency services: location (6-figure grid reference), number of casualties, nature of injury, time of incident.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a casualty alone.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Casualty Care — DR ABC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 / AC 1.1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859536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— Check the scene is safe before approaching. Remove danger, not the casualty.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— Check responsiveness: shout and tap shoulders.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— Open airway: head-tilt, chin-lift. Look for obstructions.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— Look, listen, feel for normal breathing (no more than 10 seconds).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— If not breathing normally, begin CPR (30 compressions : 2 breaths). Control severe bleeding.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casualty warm (emergency bivvy). Do NOT move if spinal injury suspected.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Hypothermia signs: shivering, confusion, slurred speech, pale skin — insulate and shelter immediately.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Against Expedition Hazards and Risks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— Assess expedition hazards and risks.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61488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706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2.2 — Mitigate against any expedition hazards and risks.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Hazard and Risk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2 / AC 2.1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HAZARD: Anything with potential to cause harm.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steep ground, river crossings, bad weather, faulty equipment, fatigue.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Likelihood x Severity.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both as Low (1), Medium (2), or High (3).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 1-3: Low | 4-6: Medium | 7-9: High/Critical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Welsh upland specific hazards: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Boggy ground and peat hags — ankle injuries, kit damage.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weather deterioration — hypothermia, navigational failure.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location — no phone signal, long emergency response times.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rising after rain — crossing hazard can change within hours.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Measures and Dynamic Risk Assessment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2 / AC 2.2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859536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measures REDUCE likelihood or severity — or both.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group briefing before river crossing, emergency bivvy in every pack, designated turn-back conditions if weather deteriorates.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ASSESSMENT: Reassess throughout the expedition — conditions change.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examples: choosing a wider, shallower crossing point; calling a rest stop when a group member shows signs of fatigue; altering the route to avoid exposed ground in deteriorating visibility.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any field adjustments in your expedition log — this is evidence for AC 2.2.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 Expedition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 — Plan a three-day expedition including: equipment, sundries, meals, route planners.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and Sundries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 / AC 3.1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KIT: Clothing layers (base / mid / outer), waterproof trousers, walking boots, gaiters.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1:25,000 map, compass, whistle, head torch.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first aid kit, emergency bivvy, group shelter.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Other: sun cream, insect repellent, water bottles (2L+).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KIT: Tent, sleeping bags, sleeping mats, stove, fuel.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first aid kit, trowels, rubbish bags.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SUNDRIES (small but essential): Repair tape, cable ties, spare bootlaces, lighter, toilet paper, notebook and pencil.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rations — separate from main food supply.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Planning and Route Planning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 / AC 3.1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MEALS: Plan for approx. 2,500-3,500 kcal/day per person.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weight, preparation time, fuel required.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breakfast at home / en route; hot meal in camp; Day 2: hot breakfast; packed lunch; recovery meal.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emergency rations in each pack.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PLAN: Use 1:25,000 OS map.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6-figure grid references for start, key waypoints, camp, finish.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Naismith's Rule: 1hr per 5km + 1hr per 600m ascent.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Welsh locations: Brecon Beacons, Cambrian Mountains, Rhinogydd range (Snowdonia), Coed y Brenin area.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escape routes and decision points — if X happens, we go to grid reference 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 Rucksack Effectively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 — Pack a rucksack effectively (weight distribution and frequently used items).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Rucksack Packing Principles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4 / AC 4.1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DISTRIBUTION: Heavy items closest to spine and high in pack (between shoulder blades).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centre of gravity close to body — reduces lower back strain.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Tent, food, and water: against the back.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bag and mat: bottom of pack (least needed).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and lighter items: outer sections.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USED ITEMS: Rain jacket, snacks, map, first aid kit, sun cream.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in top lid or outer pockets — no unpacking needed.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WATERPROOFING: Rucksack liner or dry bags for sleeping bag and electronics. External cover as backup.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FIT: Hip belt on iliac crest, taking 70-80% of load. Load lifters at 45 degrees.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note: Both weight distribution AND frequently used items must be addressed.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 Expedition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5.1 — Complete a three-day expedition (practical demonstration).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Assessor Looks For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5 / AC 5.1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859536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5.1 is primarily assessed through PRACTICAL DEMONSTRATION — your assessor observes you in the field.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techniques: navigation in varied terrain, safe campcraft, appropriate pace management.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use: correct and safe use of stove, tent pitching, waterproof clothing management.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checks: demonstrating appropriate checks at key points — river crossings, steep ground, poor visibility.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Teamwork: communication within the group, supporting other members, flagging concerns to the leader.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Expedition log: keep a daily record across all THREE days — distance, terrain, decisions, any incidents. Supporting written evidence for the three-day expedition requirement.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Country Code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6.1 — Comply with the Country Code during the expedition.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Country Code in Wales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6 / AC 6.1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OTHER PEOPLE: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gates as you find them (open or closed).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to paths across farmland.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horses quietly — give them space.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noise levels appropriate — other visitors and local communities.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ENVIRONMENT: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no trace — carry all litter out.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fires except in designated areas.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pick or damage plants.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disturbing nesting birds (March-August) and livestock.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SAFE: Plan ahead, follow local signs, know your access rights.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Navigation Techniques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7.1 — Use navigation techniques during the expedition.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Techniques — Part 1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7 / AC 7.1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READING: Six-figure grid references, contour interpretation (shape, height, spacing), map symbols. Orienting the map to ground features.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 WORK: Taking a bearing from map, walking on bearing, accounting for magnetic declination (~1-2° west in Wales).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OF DISTANCE: Pacing (count steps per 100m on your terrain), timing (Naismith), terrain features as checkpoints.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MH12CY007 requires at least two techniques evidenced. MH12CY007 (3-day unit) requires a minimum of THREE named techniques.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Techniques — Part 2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7 / AC 7.1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AIMING OFF (Intentional Error): Deliberately navigate to one side of a target. When you hit the linear feature (path/wall/stream) you know which way to turn. Removes uncertainty.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target is a bridge. Aim 200m left — when you hit the river you know to turn right.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HANDRAILING: Use a linear feature alongside your route as a guide. Follow the wall / stream / fence. Reduces need for constant compass work.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POINTS: Navigate to a large obvious feature near your target. Use precise skills only for the final short approach. Reduces error accumulation.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Expedition Equipment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8.1 — Maintain expedition equipment.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Maintenance After the Expedition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8 / AC 8.1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TENT: Dry fully before packing (prevents mould). Check poles for cracks. Check guy lines and pegs. Store loosely — never in compression sack long-term.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BAG: Air after each night. Wash per manufacturer instructions (down = specialist wash). Store uncompressed.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FOOTWEAR: Remove mud, dry naturally (not direct heat). Apply Nikwax or similar. Check sole separation.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WATERPROOFS: Wash with tech wash to restore breathability. Tumble dry on low OR iron over damp cloth to reactivate DWR coating.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STOVE: Clean burner head. Check fuel canister seals. Store in ventilated space.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KIT: Check compass for air bubbles. Map — check condition, laminate if needed. GPS — battery check before next use.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Expedition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9.1 — Assess the expedition following its completion.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Expedition Self-Assessment — Gibbs Reflective Cycle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9 / AC 9.1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What happened? (Cross-reference your expedition log.)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FEELINGS: How did you feel during key moments?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What went well? What did not go well?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Why did things happen as they did?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What have you learned from the experience?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PLAN: What will you do differently on your next expedition?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responses reference specific moments: 'On Day 2, approaching the summit in mist, I found my compass bearing accurate but struggled to maintain pace...'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identify at least two strengths AND at least two improvements.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— Revision Summary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137160" y="886968"/>
            <a:ext cx="438912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37160" y="886968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37160" y="9235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645920" y="92354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potential to cause harm.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137160" y="1554480"/>
            <a:ext cx="438912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37160" y="1554480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37160" y="15910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645920" y="159105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x Severity of harm from a hazard.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37160" y="2221992"/>
            <a:ext cx="438912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37160" y="2221992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37160" y="2258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Measure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645920" y="22585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taken to reduce likelihood or severity of harm.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137160" y="2889504"/>
            <a:ext cx="438912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37160" y="2889504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37160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645920" y="2926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reassessment of hazards in the field.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137160" y="3557016"/>
            <a:ext cx="438912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37160" y="3557016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37160" y="3593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645920" y="35935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pre-agreed procedures for dealing with incidents.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137160" y="4224528"/>
            <a:ext cx="438912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37160" y="4224528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37160" y="42611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ABC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645920" y="426110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Danger, Response, Airway, Breathing, Circulation — casualty assessment order.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663440" y="886968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663440" y="886968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663440" y="9235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Naismith's Rule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172200" y="92354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1hr per 5km + 1hr per 600m ascent — walking time estimation.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4663440" y="1554480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663440" y="1554480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663440" y="15910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Aiming Off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172200" y="159105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error to one side of a target so you know which way to turn.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663440" y="2221992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663440" y="2221992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663440" y="2258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Handrailing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6172200" y="22585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linear feature (wall/stream/fence) as a navigational guide.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4663440" y="2889504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663440" y="2889504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663440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Point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6172200" y="2926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obvious feature used for the final precise approach to a target.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4663440" y="3557016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663440" y="3557016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663440" y="3593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Code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6172200" y="35935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responsible behaviour in the Welsh/English outdoors.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4663440" y="4224528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4663440" y="4224528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663440" y="42611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Reference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6172200" y="426110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6-figure reference identifying a 100m square on an OS map.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open your digital workbook.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workbook file is: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8229600" cy="5029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86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MH12CY007ExpeditionDigital.html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answers are saved automatically.  </a:t>
            </a:r>
            <a:pPr indent="0" marL="0">
              <a:buNone/>
            </a:pPr>
            <a:r>
              <a:rPr lang="en-US" sz="130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Save File to keep a backup.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931920"/>
            <a:ext cx="914400" cy="64008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08760" y="4059936"/>
            <a:ext cx="1280160" cy="4297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17520" y="4114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MH12CY007  |  Participate in an Expedition  |  Jonathan Jones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82880" y="4818888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Bryn Llywarch Outdoor Education  |  Agored Cymru Level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MH12CY007 Participate in an Expedition — Teaching Slides</dc:title>
  <dc:subject>PptxGenJS Presentation</dc:subject>
  <dc:creator>Jonathan Jones</dc:creator>
  <cp:lastModifiedBy>Jonathan Jones</cp:lastModifiedBy>
  <cp:revision>1</cp:revision>
  <dcterms:created xsi:type="dcterms:W3CDTF">2026-04-11T20:22:53Z</dcterms:created>
  <dcterms:modified xsi:type="dcterms:W3CDTF">2026-04-11T20:22:53Z</dcterms:modified>
</cp:coreProperties>
</file>