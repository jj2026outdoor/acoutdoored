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"/>
            <a:ext cx="795528" cy="5943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28600"/>
            <a:ext cx="1033272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1005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AGORED CYMRU  ·  LEVEL 2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146304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Water-based Activity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457200" y="22860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 ·  Paddleboarding (SUP)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 ·  CDO653  ·  Level 2  ·  3 Credits  ·  15 GLH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0" y="44531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  |  Jonathan Jones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 — MH32CY008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introduces students to water-based outdoor activities through practical participation.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choose ONE activity pathway — either Canoeing or Paddleboarding (SUP).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Learning Outcomes: knowledge, requirements, preparation, participation, maintenance, self-assessment.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is by practical demonstration in a water-based setting — observed by an assessor.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 ·  15 Guided Learning Hours  ·  Last Registration: 31/08/2027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Safety first: buoyancy aid mandatory at all times on the water.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3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 at a Glance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74980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74980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1024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188720" y="93268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range of water-based activities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182880" y="202996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82880" y="202996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6" name="Text 12"/>
          <p:cNvSpPr/>
          <p:nvPr/>
        </p:nvSpPr>
        <p:spPr>
          <a:xfrm>
            <a:off x="228600" y="230428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2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88720" y="221284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requirements of the activity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182880" y="331012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2880" y="331012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0" name="Text 16"/>
          <p:cNvSpPr/>
          <p:nvPr/>
        </p:nvSpPr>
        <p:spPr>
          <a:xfrm>
            <a:off x="228600" y="358444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349300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participation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709160" y="74980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709160" y="74980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4" name="Text 20"/>
          <p:cNvSpPr/>
          <p:nvPr/>
        </p:nvSpPr>
        <p:spPr>
          <a:xfrm>
            <a:off x="4754880" y="1024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4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715000" y="93268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the activity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4709160" y="202996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09160" y="202996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8" name="Text 24"/>
          <p:cNvSpPr/>
          <p:nvPr/>
        </p:nvSpPr>
        <p:spPr>
          <a:xfrm>
            <a:off x="4754880" y="230428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5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5715000" y="221284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equipment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4709160" y="3310128"/>
            <a:ext cx="4343400" cy="1170432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709160" y="3310128"/>
            <a:ext cx="914400" cy="1170432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2" name="Text 28"/>
          <p:cNvSpPr/>
          <p:nvPr/>
        </p:nvSpPr>
        <p:spPr>
          <a:xfrm>
            <a:off x="4754880" y="358444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6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5715000" y="3493008"/>
            <a:ext cx="3246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own participation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1 — Water-based Activities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1.1: Describe a range of water-based activities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5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Activities in Wales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🛶  Canoeing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Open-top craft propelled with a single-bladed paddle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rivers, lakes, and sheltered coastal water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rivers in Wales: Wye, Tryweryn, Teifi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Requires: buoyancy aid, paddle, helmet, wetsuit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Strokes: forward, reverse, draw, sweep, J-stroke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🏄  Paddleboarding (SUP)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or kneeling on a wide, stable board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Single-bladed paddle — switched sides regularly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flat water, slow rivers, sheltered coastline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Requires: buoyancy aid, ankle leash, paddle, wetsuit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skill: correct falling technique and remounting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6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of Water-based Activities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🚣  Kayaking — closed-top craft with a double-bladed paddle. White water rivers, sea touring, flat water.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 Sea Kayaking — longer touring kayaks designed for coastal expeditions and channel crossings.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🤿  Open Water Swimming — swimming in natural open water (rivers, lakes, sea). Specific safety considerations apply.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⛵  Sailing — wind-powered vessels on Welsh reservoirs and coastal waters.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 1.1: Describe at least TWO activities — what they involve, where in Wales, and who might take part.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What other water-based activities have you experienced or seen in Wales?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2 — Activity Requirements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2.1 – 2.4: Features, skills, equipment, safety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8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of Each Activity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— Key Features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stroke: torso rotation, blade submerged, exit before hip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stroke: moves canoe sideways toward the blade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stroke: wide arc to turn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J-stroke: keeps solo paddler on a straight course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Trim: front-to-back balance of the canoe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Eddies: calm water behind obstacles — used for resting and manoeuvring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 — Key Features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Stance: feet hip-width apart, centred, knees soft, eyes forward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Blade angled forward — T-bar grip on top, switch sides every 3–5 strokes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kneeling — stand up one foot at a time from the board centre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Falling: always fall to the side, away from the board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first: paddle into wind while fresh — ensures safe return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leash: keeps board close after a fall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9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— What Do You Need?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Kit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— correctly fitted, mandatory at all times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— single-bladed, checked for cracks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— required on rivers and near hazards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 or drysuit — thermal protection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line — instructor-carried rescue device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 — attached to buoyancy aid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 Kit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— mandatory, whistle attached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leash — around ankle, velcro secure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— single-bladed, adjusted to wrist height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 — mandatory in cold water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and gauge — for inflatable SUPs (12–15 PSI)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bag — waterproof storage for phone and first aid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8B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10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Water Safety — Know This Before You Launch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10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Water Shock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immersion causes involuntary gasping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inhale water — leading cause of drowning in cold water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CONTROL YOUR BREATHING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buoyancy aid keeps you afloat — trust it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panic — float on your back and breathe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Capsize / Falling In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Canoeing: Stay calm. Stay with the boat. Signal to bank. Do NOT stand in fast water (foot entrapment)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SUP: Fall to the side, away from the board. Use ankle leash to retrieve board. Remount from side at board centre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Alert instructor immediately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Whistle: 1 blast = attention  ·  3 blasts = emergency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11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2.2 — Assessing Your Own Skills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self-assessment is essential before undertaking any water-based activity.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Consider: prior experience on water  ·  balance and core strength  ·  confidence if you fall in  ·  swimming ability.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 least ONE strength and ONE area for development — with personal reference.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starters: 'I am confident at...'  'I need to develop...'  'My experience of water is...'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wrong answers — this is about understanding yourself as a learner, not about having the perfect skill set.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Complete AC 2.2 in your workbook now.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3 — Preparing for Participation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3.1 – 3.2: Equipment selection and preparation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13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Your Session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— Preparation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buoyancy aid: all clips fastened, cannot be pulled over shoulders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Helmet: level, correct clearance, chin strap firm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Wetsuit: check seals at neck, wrists, and ankles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check shaft, blade, and fittings for cracks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Canoe: hull check, painter lines, buoyancy bags (rivers)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full safety briefing — capsize procedure, whistle signals, exclusion zones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 — Preparation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iSUP: inflate to correct PSI, check fin, inspect for damage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aid: all clips, whistle attached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leash: around ankle (not calf), velcro secure, cord in good condition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wrist height, T-bar grip, check for damage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Wetsuit: seals checked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full safety briefing — falling technique, whistle signals, exclusion zones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14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Preparation Matters in Water Activities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environments are less forgiving than land — a poorly fitted buoyancy aid may not save your life.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water shock can incapacitate a paddler within seconds — knowing the correct response is critical.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that has not been checked before launch may fail when it matters most.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briefing is not optional — it is the foundation of safe participation.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assessor will observe your preparation — approach it as seriously as the activity itself.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Work through the equipment checklist in your workbook for your activity.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4 — Participating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4.1: Skills, techniques, equipment, safety checks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16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 — Skills and Techniques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stroke: reach forward, submerge blade close to hull, torso rotation drives the stroke, exit before the hip.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stroke: reverse the forward stroke — for stopping and moving backward.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stroke: reach to the side, pull canoe toward the blade — for moving sideways.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stroke: wide arc in either direction — for turning the canoe.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Eddy turns: using calm water behind obstacles to stop, rest, or change direction.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stay within sight of the group, monitor conditions, respond immediately to whistle signals.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17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 — Skills and Techniques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up: from kneeling at the board centre, hands flat on board, push up one foot at a time. Knees soft.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stroke: reach forward, submerge blade fully, pull past ankle, exit cleanly. Torso rotation. Switch sides every 3–5 strokes.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stroke: blade behind, push forward — for stopping and reversing.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stroke: wide arc for turning. Pivot turn: step to tail, use sweeps to spin.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correctly: always to the side, away from the board. Remount from side at the board centre.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stay in the zone, monitor wind and conditions, stay on board if another paddler falls in — alert instructor.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18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Assessor Will Look For (AC 4.1)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TWO distinct paddle strokes observed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and helmet worn at all times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within the designated paddling area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whistle signals and instructor directions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safety awareness throughout the session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Paddleboarding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TWO distinct skills or techniques observed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 AND ankle leash worn at all times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falling technique if observed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within the designated paddling area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conditions and following instructor directions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5 — Equipment Maintenance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5.1: Maintain your kit after the session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20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After Your Kit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Canoeing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Canoe: rinse with fresh water, check hull for new damage, store upside down away from UV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rinse, inspect for cracks, store horizontally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aid: rinse, check fastenings and foam, hang to dry naturally — NOT near heat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Helmet: rinse, inspect for cracks after any impact — replace if damaged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Wetsuit: rinse inside and out, hang on wide hanger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line: repack cleanly after every use — fold rope ready for immediate deployment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Paddleboarding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iSUP: rinse, dry fully before deflating and rolling — rolling wet promotes mould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board: rinse, check for dings, store on rack or board bag away from UV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rinse, check ferrule and blade, store horizontally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aid: rinse, check all fastenings, hang to dry naturally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leash: rinse, check velcro, swivel, and cord — replace if worn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Wetsuit: rinse inside and out on wide hanger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21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Equipment Maintenance Matters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Well-maintained kit is safer — faults found on land are less dangerous than faults found on water.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Buoyancy aids must be checked for foam damage — a compromised BA may not provide adequate buoyancy.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lines must be repacked correctly — a tangled throw line cannot save someone in difficulty.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iSUPs not dried before rolling develop mould and lose structural integrity.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leash failure on open water leaves the paddler separated from their board.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After today's session, complete AC 5.1 in your workbook — describe what you maintained and how.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612648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"/>
            <a:ext cx="941832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1645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6 — Self-Assessment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365760" y="23774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6.1: Assess your own participation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· Agored Cymru Level 2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23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Strong Self-Assessment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— name the exact stroke, moment, or part of the session you are reflecting on.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both strengths AND areas for development — honest reflection is more valuable than praise.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CONCRETE improvements — not just 'get better' but 'practise the draw stroke on flat water before the next session'.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to: technique  ·  safety  ·  confidence on the water  ·  teamwork  ·  fitness.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Avoid: 'I enjoyed it' without further analysis — this does not meet the criterion alone.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starters: 'I performed well at...'  'I found it challenging when...'  'Next time I would...'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24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— Sentence Starters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8288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8288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2" name="Text 8"/>
          <p:cNvSpPr/>
          <p:nvPr/>
        </p:nvSpPr>
        <p:spPr>
          <a:xfrm>
            <a:off x="22860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well?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432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'My forward stroke improved as the session went on because I focused on torso rotation...'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stayed calm when I capsized and followed the correct procedure by...'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fell in correctly by falling to the side and remounted the board by...'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supported another paddler by staying visible to the instructor when they...'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09160" y="685800"/>
            <a:ext cx="4251960" cy="4069080"/>
          </a:xfrm>
          <a:prstGeom prst="rect">
            <a:avLst/>
          </a:prstGeom>
          <a:solidFill>
            <a:srgbClr val="EAF4EE"/>
          </a:solidFill>
          <a:ln w="12700">
            <a:solidFill>
              <a:srgbClr val="C8E6D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09160" y="685800"/>
            <a:ext cx="4251960" cy="384048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713232"/>
            <a:ext cx="4160520" cy="3291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improve?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00600" y="1115568"/>
            <a:ext cx="4069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need to develop my draw stroke as I found moving the canoe sideways difficult when...'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'My balance on the board was affected by... Next time I would...'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found the wind challenging on the return leg — I would practise paddling into a headwind by...'</a:t>
            </a:r>
            <a:endParaRPr lang="en-US" sz="1300" dirty="0"/>
          </a:p>
          <a:p>
            <a:pPr>
              <a:spcBef>
                <a:spcPts val="400"/>
              </a:spcBef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want to improve my fitness for paddling by...'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"/>
            <a:ext cx="73152" cy="454914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91440"/>
            <a:ext cx="539496" cy="40233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"/>
            <a:ext cx="795528" cy="365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7" name="Text 3"/>
          <p:cNvSpPr/>
          <p:nvPr/>
        </p:nvSpPr>
        <p:spPr>
          <a:xfrm>
            <a:off x="0" y="4864608"/>
            <a:ext cx="7315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| Slide 25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914400" y="45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Summary — What You Need to Produce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28600" y="685800"/>
            <a:ext cx="868680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Written workbook answers — complete all AC boxes in LO 1, 2, and 6.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Practical evidence — assessor observes LO 3 (preparation), LO 4 (participation), and LO 5 (maintenance).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Photo or audio evidence — upload to the digital workbook or attach to the printed workbook.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Criteria Evidence Checklist — tick each AC when your evidence is ready.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Student Declaration — sign when all work is complete.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criterion uses a plural (e.g. 'a range'), a minimum of TWO examples is required.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52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"/>
            <a:ext cx="795528" cy="5943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28600"/>
            <a:ext cx="1033272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137160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On the Water.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2194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MH32CY008 — Canoeing &amp; Paddleboarding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14400" y="28346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 Ask your teacher or refer to your workbook.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Digital workbook: auto-saves and exports to JSON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Printed workbook: available from your teacher
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Assessor password: Agored2025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0" y="445312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Brynllywarch  |  Jonathan Jones  |  Agored Cymru Level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MH32CY008 Participate in a Water-based Activity — Canoeing &amp; Paddleboarding</dc:title>
  <dc:subject>PptxGenJS Presentation</dc:subject>
  <dc:creator>Jonathan Jones</dc:creator>
  <cp:lastModifiedBy>Jonathan Jones</cp:lastModifiedBy>
  <cp:revision>1</cp:revision>
  <dcterms:created xsi:type="dcterms:W3CDTF">2026-05-03T16:00:26Z</dcterms:created>
  <dcterms:modified xsi:type="dcterms:W3CDTF">2026-05-03T16:00:26Z</dcterms:modified>
</cp:coreProperties>
</file>