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74320"/>
            <a:ext cx="685800" cy="47548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74320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·  LEVEL 2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548640" y="2514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HB92CY002  ·  CDN082  ·  2 Credits  ·  12 hours GLH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48640" y="3200400"/>
            <a:ext cx="1874520" cy="155448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85800" y="3291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85800" y="365760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hazards (AC 1.1–1.4)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560320" y="3200400"/>
            <a:ext cx="1874520" cy="155448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697480" y="3291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697480" y="365760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safety (AC 2.1–2.3)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0" y="3200400"/>
            <a:ext cx="1874520" cy="155448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709160" y="3291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09160" y="365760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&amp; emergencies (AC 3.1)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583680" y="3200400"/>
            <a:ext cx="1874520" cy="155448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720840" y="3291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720840" y="365760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clothing &amp; equipment (AC 4.1–4.2)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841248"/>
            <a:ext cx="8229600" cy="966978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94360" y="914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94360" y="11612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about managing risks and hazards when learning in the outdoors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4360" y="1481328"/>
            <a:ext cx="7955280" cy="281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 Define hazard and risk.  AC 1.2 Risk assessment — min THREE hazards/risks with control measures.  AC 1.3 Describe control measures.  AC 1.4 Personal judgements on managing risk.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899666"/>
            <a:ext cx="8229600" cy="96697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197281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4360" y="221970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health and safety arrangements for learning in the outdoors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4360" y="2539746"/>
            <a:ext cx="7955280" cy="281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 Why H&amp;S instructions matter (min TWO reasons).  AC 2.2 Identify min FOUR safety signs/symbols.  AC 2.3 H&amp;S instructions for ONE activity.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57200" y="2958084"/>
            <a:ext cx="8229600" cy="966978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30312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94360" y="327812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processes relating to accidents and emergencies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94360" y="3598164"/>
            <a:ext cx="7955280" cy="281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 Describe the full process for accidents and emergencies outdoors (immediate actions, getting help, after the emergency).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7200" y="4016502"/>
            <a:ext cx="8229600" cy="96697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4360" y="408965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94360" y="433654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use safety clothing and equipment for a specific outdoor activity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94360" y="4656582"/>
            <a:ext cx="7955280" cy="281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 Identify clothing/equipment for ONE activity (min 2 + 2).  AC 4.2 Describe correct use of ONE piece of equipment.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2" name="Text 18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about managing risks and hazards when learning in the outdoors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1.1, 1.2, 1.3, 1.4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Hazard, Risk and Control Measures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6" name="Text 2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105156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HAZARD: anything with the potential to cause harm — e.g. a slippery path, deep water, UV exposure.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the likelihood a hazard will actually cause harm, and how serious that harm could be.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MEASURE: an action taken to reduce or remove a risk — e.g. wearing a life jacket near water.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in your own words, write a definition for 'hazard' and 'risk'.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Hazard in Outdoor Learning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6" name="Text 2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&amp; Equipment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16002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— weather, terrain, water features, wildlife.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— faulty kit, incorrect use of tools or PPE.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9" name="Text 5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&amp; Activity-specific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846320" y="16002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— poor decision-making, lack of experience, group behaviour.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Activity-specific — heights, water, fire, navigation in remote areas.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2" name="Text 8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— The 5-Step Process (HSE)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6" name="Text 2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1.2 / 1.3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105156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 the hazards.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Decide who might be harmed and how.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Evaluate the risks and decide on control measures.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Record your findings.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Review and update your assessment.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choose an outdoor activity and identify at least THREE hazards and THREE risks, with control measures for each.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6" name="Text 2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1.4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105156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outdoor education, risks change quickly due to weather, group energy, or the environment.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 risk assessment is a continuous, on-the-spot re-evaluation of risk during an activity.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observe → assess → act — repeatedly throughout the session.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describe an outdoor situation where you personally noticed a risk, what you decided to do about it, and whether you would do anything differently looking back.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health and safety arrangements for learning in the outdoors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2.1, 2.2, 2.3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Health and Safety Rules Exist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6" name="Text 2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105156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and safety instructions protect everyone — participants, instructors, and the public.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legislation: Health and Safety at Work Act 1974, and Management of H&amp;S at Work Regulations 1999.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providers also follow Adventure Activities Licensing Authority (AALA) guidelines.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give at least TWO reasons why it is important to follow H&amp;S instructions outdoors, and what could happen if someone does not.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Safety Signs in Outdoor Environments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6" name="Text 2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2.2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Prohibition &amp; Warning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16002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Prohibition signs (red circle) — e.g. No Swimming, No Open Fires.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signs (yellow triangle) — e.g. Steep Drop, Unstable Ground.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1" name="Text 7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&amp; Safe Condition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46320" y="16002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signs (blue circle) — e.g. Wear a Life Jacket, Helmets Must Be Worn.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condition signs (green square) — e.g. First Aid Point, Emergency Exit.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equipment signs (red square) — e.g. Fire Extinguisher Location.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4" name="Text 10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H&amp;S Instructions Cover for Outdoor Activities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6" name="Text 2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2.3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105156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Pre-activity briefings — route plan, weather check, equipment check.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and PPE requirements — layering system, appropriate footwear.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protocols — what to do if separated, how to signal for help.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and exclusion zones — where you are and are not allowed to go.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procedures — who to contact, assembly points, first aid location.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describe the H&amp;S instructions before, during, and after ONE outdoor learning activity.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processes relating to accidents and emergencies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3.1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 Principle — First Steps in an Emergency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6" name="Text 2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105156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Stop. Don't rush in. Ensure the scene is safe for you first.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Think. Assess what has happened and what you need.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Observe. Look at the casualty and the environment carefully.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Plan. Decide on your course of action before acting.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Procedures in Outdoor Learning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6" name="Text 2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105156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alarm — shout for help, use a whistle (6 blasts = distress signal), phone or radio.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casualty — keep them warm, calm, and still unless there is immediate danger.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for help — dial 999 (or 112). In remote areas, give your grid reference.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basic first aid — only if trained; follow instructor guidance.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with the group — do not leave others unsupervised.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move the casualty — unless there is a risk of further injury.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Reporting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6" name="Text 2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105156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accidents — however minor — must be recorded in an accident/incident log.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RIDDOR requires serious injuries to be reported to the HSE.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misses should also be recorded to prevent future incidents.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describe the full process for an accident or emergency outdoors — immediate actions, how to get help, and what happens afterwards.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use safety clothing and equipment for a specific outdoor learning activity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4.1, 4.2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Layering System for Outdoor Clothing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6" name="Text 2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105156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layer — wicks moisture away from skin. Avoid cotton. Use merino wool or synthetic.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layer — insulation. Fleece or down jacket. Traps warm air close to the body.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layer (shell) — waterproof and windproof. Protects from rain, wind, and cold.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PPE for Outdoor Activities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6" name="Text 2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 for Protection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16002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— climbing, abseiling, caving, cycling, white water kayaking.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Buoyancy Aid / Life Jacket — water-based activities.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— roped activities (climbing, abseiling, zip wire).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1" name="Text 7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 for Comfort &amp; Visibility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46320" y="16002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 — insulation and protection when handling ropes or in cold conditions.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footwear — hiking boots, water shoes, specialist climbing shoes.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High-visibility vest — road walks or low-light environments.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4" name="Text 10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Equipment Correctly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6" name="Text 2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4.2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105156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attend a pre-activity kit briefing before using specialist equipment.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equipment before use — look for damage, wear, and correct sizing.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PPE correctly — a helmet that doesn't fit provides little protection.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instructor guidance at all times. Report damaged equipment immediately — do not use it.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equipment correctly after use — clean, dry, and secure.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describe how you used ONE piece of safety equipment according to the instructions you were given, and explain why following them matters.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Revision: Key Terms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841248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6" name="Text 2"/>
          <p:cNvSpPr/>
          <p:nvPr/>
        </p:nvSpPr>
        <p:spPr>
          <a:xfrm>
            <a:off x="566928" y="88696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66928" y="1133856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with the potential to cause harm to a person.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709160" y="841248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9" name="Text 5"/>
          <p:cNvSpPr/>
          <p:nvPr/>
        </p:nvSpPr>
        <p:spPr>
          <a:xfrm>
            <a:off x="4818888" y="88696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818888" y="1133856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likelihood and severity of harm occurring from a hazard.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57200" y="1627632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2" name="Text 8"/>
          <p:cNvSpPr/>
          <p:nvPr/>
        </p:nvSpPr>
        <p:spPr>
          <a:xfrm>
            <a:off x="566928" y="167335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measure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66928" y="1920240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action taken to reduce or eliminate a risk.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709160" y="1627632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5" name="Text 11"/>
          <p:cNvSpPr/>
          <p:nvPr/>
        </p:nvSpPr>
        <p:spPr>
          <a:xfrm>
            <a:off x="4818888" y="167335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818888" y="1920240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continuous, on-the-spot reassessment of risk.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57200" y="2414016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8" name="Text 14"/>
          <p:cNvSpPr/>
          <p:nvPr/>
        </p:nvSpPr>
        <p:spPr>
          <a:xfrm>
            <a:off x="566928" y="245973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66928" y="2706624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Protective Equipment — worn to protect from harm.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709160" y="2414016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1" name="Text 17"/>
          <p:cNvSpPr/>
          <p:nvPr/>
        </p:nvSpPr>
        <p:spPr>
          <a:xfrm>
            <a:off x="4818888" y="245973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RIDDOR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18888" y="2706624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of Injuries, Diseases and Dangerous Occurrences Regulations 2013.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57200" y="3200400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4" name="Text 20"/>
          <p:cNvSpPr/>
          <p:nvPr/>
        </p:nvSpPr>
        <p:spPr>
          <a:xfrm>
            <a:off x="566928" y="32461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AALA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66928" y="3493008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Activities Licensing Authority — licenses outdoor providers.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709160" y="3200400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7" name="Text 23"/>
          <p:cNvSpPr/>
          <p:nvPr/>
        </p:nvSpPr>
        <p:spPr>
          <a:xfrm>
            <a:off x="4818888" y="32461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Layering system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818888" y="3493008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Base, mid and outer layers to regulate body temperature.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57200" y="3986784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0" name="Text 26"/>
          <p:cNvSpPr/>
          <p:nvPr/>
        </p:nvSpPr>
        <p:spPr>
          <a:xfrm>
            <a:off x="566928" y="403250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miss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66928" y="4279392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that did not cause harm but had the potential to — must be reported.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709160" y="3986784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3" name="Text 29"/>
          <p:cNvSpPr/>
          <p:nvPr/>
        </p:nvSpPr>
        <p:spPr>
          <a:xfrm>
            <a:off x="4818888" y="403250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Buoyancy aid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818888" y="4279392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flotation device worn during water activities.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6" name="Text 32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digital workbook to complete the Learning Outcome activities and formal Assessment Tasks.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 — Personal Safety when Learning in the Outdoors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74320"/>
            <a:ext cx="685800" cy="47548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74320"/>
            <a:ext cx="777240" cy="393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HB92CY002 Personal Safety when Learning in the Outdoors</dc:title>
  <dc:subject>PptxGenJS Presentation</dc:subject>
  <dc:creator>Jonathan Jones</dc:creator>
  <cp:lastModifiedBy>Jonathan Jones</cp:lastModifiedBy>
  <cp:revision>1</cp:revision>
  <dcterms:created xsi:type="dcterms:W3CDTF">2026-06-13T11:11:02Z</dcterms:created>
  <dcterms:modified xsi:type="dcterms:W3CDTF">2026-06-13T11:11:02Z</dcterms:modified>
</cp:coreProperties>
</file>