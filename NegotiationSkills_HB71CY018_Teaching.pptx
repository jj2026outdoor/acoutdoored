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E7A8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BrynLogo_roun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914400"/>
            <a:ext cx="1371600" cy="960120"/>
          </a:xfrm>
          <a:prstGeom prst="rect">
            <a:avLst/>
          </a:prstGeom>
        </p:spPr>
      </p:pic>
      <p:pic>
        <p:nvPicPr>
          <p:cNvPr id="3" name="Image 1" descr="/home/claude/assets/Agored_Reversed_transpar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1965960"/>
            <a:ext cx="2743200" cy="5943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914400" y="274320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Negotiation Skills</a:t>
            </a:r>
            <a:endParaRPr lang="en-US" sz="4400" dirty="0"/>
          </a:p>
        </p:txBody>
      </p:sp>
      <p:sp>
        <p:nvSpPr>
          <p:cNvPr id="5" name="Text 1"/>
          <p:cNvSpPr/>
          <p:nvPr/>
        </p:nvSpPr>
        <p:spPr>
          <a:xfrm>
            <a:off x="914400" y="365760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4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Agored Cymru Level 2 PSE  •  HB71CY018  •  Level One  •  1 Credit  •  9 GLH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914400" y="603504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9C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Brynllywarch Hall School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4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E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Getting to a yes that works for everyone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4864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Negotiation isn't about winning — it's about finding an outcome both sides can live with.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92240" y="1554480"/>
            <a:ext cx="5120640" cy="868680"/>
          </a:xfrm>
          <a:prstGeom prst="roundRect">
            <a:avLst>
              <a:gd name="adj" fmla="val 8421"/>
            </a:avLst>
          </a:prstGeom>
          <a:solidFill>
            <a:srgbClr val="E8F1F3"/>
          </a:solidFill>
          <a:ln/>
        </p:spPr>
      </p:sp>
      <p:sp>
        <p:nvSpPr>
          <p:cNvPr id="6" name="Text 4"/>
          <p:cNvSpPr/>
          <p:nvPr/>
        </p:nvSpPr>
        <p:spPr>
          <a:xfrm>
            <a:off x="6675120" y="1554480"/>
            <a:ext cx="822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E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498080" y="1554480"/>
            <a:ext cx="3931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what negotiation is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92240" y="2606040"/>
            <a:ext cx="5120640" cy="868680"/>
          </a:xfrm>
          <a:prstGeom prst="roundRect">
            <a:avLst>
              <a:gd name="adj" fmla="val 8421"/>
            </a:avLst>
          </a:prstGeom>
          <a:solidFill>
            <a:srgbClr val="E8F1F3"/>
          </a:solidFill>
          <a:ln/>
        </p:spPr>
      </p:sp>
      <p:sp>
        <p:nvSpPr>
          <p:cNvPr id="9" name="Text 7"/>
          <p:cNvSpPr/>
          <p:nvPr/>
        </p:nvSpPr>
        <p:spPr>
          <a:xfrm>
            <a:off x="6675120" y="2606040"/>
            <a:ext cx="822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E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498080" y="2606040"/>
            <a:ext cx="3931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negotiation techniques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92240" y="3657600"/>
            <a:ext cx="5120640" cy="868680"/>
          </a:xfrm>
          <a:prstGeom prst="roundRect">
            <a:avLst>
              <a:gd name="adj" fmla="val 8421"/>
            </a:avLst>
          </a:prstGeom>
          <a:solidFill>
            <a:srgbClr val="E8F1F3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3657600"/>
            <a:ext cx="822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E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498080" y="3657600"/>
            <a:ext cx="3931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techniques to reach a solution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Negotiation Skills  •  HB71CY018  •  Level One</a:t>
            </a:r>
            <a:endParaRPr lang="en-US" sz="900" dirty="0"/>
          </a:p>
        </p:txBody>
      </p:sp>
      <p:pic>
        <p:nvPicPr>
          <p:cNvPr id="15" name="Image 0" descr="/home/claude/assets/Agored_FullColou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5560" y="6473952"/>
            <a:ext cx="777240" cy="283464"/>
          </a:xfrm>
          <a:prstGeom prst="rect">
            <a:avLst/>
          </a:prstGeom>
        </p:spPr>
      </p:pic>
      <p:pic>
        <p:nvPicPr>
          <p:cNvPr id="16" name="Image 1" descr="/home/claude/assets/BrynLogo_roun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5720" y="6446520"/>
            <a:ext cx="502920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F4A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229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8D9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 — LO1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Negotiate or Not?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2286000"/>
            <a:ext cx="107899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700" dirty="0">
                <a:solidFill>
                  <a:srgbClr val="F4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a class, look at a list of everyday situations (e.g. “choosing a film to watch with friends”, “buying milk from a shop”, “agreeing chores with a sibling”).</a:t>
            </a:r>
            <a:endParaRPr lang="en-US" sz="17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700" dirty="0">
                <a:solidFill>
                  <a:srgbClr val="F4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 each one into “involves negotiation” or “doesn't really”.</a:t>
            </a:r>
            <a:endParaRPr lang="en-US" sz="17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700" dirty="0">
                <a:solidFill>
                  <a:srgbClr val="F4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Discuss: what's the difference between a fixed price and something that's actually negotiable?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Negotiation Skills  •  HB71CY018  •  Level One</a:t>
            </a:r>
            <a:endParaRPr lang="en-US" sz="900" dirty="0"/>
          </a:p>
        </p:txBody>
      </p:sp>
      <p:pic>
        <p:nvPicPr>
          <p:cNvPr id="6" name="Image 0" descr="/home/claude/assets/Agored_FullColou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5560" y="6473952"/>
            <a:ext cx="777240" cy="283464"/>
          </a:xfrm>
          <a:prstGeom prst="rect">
            <a:avLst/>
          </a:prstGeom>
        </p:spPr>
      </p:pic>
      <p:pic>
        <p:nvPicPr>
          <p:cNvPr id="7" name="Image 1" descr="/home/claude/assets/BrynLogo_roun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5720" y="6446520"/>
            <a:ext cx="502920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4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E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Techniques that help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49240" cy="1920240"/>
          </a:xfrm>
          <a:prstGeom prst="roundRect">
            <a:avLst>
              <a:gd name="adj" fmla="val 3810"/>
            </a:avLst>
          </a:prstGeom>
          <a:solidFill>
            <a:srgbClr val="F2F2EF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8308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E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common ground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48463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with what you both already agree on.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26480" y="1645920"/>
            <a:ext cx="5349240" cy="1920240"/>
          </a:xfrm>
          <a:prstGeom prst="roundRect">
            <a:avLst>
              <a:gd name="adj" fmla="val 3810"/>
            </a:avLst>
          </a:prstGeom>
          <a:solidFill>
            <a:srgbClr val="E8F1F3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0" y="178308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E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Listen first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0" y="2286000"/>
            <a:ext cx="48463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what the other side actually wants before offering solutions.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794760"/>
            <a:ext cx="5349240" cy="1920240"/>
          </a:xfrm>
          <a:prstGeom prst="roundRect">
            <a:avLst>
              <a:gd name="adj" fmla="val 3810"/>
            </a:avLst>
          </a:prstGeom>
          <a:solidFill>
            <a:srgbClr val="F2F2EF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93192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E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Offer a compromise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2960" y="4434840"/>
            <a:ext cx="48463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Suggest a middle option that gives both sides something.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26480" y="3794760"/>
            <a:ext cx="5349240" cy="1920240"/>
          </a:xfrm>
          <a:prstGeom prst="roundRect">
            <a:avLst>
              <a:gd name="adj" fmla="val 3810"/>
            </a:avLst>
          </a:prstGeom>
          <a:solidFill>
            <a:srgbClr val="E8F1F3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393192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E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Stay calm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0" y="4434840"/>
            <a:ext cx="48463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Keeping a level tone makes the other side more likely to engage.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Negotiation Skills  •  HB71CY018  •  Level One</a:t>
            </a:r>
            <a:endParaRPr lang="en-US" sz="900" dirty="0"/>
          </a:p>
        </p:txBody>
      </p:sp>
      <p:pic>
        <p:nvPicPr>
          <p:cNvPr id="17" name="Image 0" descr="/home/claude/assets/Agored_FullColou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5560" y="6473952"/>
            <a:ext cx="777240" cy="283464"/>
          </a:xfrm>
          <a:prstGeom prst="rect">
            <a:avLst/>
          </a:prstGeom>
        </p:spPr>
      </p:pic>
      <p:pic>
        <p:nvPicPr>
          <p:cNvPr id="18" name="Image 1" descr="/home/claude/assets/BrynLogo_roun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5720" y="6446520"/>
            <a:ext cx="502920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4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E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can block a negotiation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F2F2EF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45920"/>
            <a:ext cx="10515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side refusing to compromise at all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468880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E8F1F3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468880"/>
            <a:ext cx="10515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Poor communication or misunderstanding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3291840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F2F2EF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291840"/>
            <a:ext cx="10515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emotions taking over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4114800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E8F1F3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4114800"/>
            <a:ext cx="10515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big difference in power between the two sides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4937760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F2F2EF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4937760"/>
            <a:ext cx="10515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Lack of trust between the people involved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Negotiation Skills  •  HB71CY018  •  Level One</a:t>
            </a:r>
            <a:endParaRPr lang="en-US" sz="900" dirty="0"/>
          </a:p>
        </p:txBody>
      </p:sp>
      <p:pic>
        <p:nvPicPr>
          <p:cNvPr id="15" name="Image 0" descr="/home/claude/assets/Agored_FullColou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5560" y="6473952"/>
            <a:ext cx="777240" cy="283464"/>
          </a:xfrm>
          <a:prstGeom prst="rect">
            <a:avLst/>
          </a:prstGeom>
        </p:spPr>
      </p:pic>
      <p:pic>
        <p:nvPicPr>
          <p:cNvPr id="16" name="Image 1" descr="/home/claude/assets/BrynLogo_roun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5720" y="6446520"/>
            <a:ext cx="502920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F4A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229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8D9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 — LO2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Barrier Busters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2286000"/>
            <a:ext cx="107899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700" dirty="0">
                <a:solidFill>
                  <a:srgbClr val="F4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small groups, take one barrier from the previous slide.</a:t>
            </a:r>
            <a:endParaRPr lang="en-US" sz="17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700" dirty="0">
                <a:solidFill>
                  <a:srgbClr val="F4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 and list at least two ways someone could work around that barrier.</a:t>
            </a:r>
            <a:endParaRPr lang="en-US" sz="17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700" dirty="0">
                <a:solidFill>
                  <a:srgbClr val="F4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your group's ideas with the class.</a:t>
            </a:r>
            <a:endParaRPr lang="en-US" sz="17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700" dirty="0">
                <a:solidFill>
                  <a:srgbClr val="F4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a class, agree which techniques from earlier would help most with each barrier.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Negotiation Skills  •  HB71CY018  •  Level One</a:t>
            </a:r>
            <a:endParaRPr lang="en-US" sz="900" dirty="0"/>
          </a:p>
        </p:txBody>
      </p:sp>
      <p:pic>
        <p:nvPicPr>
          <p:cNvPr id="6" name="Image 0" descr="/home/claude/assets/Agored_FullColou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5560" y="6473952"/>
            <a:ext cx="777240" cy="283464"/>
          </a:xfrm>
          <a:prstGeom prst="rect">
            <a:avLst/>
          </a:prstGeom>
        </p:spPr>
      </p:pic>
      <p:pic>
        <p:nvPicPr>
          <p:cNvPr id="7" name="Image 1" descr="/home/claude/assets/BrynLogo_roun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5720" y="6446520"/>
            <a:ext cx="502920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4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E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Planning a real negotiation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negotiators plan before they start — knowing what you want, and what you're willing to give up, makes the conversation much easier.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560320"/>
            <a:ext cx="5349240" cy="868680"/>
          </a:xfrm>
          <a:prstGeom prst="roundRect">
            <a:avLst>
              <a:gd name="adj" fmla="val 6316"/>
            </a:avLst>
          </a:prstGeom>
          <a:solidFill>
            <a:srgbClr val="F2F2EF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560320"/>
            <a:ext cx="4937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outcome do you actually want?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26480" y="2560320"/>
            <a:ext cx="5349240" cy="868680"/>
          </a:xfrm>
          <a:prstGeom prst="roundRect">
            <a:avLst>
              <a:gd name="adj" fmla="val 6316"/>
            </a:avLst>
          </a:prstGeom>
          <a:solidFill>
            <a:srgbClr val="E8F1F3"/>
          </a:solidFill>
          <a:ln/>
        </p:spPr>
      </p:sp>
      <p:sp>
        <p:nvSpPr>
          <p:cNvPr id="8" name="Text 6"/>
          <p:cNvSpPr/>
          <p:nvPr/>
        </p:nvSpPr>
        <p:spPr>
          <a:xfrm>
            <a:off x="6355080" y="2560320"/>
            <a:ext cx="4937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could you offer or compromise on?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611880"/>
            <a:ext cx="5349240" cy="868680"/>
          </a:xfrm>
          <a:prstGeom prst="roundRect">
            <a:avLst>
              <a:gd name="adj" fmla="val 6316"/>
            </a:avLst>
          </a:prstGeom>
          <a:solidFill>
            <a:srgbClr val="F2F2EF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3611880"/>
            <a:ext cx="4937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your common ground with the other side?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126480" y="3611880"/>
            <a:ext cx="5349240" cy="868680"/>
          </a:xfrm>
          <a:prstGeom prst="roundRect">
            <a:avLst>
              <a:gd name="adj" fmla="val 6316"/>
            </a:avLst>
          </a:prstGeom>
          <a:solidFill>
            <a:srgbClr val="E8F1F3"/>
          </a:solidFill>
          <a:ln/>
        </p:spPr>
      </p:sp>
      <p:sp>
        <p:nvSpPr>
          <p:cNvPr id="12" name="Text 10"/>
          <p:cNvSpPr/>
          <p:nvPr/>
        </p:nvSpPr>
        <p:spPr>
          <a:xfrm>
            <a:off x="6355080" y="3611880"/>
            <a:ext cx="4937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technique will you try first?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Negotiation Skills  •  HB71CY018  •  Level One</a:t>
            </a:r>
            <a:endParaRPr lang="en-US" sz="900" dirty="0"/>
          </a:p>
        </p:txBody>
      </p:sp>
      <p:pic>
        <p:nvPicPr>
          <p:cNvPr id="14" name="Image 0" descr="/home/claude/assets/Agored_FullColou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5560" y="6473952"/>
            <a:ext cx="777240" cy="283464"/>
          </a:xfrm>
          <a:prstGeom prst="rect">
            <a:avLst/>
          </a:prstGeom>
        </p:spPr>
      </p:pic>
      <p:pic>
        <p:nvPicPr>
          <p:cNvPr id="15" name="Image 1" descr="/home/claude/assets/BrynLogo_roun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5720" y="6446520"/>
            <a:ext cx="502920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F4A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229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8D9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 — LO3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Real-Life Negotiation Plan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2286000"/>
            <a:ext cx="107899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700" dirty="0">
                <a:solidFill>
                  <a:srgbClr val="F4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 of a real negotiation you could realistically have (e.g. a later curfew, splitting a task fairly, choosing a shared activity).</a:t>
            </a:r>
            <a:endParaRPr lang="en-US" sz="17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700" dirty="0">
                <a:solidFill>
                  <a:srgbClr val="F4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alone, plan it out using the four questions from the previous slide.</a:t>
            </a:r>
            <a:endParaRPr lang="en-US" sz="17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700" dirty="0">
                <a:solidFill>
                  <a:srgbClr val="F4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pairs, talk through your plan — does your partner think it's realistic?</a:t>
            </a:r>
            <a:endParaRPr lang="en-US" sz="17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700" dirty="0">
                <a:solidFill>
                  <a:srgbClr val="F4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Reflect: what's your biggest strength going into a negotiation like this, and what would you want to improve?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Negotiation Skills  •  HB71CY018  •  Level One</a:t>
            </a:r>
            <a:endParaRPr lang="en-US" sz="900" dirty="0"/>
          </a:p>
        </p:txBody>
      </p:sp>
      <p:pic>
        <p:nvPicPr>
          <p:cNvPr id="6" name="Image 0" descr="/home/claude/assets/Agored_FullColou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5560" y="6473952"/>
            <a:ext cx="777240" cy="283464"/>
          </a:xfrm>
          <a:prstGeom prst="rect">
            <a:avLst/>
          </a:prstGeom>
        </p:spPr>
      </p:pic>
      <p:pic>
        <p:nvPicPr>
          <p:cNvPr id="7" name="Image 1" descr="/home/claude/assets/BrynLogo_roun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5720" y="6446520"/>
            <a:ext cx="502920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4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E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you've covered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2F2EF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37360"/>
            <a:ext cx="1097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E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011680" y="1737360"/>
            <a:ext cx="9326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negotiation means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78892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E8F1F3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788920"/>
            <a:ext cx="1097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E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011680" y="2788920"/>
            <a:ext cx="9326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Techniques and barriers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384048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2F2EF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840480"/>
            <a:ext cx="1097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E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011680" y="3840480"/>
            <a:ext cx="9326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Planning and reflecting on a real negotiation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Negotiation Skills  •  HB71CY018  •  Level One</a:t>
            </a:r>
            <a:endParaRPr lang="en-US" sz="900" dirty="0"/>
          </a:p>
        </p:txBody>
      </p:sp>
      <p:pic>
        <p:nvPicPr>
          <p:cNvPr id="14" name="Image 0" descr="/home/claude/assets/Agored_FullColou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5560" y="6473952"/>
            <a:ext cx="777240" cy="283464"/>
          </a:xfrm>
          <a:prstGeom prst="rect">
            <a:avLst/>
          </a:prstGeom>
        </p:spPr>
      </p:pic>
      <p:pic>
        <p:nvPicPr>
          <p:cNvPr id="15" name="Image 1" descr="/home/claude/assets/BrynLogo_roun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5720" y="6446520"/>
            <a:ext cx="502920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3E7A8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BrynLogo_roun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640080"/>
            <a:ext cx="1371600" cy="9601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192024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your workbook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1371600" y="2743200"/>
            <a:ext cx="9418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4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Finish AC 1.1, 2.1, 2.2, 2.3, 3.1 and 3.2 in your digital or printed workbook, then complete the Declaration page.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2026-08-22T07:03:23Z</dcterms:created>
  <dcterms:modified xsi:type="dcterms:W3CDTF">2026-08-22T07:03:23Z</dcterms:modified>
</cp:coreProperties>
</file>