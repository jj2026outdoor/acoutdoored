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822960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972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BTEC Level 1 Introductory in Sport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1481328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PS9 — Map Reading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Navigation Skills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48640" y="3291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Bryn Llywarch Outdoor Education  |  Jonathan Jones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4069080"/>
            <a:ext cx="3931920" cy="914400"/>
          </a:xfrm>
          <a:prstGeom prst="rect">
            <a:avLst/>
          </a:prstGeom>
          <a:solidFill>
            <a:srgbClr val="3B5998"/>
          </a:solidFill>
          <a:ln w="19050">
            <a:solidFill>
              <a:srgbClr val="C8A9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0936" y="44074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Route Using OS Maps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4069080"/>
            <a:ext cx="3931920" cy="914400"/>
          </a:xfrm>
          <a:prstGeom prst="rect">
            <a:avLst/>
          </a:prstGeom>
          <a:solidFill>
            <a:srgbClr val="3B5998"/>
          </a:solidFill>
          <a:ln w="19050">
            <a:solidFill>
              <a:srgbClr val="C8A9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82896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B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82896" y="44074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a Planned Route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 and how you will be assessed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91440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51560"/>
            <a:ext cx="3931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51560"/>
            <a:ext cx="3931920" cy="420624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1078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155448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A.P1 — Outline route plan, basic map features, 4-figure grid refs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A.P2 — Use appropriate map-reading skills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A.M1 — Detailed plan, 6-figure references, Naismith calculations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A.D1 — Accurate, logical plan with justified route choices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3931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51560"/>
            <a:ext cx="3931920" cy="420624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64608" y="1078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B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92040" y="155448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B.P2 — Navigate with some assistance, completing sections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B.M2 — Navigate effectively and generally on time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B.D2 — Navigate accurately and independently, self-correcting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4224528"/>
            <a:ext cx="2651760" cy="347472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42245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55848" y="4224528"/>
            <a:ext cx="265176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55848" y="42245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336792" y="4224528"/>
            <a:ext cx="2651760" cy="34747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36792" y="42245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0" y="4846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PS9 — Map Reading and Navigation Skills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773168"/>
            <a:ext cx="50292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 Route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Maps · Scale · Grid References · Contours · Naismith's Rule · Route Cards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4864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Ordnance Survey Map?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A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91440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05840"/>
            <a:ext cx="39319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05840"/>
            <a:ext cx="3931920" cy="384048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332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Explorer 1:25,000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37490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walker's map. Every 4 cm = 1 km in real life.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field boundaries, individual buildings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all footpaths, bridleways, rights of way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for navigation on foot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for DofE expeditions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46320" y="1005840"/>
            <a:ext cx="39319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005840"/>
            <a:ext cx="393192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10332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Landranger 1:50,000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37760" y="1463040"/>
            <a:ext cx="37490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wider picture. Every 2 cm = 1 km in real life.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Covers a much larger area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 detail per square kilometre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Good for cycling, planning longer journeys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 useful for foot navigation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E8EDF5"/>
          </a:solidFill>
          <a:ln w="6350">
            <a:solidFill>
              <a:srgbClr val="3B599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OS map contains: Scale  |  Symbols &amp; Key  |  Grid lines (Eastings &amp; Northings)  |  Contour lines  |  Spot heights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0" y="4846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PS9 — Map Reading and Navigation Skills</a:t>
            </a:r>
            <a:endParaRPr lang="en-US" sz="9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773168"/>
            <a:ext cx="50292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Map Symbols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be able to identify these without a key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91440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05840"/>
            <a:ext cx="193852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38912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Footpath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3891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dashed line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377440" y="1005840"/>
            <a:ext cx="193852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50592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Bridleway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45059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green dashes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89120" y="1005840"/>
            <a:ext cx="193852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462272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Park Boundary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46227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dot-dash line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0" y="1005840"/>
            <a:ext cx="193852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73952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A-Road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7395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solid line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1828800"/>
            <a:ext cx="193852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38912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/ Stream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38912" y="2176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wavy line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377440" y="1828800"/>
            <a:ext cx="193852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450592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/ Reservoir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450592" y="2176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blue area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389120" y="1828800"/>
            <a:ext cx="193852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462272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 / Wetland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462272" y="2176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tick marks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00800" y="1828800"/>
            <a:ext cx="193852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473952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Coniferous Woodland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73952" y="2176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green triangles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65760" y="2651760"/>
            <a:ext cx="193852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38912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Non-coniferous Woodland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38912" y="29992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green circles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2377440" y="2651760"/>
            <a:ext cx="193852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2450592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Line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2450592" y="29992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line + height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389120" y="2651760"/>
            <a:ext cx="193852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4462272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Height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462272" y="29992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dot + number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400800" y="2651760"/>
            <a:ext cx="193852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6473952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 Point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473952" y="29992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triangle + dot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365760" y="3474720"/>
            <a:ext cx="193852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438912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Park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438912" y="3822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square, white P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2377440" y="3474720"/>
            <a:ext cx="193852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2450592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Hostel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2450592" y="3822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box — YH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389120" y="3474720"/>
            <a:ext cx="193852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6"/>
          <p:cNvSpPr/>
          <p:nvPr/>
        </p:nvSpPr>
        <p:spPr>
          <a:xfrm>
            <a:off x="4462272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Campsite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4462272" y="3822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triangle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400800" y="3474720"/>
            <a:ext cx="193852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49"/>
          <p:cNvSpPr/>
          <p:nvPr/>
        </p:nvSpPr>
        <p:spPr>
          <a:xfrm>
            <a:off x="6473952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with Tower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6473952" y="3822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cross + square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0" y="4846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PS9 — Map Reading and Navigation Skills</a:t>
            </a:r>
            <a:endParaRPr lang="en-US" sz="900" dirty="0"/>
          </a:p>
        </p:txBody>
      </p:sp>
      <p:pic>
        <p:nvPicPr>
          <p:cNvPr id="5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773168"/>
            <a:ext cx="50292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Distance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A — A.P2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91440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10058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measurement  ×  Scale denominator  =  Real distance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65760" y="1499616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4 cm on a 1:25,000 map  →  4 × 25,000 = 100,000 cm = 1,000 m = 1 km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2148840"/>
            <a:ext cx="402336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2148840"/>
            <a:ext cx="4023360" cy="365760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1762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1:25,000 (OS Explorer)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2578608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cm on map = 1 km real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cm on map = 500 m real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cm on map = 250 m real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walking and foot navigation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2148840"/>
            <a:ext cx="402336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2148840"/>
            <a:ext cx="402336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21762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1:50,000 (OS Landranger)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46320" y="2578608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cm on map = 1 km real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cm on map = 500 m real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cm on map = 250 m real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cycling and wider planning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0" y="4846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PS9 — Map Reading and Navigation Skills</a:t>
            </a:r>
            <a:endParaRPr lang="en-US" sz="9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773168"/>
            <a:ext cx="50292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A — A.P1 (4-figure)  |  A.M1 (6-figure)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91440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read EASTINGS first (along the corridor), then NORTHINGS (up the stairs)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1627632"/>
            <a:ext cx="39319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627632"/>
            <a:ext cx="3931920" cy="384048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" y="16550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Four-Figure Reference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2066544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 1 km² grid square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easting (left number)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northing (bottom number)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34 east, 55 north = 3455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general location — Pass standard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00600" y="1627632"/>
            <a:ext cx="39319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1627632"/>
            <a:ext cx="393192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0328" y="16550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Six-Figure Reference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937760" y="2066544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a 100 m area within the square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square into 10 × 10 tenths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tenths east, then tenths north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342 east, 554 north = 342554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Merit and Distinction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0" y="4846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PS9 — Map Reading and Navigation Skills</a:t>
            </a:r>
            <a:endParaRPr lang="en-US" sz="9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773168"/>
            <a:ext cx="50292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Lines and Terrain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A — Reading the shape of the land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91440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5156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51560"/>
            <a:ext cx="54864" cy="11887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776" y="11064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lines = equal height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3776" y="1399032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contour line connects all points at the same height above sea level.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51560"/>
            <a:ext cx="54864" cy="11887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82896" y="11064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interval = 10 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82896" y="1399032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OS Explorer maps, each contour line is 10 metres apart in height.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2350008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2350008"/>
            <a:ext cx="54864" cy="11887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" y="24048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together = steeper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3776" y="2697480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tightly packed the contours, the steeper the gradient.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2350008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2350008"/>
            <a:ext cx="54864" cy="11887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82896" y="24048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pointing uphill = valley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82896" y="2697480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V-shapes that point towards higher ground indicate a valley or stream.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648456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5760" y="3648456"/>
            <a:ext cx="54864" cy="11887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3776" y="3703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pointing downhill = spur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93776" y="3995928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V-shapes that point towards lower ground indicate a ridge or spur.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54880" y="3648456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54880" y="3648456"/>
            <a:ext cx="54864" cy="11887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82896" y="3703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of contours = summit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882896" y="3995928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ring of contours with no opening indicates a hill top.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0" y="4846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PS9 — Map Reading and Navigation Skills</a:t>
            </a:r>
            <a:endParaRPr lang="en-US" sz="9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773168"/>
            <a:ext cx="50292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Naismith's Rule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A — A.M1 / A.D1  |  Estimating walking time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91440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Devised in 1892 by Scottish mountaineer William Naismith — still used today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1627632"/>
            <a:ext cx="40233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627632"/>
            <a:ext cx="4023360" cy="384048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" y="16550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Flat Distance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75488" y="2084832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 for every 5 km walked on flat ground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Distance ÷ 5 = Hours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7.5 km ÷ 5 = 1.5 hrs = 90 min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627632"/>
            <a:ext cx="40233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627632"/>
            <a:ext cx="40233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64608" y="16550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Ascent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64608" y="2084832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 for every 600 m of height gain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per 100 m gained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 per 10 m gained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300 m ÷ 600 = 0.5 hrs = 30 min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" y="4096512"/>
            <a:ext cx="8412480" cy="6858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65760" y="409651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Add together: Flat time + Ascent time = Total estimated journey time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0" y="4846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PS9 — Map Reading and Navigation Skills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773168"/>
            <a:ext cx="50292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Naismith's Rule — Worked Example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 step by step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91440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05840"/>
            <a:ext cx="8412480" cy="530352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00584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 route is 7.5 km long with 200 m of total ascent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5760" y="1664208"/>
            <a:ext cx="23774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664208"/>
            <a:ext cx="2377440" cy="384048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7007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Flat time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121408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km ÷ 5 = 1.5 hours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90 minutes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566160" y="1664208"/>
            <a:ext cx="23774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66160" y="1664208"/>
            <a:ext cx="237744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0" y="17007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Ascent time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57600" y="2121408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 ÷ 600 = 0.33 hours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20 minutes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92240" y="1664208"/>
            <a:ext cx="23774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92240" y="1664208"/>
            <a:ext cx="2377440" cy="38404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17007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Total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583680" y="2121408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+ 20 min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hour 50 minutes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65760" y="3749040"/>
            <a:ext cx="8412480" cy="1024128"/>
          </a:xfrm>
          <a:prstGeom prst="rect">
            <a:avLst/>
          </a:prstGeom>
          <a:solidFill>
            <a:srgbClr val="FEF9E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3785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Limitations of Naismith's Rule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02920" y="405993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fit walker, easy terrain, no weather issues. Adjust for: heavy pack · fatigue · rest stops · poor visibility · strong wind · mixed-ability group · boggy ground. Always treat as minimum estimate.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0" y="4846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PS9 — Map Reading and Navigation Skills</a:t>
            </a:r>
            <a:endParaRPr lang="en-US" sz="9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773168"/>
            <a:ext cx="50292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a Route Card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A — Required for all assessment grades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91440"/>
            <a:ext cx="548640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 a route card?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353312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number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grid reference (6-figure for M/D)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grid reference (6-figure for M/D)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for each leg (km)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gain for each leg (m)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Naismith estimated time (minutes)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notes and hazards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contact details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route for each leg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forecast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94960" y="1005840"/>
            <a:ext cx="33832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3B599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94960" y="1005840"/>
            <a:ext cx="3383280" cy="347472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0" y="10424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0" y="1408176"/>
            <a:ext cx="3200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legs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4-figure grid refs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distance &amp; time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94960" y="2468880"/>
            <a:ext cx="33832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94960" y="2468880"/>
            <a:ext cx="338328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0" y="25054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0" y="2871216"/>
            <a:ext cx="3200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legs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6-figure grid refs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Naismith timings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394960" y="3749040"/>
            <a:ext cx="33832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A95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94960" y="3749040"/>
            <a:ext cx="3383280" cy="34747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0" y="3785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0" y="4151376"/>
            <a:ext cx="3200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legs, 6-figure refs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Naismith working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justification + escape routes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0" y="4846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PS9 — Map Reading and Navigation Skills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773168"/>
            <a:ext cx="50292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A — Identifying and managing hazards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91440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= Likelihood (1–5)  ×  Severity (1–5)   |   Low: 1–6  ·  Medium: 7–12  ·  High: 13–25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600200"/>
            <a:ext cx="1975104" cy="347472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0624" y="1600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23160" y="1600200"/>
            <a:ext cx="1243584" cy="347472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78024" y="1600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49040" y="1600200"/>
            <a:ext cx="1243584" cy="347472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03904" y="1600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74920" y="1600200"/>
            <a:ext cx="1152144" cy="347472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9784" y="1600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309360" y="1600200"/>
            <a:ext cx="2798064" cy="347472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64224" y="1600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Measures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1993392"/>
            <a:ext cx="1975104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0624" y="202996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Slippery path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423160" y="1993392"/>
            <a:ext cx="1243584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478024" y="2029968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749040" y="1993392"/>
            <a:ext cx="1243584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03904" y="2029968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074920" y="1993392"/>
            <a:ext cx="1152144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29784" y="2029968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309360" y="1993392"/>
            <a:ext cx="2798064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64224" y="2029968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footwear, slow pace, stick/pole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65760" y="2651760"/>
            <a:ext cx="1975104" cy="621792"/>
          </a:xfrm>
          <a:prstGeom prst="rect">
            <a:avLst/>
          </a:prstGeom>
          <a:solidFill>
            <a:srgbClr val="E8EDF5"/>
          </a:solidFill>
          <a:ln w="3810">
            <a:solidFill>
              <a:srgbClr val="DDE3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0624" y="2688336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weather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423160" y="2651760"/>
            <a:ext cx="1243584" cy="621792"/>
          </a:xfrm>
          <a:prstGeom prst="rect">
            <a:avLst/>
          </a:prstGeom>
          <a:solidFill>
            <a:srgbClr val="E8EDF5"/>
          </a:solidFill>
          <a:ln w="3810">
            <a:solidFill>
              <a:srgbClr val="DDE3E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478024" y="2688336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749040" y="2651760"/>
            <a:ext cx="1243584" cy="621792"/>
          </a:xfrm>
          <a:prstGeom prst="rect">
            <a:avLst/>
          </a:prstGeom>
          <a:solidFill>
            <a:srgbClr val="E8EDF5"/>
          </a:solidFill>
          <a:ln w="3810">
            <a:solidFill>
              <a:srgbClr val="DDE3E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803904" y="2688336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074920" y="2651760"/>
            <a:ext cx="1152144" cy="621792"/>
          </a:xfrm>
          <a:prstGeom prst="rect">
            <a:avLst/>
          </a:prstGeom>
          <a:solidFill>
            <a:srgbClr val="E8EDF5"/>
          </a:solidFill>
          <a:ln w="3810">
            <a:solidFill>
              <a:srgbClr val="DDE3E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29784" y="2688336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309360" y="2651760"/>
            <a:ext cx="2798064" cy="621792"/>
          </a:xfrm>
          <a:prstGeom prst="rect">
            <a:avLst/>
          </a:prstGeom>
          <a:solidFill>
            <a:srgbClr val="E8EDF5"/>
          </a:solidFill>
          <a:ln w="3810">
            <a:solidFill>
              <a:srgbClr val="DDE3E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64224" y="2688336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forecast, carry waterproofs, escape route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65760" y="3310128"/>
            <a:ext cx="1975104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20624" y="334670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/ blister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423160" y="3310128"/>
            <a:ext cx="1243584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478024" y="3346704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3749040" y="3310128"/>
            <a:ext cx="1243584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803904" y="3346704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074920" y="3310128"/>
            <a:ext cx="1152144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129784" y="3346704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309360" y="3310128"/>
            <a:ext cx="2798064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364224" y="3346704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 kit, correct kit, break-in boots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365760" y="3968496"/>
            <a:ext cx="1975104" cy="621792"/>
          </a:xfrm>
          <a:prstGeom prst="rect">
            <a:avLst/>
          </a:prstGeom>
          <a:solidFill>
            <a:srgbClr val="E8EDF5"/>
          </a:solidFill>
          <a:ln w="3810">
            <a:solidFill>
              <a:srgbClr val="DDE3E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20624" y="4005072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lost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2423160" y="3968496"/>
            <a:ext cx="1243584" cy="621792"/>
          </a:xfrm>
          <a:prstGeom prst="rect">
            <a:avLst/>
          </a:prstGeom>
          <a:solidFill>
            <a:srgbClr val="E8EDF5"/>
          </a:solidFill>
          <a:ln w="3810">
            <a:solidFill>
              <a:srgbClr val="DDE3E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478024" y="4005072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3749040" y="3968496"/>
            <a:ext cx="1243584" cy="621792"/>
          </a:xfrm>
          <a:prstGeom prst="rect">
            <a:avLst/>
          </a:prstGeom>
          <a:solidFill>
            <a:srgbClr val="E8EDF5"/>
          </a:solidFill>
          <a:ln w="3810">
            <a:solidFill>
              <a:srgbClr val="DDE3ED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803904" y="4005072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5074920" y="3968496"/>
            <a:ext cx="1152144" cy="621792"/>
          </a:xfrm>
          <a:prstGeom prst="rect">
            <a:avLst/>
          </a:prstGeom>
          <a:solidFill>
            <a:srgbClr val="E8EDF5"/>
          </a:solidFill>
          <a:ln w="3810">
            <a:solidFill>
              <a:srgbClr val="DDE3E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129784" y="4005072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6309360" y="3968496"/>
            <a:ext cx="2798064" cy="621792"/>
          </a:xfrm>
          <a:prstGeom prst="rect">
            <a:avLst/>
          </a:prstGeom>
          <a:solidFill>
            <a:srgbClr val="E8EDF5"/>
          </a:solidFill>
          <a:ln w="3810">
            <a:solidFill>
              <a:srgbClr val="DDE3ED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364224" y="4005072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group, carry map, buddy system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0" y="4846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PS9 — Map Reading and Navigation Skills</a:t>
            </a:r>
            <a:endParaRPr lang="en-US" sz="900" dirty="0"/>
          </a:p>
        </p:txBody>
      </p:sp>
      <p:pic>
        <p:nvPicPr>
          <p:cNvPr id="5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773168"/>
            <a:ext cx="50292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and the Countryside Code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A — Being prepared and responsible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91440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05840"/>
            <a:ext cx="42976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05840"/>
            <a:ext cx="4297680" cy="384048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10332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Kit — Day Walk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463040"/>
            <a:ext cx="4023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Map (1:25,000 Explorer)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Waterproof jacket and trousers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boots with ankle support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(minimum 2 litres)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and snacks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 kit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charged mobile phone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Whistle and torch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card and pencil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1005840"/>
            <a:ext cx="39319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005840"/>
            <a:ext cx="393192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56048" y="10332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Countryside Code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83480" y="1463040"/>
            <a:ext cx="3657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no trace — take all litter home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all gates behind you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dogs under control and on leads near livestock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on marked footpaths where required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wildlife, farmland and other walkers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rights — Right to Roam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0" y="4846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PS9 — Map Reading and Navigation Skills</a:t>
            </a:r>
            <a:endParaRPr lang="en-US" sz="9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773168"/>
            <a:ext cx="50292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a Route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Orienting a map · Tracking progress · Attack points · Handrail features · STOP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4864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Techniques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B — B.P2 · B.M2 · B.D2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91440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24128"/>
            <a:ext cx="4023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24128"/>
            <a:ext cx="54864" cy="1234440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776" y="1088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Orient the Map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3776" y="1408176"/>
            <a:ext cx="3822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map until features on it align with features on the ground. Use a compass to set north. Always navigate with an oriented map.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24128"/>
            <a:ext cx="4023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24128"/>
            <a:ext cx="54864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82896" y="1088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Track Your Progress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82896" y="1408176"/>
            <a:ext cx="3822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off landmarks as you pass them. Use Naismith timing to estimate how far you have walked. Confirm position with a grid reference.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2350008"/>
            <a:ext cx="4023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2350008"/>
            <a:ext cx="54864" cy="123444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" y="24140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Attack Points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3776" y="2734056"/>
            <a:ext cx="3822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a clearly identifiable feature close to your target, then take a precise bearing to reach the exact spot.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2350008"/>
            <a:ext cx="4023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2350008"/>
            <a:ext cx="54864" cy="1234440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82896" y="24140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Handrail Features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82896" y="2734056"/>
            <a:ext cx="3822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 linear feature — wall, stream, track, fence — as a natural guide. Reduces reliance on constant compass use.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675888"/>
            <a:ext cx="4023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5760" y="3675888"/>
            <a:ext cx="54864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3776" y="3739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Pacing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93776" y="4059936"/>
            <a:ext cx="3822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double-steps to measure distance. Approximately 65 double-paces = 100 m for most adults on flat ground.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54880" y="3675888"/>
            <a:ext cx="4023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54880" y="3675888"/>
            <a:ext cx="54864" cy="123444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82896" y="3739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Tick Features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882896" y="4059936"/>
            <a:ext cx="3822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features along your route that you expect to pass. Tick them off as you go to confirm you are on course.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0" y="4846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PS9 — Map Reading and Navigation Skills</a:t>
            </a:r>
            <a:endParaRPr lang="en-US" sz="9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773168"/>
            <a:ext cx="50292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STOP Method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if you think your group is lost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91440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24128"/>
            <a:ext cx="640080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024128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1078992" y="1024128"/>
            <a:ext cx="7726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78992" y="1024128"/>
            <a:ext cx="45720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88720" y="1069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1371600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continue walking. If you keep moving you may get further from where you need to be. Keep the group together and calm.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2029968"/>
            <a:ext cx="64008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029968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3600" dirty="0"/>
          </a:p>
        </p:txBody>
      </p:sp>
      <p:sp>
        <p:nvSpPr>
          <p:cNvPr id="14" name="Shape 11"/>
          <p:cNvSpPr/>
          <p:nvPr/>
        </p:nvSpPr>
        <p:spPr>
          <a:xfrm>
            <a:off x="1078992" y="2029968"/>
            <a:ext cx="7726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078992" y="2029968"/>
            <a:ext cx="4572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075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88720" y="2377440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did you last know exactly where you were? How long have you been walking since then? Which direction were you heading?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3035808"/>
            <a:ext cx="640080" cy="868680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3035808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3600" dirty="0"/>
          </a:p>
        </p:txBody>
      </p:sp>
      <p:sp>
        <p:nvSpPr>
          <p:cNvPr id="20" name="Shape 17"/>
          <p:cNvSpPr/>
          <p:nvPr/>
        </p:nvSpPr>
        <p:spPr>
          <a:xfrm>
            <a:off x="1078992" y="3035808"/>
            <a:ext cx="7726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078992" y="3035808"/>
            <a:ext cx="45720" cy="868680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88720" y="3081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88720" y="3383280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around for features — hills, valleys, streams, buildings, roads — that you can match to your map. What can you see?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5760" y="4041648"/>
            <a:ext cx="64008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4041648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3600" dirty="0"/>
          </a:p>
        </p:txBody>
      </p:sp>
      <p:sp>
        <p:nvSpPr>
          <p:cNvPr id="26" name="Shape 23"/>
          <p:cNvSpPr/>
          <p:nvPr/>
        </p:nvSpPr>
        <p:spPr>
          <a:xfrm>
            <a:off x="1078992" y="4041648"/>
            <a:ext cx="7726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078992" y="4041648"/>
            <a:ext cx="4572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88720" y="4087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188720" y="4389120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what you have observed to identify your position on the map. Agree a plan before moving. Consider whether to continue or use an escape route.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0" y="4846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PS9 — Map Reading and Navigation Skills</a:t>
            </a:r>
            <a:endParaRPr lang="en-US" sz="9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773168"/>
            <a:ext cx="50292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Task A — Plan a Route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A  |  Open your digital workbook and go to Task A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91440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your Digimap OS map extract, plan a route of at least 5 km with a minimum of 4 legs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600200"/>
            <a:ext cx="502920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600200"/>
            <a:ext cx="54864" cy="3246120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" y="16733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route card must include: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93776" y="1984248"/>
            <a:ext cx="4846320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number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grid reference — six-figure for M/D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grid reference — six-figure for M/D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for each leg (km)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gain for each leg (m)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Naismith estimated time (minutes)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and navigation notes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577840" y="1600200"/>
            <a:ext cx="301752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3B599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1600200"/>
            <a:ext cx="3017520" cy="274320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0" y="16184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577840" y="2606040"/>
            <a:ext cx="301752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2606040"/>
            <a:ext cx="30175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0" y="26243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577840" y="3611880"/>
            <a:ext cx="301752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C8A95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577840" y="3611880"/>
            <a:ext cx="3017520" cy="27432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0" y="36301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69280" y="190195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4-figure refs, basic plan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669280" y="29077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6-figure refs, Naismith timings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669280" y="39136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Justified choices + escape routes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0" y="4846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PS9 — Map Reading and Navigation Skills</a:t>
            </a:r>
            <a:endParaRPr lang="en-US" sz="9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773168"/>
            <a:ext cx="50292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Task B — Navigate a Route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B  |  On the day — log your navigation as you go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91440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your planned route using your OS map and route card. Record times, landmarks and any deviations.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600200"/>
            <a:ext cx="5029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600200"/>
            <a:ext cx="54864" cy="1554480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" y="16733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walk — log each leg: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93776" y="1984248"/>
            <a:ext cx="4846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started and time finished each leg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 and tick features passed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deviations and how you corrected them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3273552"/>
            <a:ext cx="502920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3273552"/>
            <a:ext cx="54864" cy="15727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3776" y="33467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to collect: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93776" y="3657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Photographs at checkpoints / navigation features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recording your decisions out loud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GPX file from your phone or GPS watch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577840" y="1600200"/>
            <a:ext cx="32004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599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77840" y="1600200"/>
            <a:ext cx="3200400" cy="292608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0" y="162763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— B.P2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69280" y="194767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with some assistance. Complete most of the route correctly.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577840" y="2834640"/>
            <a:ext cx="32004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577840" y="2834640"/>
            <a:ext cx="320040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0" y="286207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 — B.M2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69280" y="318211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effectively and generally on time. Clear evidence.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577840" y="4069080"/>
            <a:ext cx="32004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A95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577840" y="4069080"/>
            <a:ext cx="3200400" cy="29260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0" y="409651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Distinction — B.D2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669280" y="441655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Independent, accurate navigation. Self-correct deviations. Strong evidence.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0" y="4846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PS9 — Map Reading and Navigation Skills</a:t>
            </a:r>
            <a:endParaRPr lang="en-US" sz="9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773168"/>
            <a:ext cx="50292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822960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280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24128" y="1911096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digital workbook — PS9NavigationDigital.html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386584"/>
            <a:ext cx="384048" cy="38404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386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24128" y="242316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knowledge sections (Maps, Scale, Grid Refs, Contours, Naismith)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898648"/>
            <a:ext cx="384048" cy="38404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898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24128" y="2935224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your route in Task A — upload your Digimap OS map extract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3410712"/>
            <a:ext cx="384048" cy="38404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3410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24128" y="3447288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your route and complete the navigation log in Task B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3922776"/>
            <a:ext cx="384048" cy="38404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3922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24128" y="395935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photo, audio and GPX evidence in the Evidence section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4434840"/>
            <a:ext cx="384048" cy="38404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4434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24128" y="4471416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Checklist and Declaration before handing 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PS9 — Map Reading and Navigation Skills</dc:title>
  <dc:subject>PptxGenJS Presentation</dc:subject>
  <dc:creator>Jonathan Jones</dc:creator>
  <cp:lastModifiedBy>Jonathan Jones</cp:lastModifiedBy>
  <cp:revision>1</cp:revision>
  <dcterms:created xsi:type="dcterms:W3CDTF">2026-04-26T17:02:01Z</dcterms:created>
  <dcterms:modified xsi:type="dcterms:W3CDTF">2026-04-26T17:02:01Z</dcterms:modified>
</cp:coreProperties>
</file>