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F4A56"/>
                </a:solidFill>
              </a:defRPr>
            </a:pPr>
            <a:r>
              <a:t>Understanding Stress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Agored Cymru Level 2 Certificate/Extended Certificate in Personal and Social Education</a:t>
            </a:r>
          </a:p>
          <a:p>
            <a:r>
              <a:t>Unit Code: HB32CY014  •  Level Two  •  1 Credit  •  9 GLH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Unit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LO1: Understand what is meant by stress</a:t>
            </a:r>
          </a:p>
          <a:p>
            <a:pPr>
              <a:defRPr sz="2000"/>
            </a:pPr>
            <a:r>
              <a:t>LO2: Understand the causes of stress</a:t>
            </a:r>
          </a:p>
          <a:p>
            <a:pPr>
              <a:defRPr sz="2000"/>
            </a:pPr>
            <a:r>
              <a:t>LO3: Understand the personal effects of stress</a:t>
            </a:r>
          </a:p>
          <a:p>
            <a:pPr>
              <a:defRPr sz="2000"/>
            </a:pPr>
            <a:r>
              <a:t>LO4: Understand how to manage stress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LO1: Understand what is meant by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1.1: Define stress.</a:t>
            </a:r>
          </a:p>
          <a:p>
            <a:pPr>
              <a:defRPr sz="2000"/>
            </a:pPr>
            <a:r>
              <a:t>AC 1.2: Describe the biological aspects of stress.</a:t>
            </a:r>
          </a:p>
          <a:p>
            <a:pPr lvl="1">
              <a:defRPr sz="1600"/>
            </a:pPr>
            <a:r>
              <a:t>Give at least three biological aspects.</a:t>
            </a:r>
          </a:p>
          <a:p>
            <a:pPr>
              <a:defRPr sz="2000"/>
            </a:pPr>
            <a:r>
              <a:t>AC 1.3: Give examples of positive and negative stress.</a:t>
            </a:r>
          </a:p>
          <a:p>
            <a:pPr lvl="1">
              <a:defRPr sz="1600"/>
            </a:pPr>
            <a:r>
              <a:t>Positive</a:t>
            </a:r>
          </a:p>
          <a:p>
            <a:pPr lvl="1">
              <a:defRPr sz="1600"/>
            </a:pPr>
            <a:r>
              <a:t>Negative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LO2: Understand the causes of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2.1: Describe causes of stress (at least four).</a:t>
            </a:r>
          </a:p>
          <a:p>
            <a:pPr lvl="1">
              <a:defRPr sz="1600"/>
            </a:pPr>
            <a:r>
              <a:t>At least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LO3: Understand the personal effects of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3.1: Describe situations that caused you personal stress (at least three). Only share what you're comfortable with.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3.2: Assess your personal feelings during a stressful situation.</a:t>
            </a:r>
          </a:p>
          <a:p>
            <a:pPr>
              <a:defRPr sz="2000"/>
            </a:pPr>
            <a:r>
              <a:t>AC 3.3: Assess how your personal behaviour was changed by a stressful situation.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LO4: Understand how to manage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4.1: Describe ways of reducing personal stress (at least four).</a:t>
            </a:r>
          </a:p>
          <a:p>
            <a:pPr lvl="1">
              <a:defRPr sz="1600"/>
            </a:pPr>
            <a:r>
              <a:t>At least 4</a:t>
            </a:r>
          </a:p>
          <a:p>
            <a:pPr>
              <a:defRPr sz="2000"/>
            </a:pPr>
            <a:r>
              <a:t>AC 4.2: Describe individuals and services that can support someone to reduce stress.</a:t>
            </a:r>
          </a:p>
          <a:p>
            <a:pPr lvl="1">
              <a:defRPr sz="1600"/>
            </a:pPr>
            <a:r>
              <a:t>Individuals</a:t>
            </a:r>
          </a:p>
          <a:p>
            <a:pPr lvl="1">
              <a:defRPr sz="1600"/>
            </a:pPr>
            <a:r>
              <a:t>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Stress: The body's response to pressure or demands, which can be physical or emotional.</a:t>
            </a:r>
          </a:p>
          <a:p>
            <a:pPr>
              <a:defRPr sz="2000"/>
            </a:pPr>
            <a:r>
              <a:t>Cortisol: A hormone released during stress that affects energy, alertness, and the body's stress response.</a:t>
            </a:r>
          </a:p>
          <a:p>
            <a:pPr>
              <a:defRPr sz="2000"/>
            </a:pPr>
            <a:r>
              <a:t>Adrenaline: A hormone released during stress that increases heart rate and prepares the body for action.</a:t>
            </a:r>
          </a:p>
          <a:p>
            <a:pPr>
              <a:defRPr sz="2000"/>
            </a:pPr>
            <a:r>
              <a:t>Fight-or-flight: The body's automatic response to a perceived threat, preparing to either confront it or escape it.</a:t>
            </a:r>
          </a:p>
          <a:p>
            <a:pPr>
              <a:defRPr sz="2000"/>
            </a:pPr>
            <a:r>
              <a:t>Coping strategy: A technique or action used to manage a difficult emotion or situation.</a:t>
            </a:r>
          </a:p>
          <a:p>
            <a:pPr>
              <a:defRPr sz="2000"/>
            </a:pPr>
            <a:r>
              <a:t>Resilience: The ability to recover from or adapt well to stress and difficulty.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Trigger: An event, situation or thought that causes a stress response.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 through each Learning Outcome in your workbook.</a:t>
            </a:r>
          </a:p>
          <a:p>
            <a:pPr>
              <a:defRPr sz="2000"/>
            </a:pPr>
            <a:r>
              <a:t>Ask your tutor if you're stuck on a question.</a:t>
            </a:r>
          </a:p>
          <a:p>
            <a:pPr>
              <a:defRPr sz="2000"/>
            </a:pPr>
            <a:r>
              <a:t>Complete the Evidence and Declaration sections when finished.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