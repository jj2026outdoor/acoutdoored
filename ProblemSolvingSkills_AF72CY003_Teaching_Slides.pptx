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A56"/>
                </a:solidFill>
              </a:defRPr>
            </a:pPr>
            <a:r>
              <a:t>Problem-Solving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Agored Cymru Level 2 Certificate/Extended Certificate in Personal and Social Education</a:t>
            </a:r>
          </a:p>
          <a:p>
            <a:r>
              <a:t>Unit Code: AF72CY003  •  Level Two  •  1 Credit  •  9 GLH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LO1: Understand what is meant by problem-solving</a:t>
            </a:r>
          </a:p>
          <a:p>
            <a:pPr>
              <a:defRPr sz="2000"/>
            </a:pPr>
            <a:r>
              <a:t>LO2: Understand problem-solving techniques</a:t>
            </a:r>
          </a:p>
          <a:p>
            <a:pPr>
              <a:defRPr sz="2000"/>
            </a:pPr>
            <a:r>
              <a:t>LO3: Be able to use problem-solving techniques to reach a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LO1: Understand what is meant by problem-solving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1.1: Describe what is meant by “problem-solving”.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LO2: Understand problem-solving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2.1: Describe a range of characteristics of difficult problems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2.2: Describe a range of problem-solving techniques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2.3: Describe potential barriers to problem-solving (at least three).</a:t>
            </a:r>
          </a:p>
          <a:p>
            <a:pPr lvl="1">
              <a:defRPr sz="1600"/>
            </a:pPr>
            <a:r>
              <a:t>At least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LO3: Be able to use problem-solving techniques to reach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3.1: Use a problem-solving technique to solve a problem. Describe the problem, the technique you used, and the outcome.</a:t>
            </a:r>
          </a:p>
          <a:p>
            <a:pPr>
              <a:defRPr sz="2000"/>
            </a:pPr>
            <a:r>
              <a:t>AC 3.2: Reflect on the problem-solving process — your strengths and areas for improvement (at least three of each).</a:t>
            </a:r>
          </a:p>
          <a:p>
            <a:pPr lvl="1">
              <a:defRPr sz="1600"/>
            </a:pPr>
            <a:r>
              <a:t>Strengths</a:t>
            </a:r>
          </a:p>
          <a:p>
            <a:pPr lvl="1">
              <a:defRPr sz="1600"/>
            </a:pPr>
            <a:r>
              <a:t>Areas for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Problem-solving: The process of finding a solution to a difficulty or challenge.</a:t>
            </a:r>
          </a:p>
          <a:p>
            <a:pPr>
              <a:defRPr sz="2000"/>
            </a:pPr>
            <a:r>
              <a:t>Root cause: The underlying reason a problem exists, rather than just its symptoms.</a:t>
            </a:r>
          </a:p>
          <a:p>
            <a:pPr>
              <a:defRPr sz="2000"/>
            </a:pPr>
            <a:r>
              <a:t>Brainstorming: Generating as many possible ideas or solutions as you can, without judging them straight away.</a:t>
            </a:r>
          </a:p>
          <a:p>
            <a:pPr>
              <a:defRPr sz="2000"/>
            </a:pPr>
            <a:r>
              <a:t>Trial and error: Trying different solutions until one works.</a:t>
            </a:r>
          </a:p>
          <a:p>
            <a:pPr>
              <a:defRPr sz="2000"/>
            </a:pPr>
            <a:r>
              <a:t>Barrier: Something that gets in the way of solving a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 through each Learning Outcome in your workbook.</a:t>
            </a:r>
          </a:p>
          <a:p>
            <a:pPr>
              <a:defRPr sz="2000"/>
            </a:pPr>
            <a:r>
              <a:t>Ask your tutor if you're stuck on a question.</a:t>
            </a:r>
          </a:p>
          <a:p>
            <a:pPr>
              <a:defRPr sz="2000"/>
            </a:pPr>
            <a:r>
              <a:t>Complete the Evidence and Declaration sections when finished.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