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1371600" cy="960120"/>
          </a:xfrm>
          <a:prstGeom prst="rect">
            <a:avLst/>
          </a:prstGeom>
        </p:spPr>
      </p:pic>
      <p:pic>
        <p:nvPicPr>
          <p:cNvPr id="3" name="Image 1" descr="/home/claude/assets/Agored_Reversed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65960"/>
            <a:ext cx="274320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Skills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Agored Cymru Level 2 PSE  •  HB61CY011  •  Level One  •  1 Credit  •  9 GLH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Brynllywarch Hall School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up without shouting or shrinking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sits between two extremes — aggressive and passive. This unit is about finding that middle ground and using it confidently.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8F1F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7373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0" y="17373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assertiveness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926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8F1F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9260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0" y="29260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assertiveness techniques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Skills  •  HB61CY011  •  Level One</a:t>
            </a:r>
            <a:endParaRPr lang="en-US" sz="900" dirty="0"/>
          </a:p>
        </p:txBody>
      </p:sp>
      <p:pic>
        <p:nvPicPr>
          <p:cNvPr id="12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3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respond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Shouting, blaming, threatening — gets a reaction, but damages the relationship.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0" y="29718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calm, respectful — says what you need without attacking anyone.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891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438912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quiet, avoiding the issue — feelings build up unspoken.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Skills  •  HB61CY011  •  Level One</a:t>
            </a:r>
            <a:endParaRPr lang="en-US" sz="900" dirty="0"/>
          </a:p>
        </p:txBody>
      </p:sp>
      <p:pic>
        <p:nvPicPr>
          <p:cNvPr id="14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5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Style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(or read) a set of example statements someone might say when they're upset about something.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one, decide as a class whether it's aggressive, assertive, or passive.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what specific words or tone gave it away?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style would you find easiest to respond well to, if someone said it to you?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Skills  •  HB61CY011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‘I’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simplest assertiveness techniques: say how you feel, not what's wrong with the other person.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2F2E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never listen to me!”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E8F1F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8346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feel unheard when I'm talking and get interrupted.”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Skills  •  HB61CY011  •  Level One</a:t>
            </a:r>
            <a:endParaRPr lang="en-US" sz="900" dirty="0"/>
          </a:p>
        </p:txBody>
      </p:sp>
      <p:pic>
        <p:nvPicPr>
          <p:cNvPr id="12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3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into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is a skill — it gets easier the more you use it. Think about situations where it could help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a teacher for help when you're stuck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3774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3774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Telling a friend you don't want to do something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290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up when you're treated unfairly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342900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4290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no to pressure from others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Skills  •  HB61CY011  •  Level One</a:t>
            </a:r>
            <a:endParaRPr lang="en-US" sz="900" dirty="0"/>
          </a:p>
        </p:txBody>
      </p:sp>
      <p:pic>
        <p:nvPicPr>
          <p:cNvPr id="14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5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It Assertively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read a passive or aggressive statement from your handout.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it as an assertive ‘I’ statement.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swap and check each other's rewrite — does it stay calm and clear?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best rewrite to share with the class.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Skills  •  HB61CY011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737360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Aggressive, assertive and passive behaviour, and assertiveness techniques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926080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techniques and spotting situations where they help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Assertiveness Skills  •  HB61CY011  •  Level One</a:t>
            </a:r>
            <a:endParaRPr lang="en-US" sz="900" dirty="0"/>
          </a:p>
        </p:txBody>
      </p:sp>
      <p:pic>
        <p:nvPicPr>
          <p:cNvPr id="11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2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workbook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AC 1.1, 1.2, 1.3, 1.4, 2.1 and 2.2 in your digital or printed workbook, then complete the Declaration page.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2026-08-21T22:30:30Z</dcterms:created>
  <dcterms:modified xsi:type="dcterms:W3CDTF">2026-08-21T22:30:30Z</dcterms:modified>
</cp:coreProperties>
</file>