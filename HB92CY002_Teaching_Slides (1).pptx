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5143500" cy="9144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schemas.openxmlformats.org/officeDocument/2006/relationships/slide" Target="slides/slide20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45530"/>
          </a:solidFill>
          <a:ln w="12700">
            <a:solidFill>
              <a:srgbClr val="1455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914400"/>
            <a:ext cx="3657600" cy="365760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D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AGORED CYMRU  |  LEVEL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6858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when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in the Outdoors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HB92CY002  |  CDN082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2011680" cy="457200"/>
          </a:xfrm>
          <a:prstGeom prst="rect">
            <a:avLst/>
          </a:prstGeom>
          <a:solidFill>
            <a:srgbClr val="1E7A44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931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 — Risks &amp; Hazards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3931920"/>
            <a:ext cx="2011680" cy="457200"/>
          </a:xfrm>
          <a:prstGeom prst="rect">
            <a:avLst/>
          </a:prstGeom>
          <a:solidFill>
            <a:srgbClr val="1E7A44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3931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 — Health &amp; Safety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931920"/>
            <a:ext cx="2011680" cy="457200"/>
          </a:xfrm>
          <a:prstGeom prst="rect">
            <a:avLst/>
          </a:prstGeom>
          <a:solidFill>
            <a:srgbClr val="1E7A44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3931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 — Emergencies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03720" y="3931920"/>
            <a:ext cx="2011680" cy="457200"/>
          </a:xfrm>
          <a:prstGeom prst="rect">
            <a:avLst/>
          </a:prstGeom>
          <a:solidFill>
            <a:srgbClr val="1E7A44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3931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LO4 — Equipment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4021"/>
          </a:solidFill>
          <a:ln w="12700">
            <a:solidFill>
              <a:srgbClr val="0D402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Agored Cymru  |  Sector 8.1  |  Outdoor Education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Overview — What We Will Learn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955280" y="91440"/>
            <a:ext cx="1005840" cy="457200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5530"/>
          </a:solidFill>
          <a:ln w="12700">
            <a:solidFill>
              <a:srgbClr val="1455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28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HB92CY002 | Agored Cymru Level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0" y="482803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when Learning in the Outdoors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unit, you will be able to: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1417320"/>
            <a:ext cx="4069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417320"/>
            <a:ext cx="685800" cy="14173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82880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508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Risks &amp; Hazards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19202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hazards, assess risks and judge how to manage them.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417320"/>
            <a:ext cx="4069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417320"/>
            <a:ext cx="685800" cy="1417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82880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0" y="1508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Safety Arrangements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0" y="19202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H&amp;S instructions and recognise safety signs outdoors.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017520"/>
            <a:ext cx="4069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017520"/>
            <a:ext cx="685800" cy="1417320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42900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" y="3108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&amp; Emergencies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35204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to do when an accident or emergency occurs.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017520"/>
            <a:ext cx="4069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017520"/>
            <a:ext cx="685800" cy="14173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342900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86400" y="3108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Clothing &amp; Equipment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0" y="35204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and correctly use the right kit for outdoor activities.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6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2377440" y="457200"/>
            <a:ext cx="54864" cy="4114800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606040" y="6400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7D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06040" y="1097280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Risks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Hazards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606040" y="283464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about managing risks and hazards when learning in the outdoors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06040" y="3657600"/>
            <a:ext cx="1280160" cy="320040"/>
          </a:xfrm>
          <a:prstGeom prst="rect">
            <a:avLst>
              <a:gd name="adj" fmla="val 14286"/>
            </a:avLst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36576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5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06040" y="402336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hazard and risk (AC 1.1)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hazards and risks in outdoor settings (AC 1.2)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control measures (AC 1.3)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personal judgements on risk management (AC 1.4)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Hazard? What is a Risk?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955280" y="91440"/>
            <a:ext cx="1005840" cy="457200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 | AC 1.1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5530"/>
          </a:solidFill>
          <a:ln w="12700">
            <a:solidFill>
              <a:srgbClr val="1455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28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HB92CY002 | Agored Cymru Level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0" y="482803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when Learning in the Outdoors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868680"/>
            <a:ext cx="4023360" cy="34747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868680"/>
            <a:ext cx="402336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24128"/>
            <a:ext cx="502920" cy="5029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97280" y="10241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02920" y="1645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with the POTENTIAL to cause harm.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02920" y="224028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slippery path on a hillside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or fast-moving water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 rock on a cliff face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cold or wet weather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Faulty or worn equipment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800600" y="868680"/>
            <a:ext cx="4023360" cy="34747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800600" y="868680"/>
            <a:ext cx="402336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024128"/>
            <a:ext cx="502920" cy="5029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577840" y="10241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4983480" y="1645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LIKELIHOOD and SEVERITY of harm occurring.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4983480" y="224028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likely is it that someone gets hurt?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serious would the injury be?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might be affected?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= Likelihood × Severity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can be LOW, MEDIUM, or HIGH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352544" y="2423160"/>
            <a:ext cx="429768" cy="274320"/>
          </a:xfrm>
          <a:prstGeom prst="rect">
            <a:avLst/>
          </a:prstGeom>
          <a:solidFill>
            <a:srgbClr val="6B7B6C"/>
          </a:solidFill>
          <a:ln w="12700">
            <a:solidFill>
              <a:srgbClr val="6B7B6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315968" y="2304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Hazard in Outdoor Learning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955280" y="91440"/>
            <a:ext cx="1005840" cy="457200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 | AC 1.2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5530"/>
          </a:solidFill>
          <a:ln w="12700">
            <a:solidFill>
              <a:srgbClr val="1455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28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HB92CY002 | Agored Cymru Level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0" y="482803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when Learning in the Outdoors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914400"/>
            <a:ext cx="4069080" cy="1737360"/>
          </a:xfrm>
          <a:prstGeom prst="rect">
            <a:avLst/>
          </a:prstGeom>
          <a:solidFill>
            <a:srgbClr val="E8F5EE"/>
          </a:solidFill>
          <a:ln w="12700">
            <a:solidFill>
              <a:srgbClr val="1A6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60120" y="10241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57200" y="150876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— wind, rain, cold, sun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— steep slopes, loose ground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features — rivers, lakes, tides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Wildlife — insects, plants, animals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09160" y="914400"/>
            <a:ext cx="4069080" cy="173736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5156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49240" y="10241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846320" y="150876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Faulty or damaged kit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PPE or wrong size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Misuse of tools or equipment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Poorly maintained gear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20040" y="2834640"/>
            <a:ext cx="4069080" cy="173736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7180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60120" y="29443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457200" y="342900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decision-making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experience or training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behaviour &amp; peer pressure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and overconfidence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09160" y="2834640"/>
            <a:ext cx="4069080" cy="173736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97180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49240" y="29443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Activity-Specific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4846320" y="342900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Heights and exposure (climbing)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water (kayaking/rafting)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(bushcraft)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in remote areas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5-Step Risk Assessment Process (HSE)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955280" y="91440"/>
            <a:ext cx="1005840" cy="457200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 | AC 1.2, 1.3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5530"/>
          </a:solidFill>
          <a:ln w="12700">
            <a:solidFill>
              <a:srgbClr val="1455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28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HB92CY002 | Agored Cymru Level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0" y="482803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when Learning in the Outdoors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005840"/>
            <a:ext cx="1508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005840"/>
            <a:ext cx="1508760" cy="6400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024128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93192" y="171907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hazards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3192" y="2395728"/>
            <a:ext cx="1371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area. What could cause harm? Think environmental, equipment, human and activity hazards.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37944" y="1261872"/>
            <a:ext cx="182880" cy="128016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39112" y="1005840"/>
            <a:ext cx="1508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39112" y="1005840"/>
            <a:ext cx="1508760" cy="6400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39112" y="1024128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112264" y="171907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might be harmed?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12264" y="2395728"/>
            <a:ext cx="1371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participants, staff, and public. Think about vulnerable individuals.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57016" y="1261872"/>
            <a:ext cx="182880" cy="128016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58184" y="1005840"/>
            <a:ext cx="1508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58184" y="1005840"/>
            <a:ext cx="1508760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1024128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831336" y="171907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risks &amp; controls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31336" y="2395728"/>
            <a:ext cx="1371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likely? How severe? What control measures reduce or remove the risk?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76088" y="1261872"/>
            <a:ext cx="182880" cy="128016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77256" y="1005840"/>
            <a:ext cx="1508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77256" y="1005840"/>
            <a:ext cx="1508760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77256" y="1024128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550408" y="171907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your findings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50408" y="2395728"/>
            <a:ext cx="1371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down. A risk assessment is only useful if it is documented and shared.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95160" y="1261872"/>
            <a:ext cx="182880" cy="128016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96328" y="1005840"/>
            <a:ext cx="1508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196328" y="1005840"/>
            <a:ext cx="1508760" cy="640080"/>
          </a:xfrm>
          <a:prstGeom prst="rect">
            <a:avLst/>
          </a:prstGeom>
          <a:solidFill>
            <a:srgbClr val="43A047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96328" y="1024128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7269480" y="171907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update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69480" y="2395728"/>
            <a:ext cx="1371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change. Review before every activity and update when anything changes.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0040" y="457200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This is a minimum requirement — outdoor risk assessment is also DYNAMIC!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Assessment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955280" y="91440"/>
            <a:ext cx="1005840" cy="457200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 | AC 1.2, 1.4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5530"/>
          </a:solidFill>
          <a:ln w="12700">
            <a:solidFill>
              <a:srgbClr val="1455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28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HB92CY002 | Agored Cymru Level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0" y="482803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when Learning in the Outdoors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82296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risk assessments are done BEFORE an activity — but risks change in the moment.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1371600"/>
            <a:ext cx="1645920" cy="164592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572768"/>
            <a:ext cx="640080" cy="640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9728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05840" y="3200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watch the environment, group, and conditions.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761488" y="2121408"/>
            <a:ext cx="228600" cy="146304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0" y="19933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3749040" y="1371600"/>
            <a:ext cx="1645920" cy="1645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572768"/>
            <a:ext cx="640080" cy="6400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4904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657600" y="3200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new or changed hazard? What is the level of risk?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413248" y="2121408"/>
            <a:ext cx="228600" cy="146304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394960" y="19933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6400800" y="1371600"/>
            <a:ext cx="1645920" cy="164592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572768"/>
            <a:ext cx="640080" cy="6400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40080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309360" y="3200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decision — adjust, stop, or continue with controls in place.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1097280" y="3429000"/>
            <a:ext cx="6949440" cy="54864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200400" y="3493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 Repeat continuously throughout the activity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320040" y="3886200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320040" y="3886200"/>
            <a:ext cx="8503920" cy="7315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57200" y="39959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for AC 1.4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457200" y="4389120"/>
            <a:ext cx="8229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personal judgement is your own view on how to manage a risk — based on your experience, observations, and knowledge. It is not just a list of facts.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6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2377440" y="457200"/>
            <a:ext cx="54864" cy="4114800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606040" y="6400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7D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06040" y="1097280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Safety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Arrangements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606040" y="283464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health and safety arrangements for learning in the outdoors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06040" y="3657600"/>
            <a:ext cx="1280160" cy="320040"/>
          </a:xfrm>
          <a:prstGeom prst="rect">
            <a:avLst>
              <a:gd name="adj" fmla="val 14286"/>
            </a:avLst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36576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5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06040" y="402336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H&amp;S instructions matter (AC 2.1)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safety signs and symbols outdoors (AC 2.2)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H&amp;S instructions for an outdoor activity (AC 2.3)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Health &amp; Safety Matter?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955280" y="91440"/>
            <a:ext cx="1005840" cy="457200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 | AC 2.1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5530"/>
          </a:solidFill>
          <a:ln w="12700">
            <a:solidFill>
              <a:srgbClr val="1455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28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HB92CY002 | Agored Cymru Level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0" y="482803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when Learning in the Outdoors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960120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69848" y="1097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Everyone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69848" y="1527048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H&amp;S instructions protect participants, instructors, and the public from harm.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09160" y="960120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4300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58968" y="1097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Requirement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458968" y="1527048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and Safety at Work Act 1974 requires employers to ensure safety. AALA licenses outdoor providers.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20040" y="2651760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3464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69848" y="2788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Accidents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069848" y="3218688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instructions reduces the likelihood that hazards turn into accidents.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709160" y="2651760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834640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58968" y="2788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Accountability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458968" y="3218688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H&amp;S means everyone knows their responsibilities and what to do.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Signs &amp; Symbols in the Outdoors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955280" y="91440"/>
            <a:ext cx="1005840" cy="457200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 | AC 2.2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5530"/>
          </a:solidFill>
          <a:ln w="12700">
            <a:solidFill>
              <a:srgbClr val="1455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28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HB92CY002 | Agored Cymru Level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0" y="482803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when Learning in the Outdoors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8046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be able to identify and explain at least FOUR types of safety sign: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20116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1371600"/>
            <a:ext cx="914400" cy="9144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20040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" y="278892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CIRCLE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background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symbol with red cross-bar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3566160"/>
            <a:ext cx="1874520" cy="54864"/>
          </a:xfrm>
          <a:prstGeom prst="rect">
            <a:avLst/>
          </a:prstGeom>
          <a:solidFill>
            <a:srgbClr val="D1E8D8"/>
          </a:solidFill>
          <a:ln w="12700">
            <a:solidFill>
              <a:srgbClr val="D1E8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639312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No Swimming, No Open Fires, No Diving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50592" y="1234440"/>
            <a:ext cx="20116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953512" y="1371600"/>
            <a:ext cx="10058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99232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2496312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23744" y="278892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TRIANGLE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border and symbol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background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23744" y="3566160"/>
            <a:ext cx="1874520" cy="54864"/>
          </a:xfrm>
          <a:prstGeom prst="rect">
            <a:avLst/>
          </a:prstGeom>
          <a:solidFill>
            <a:srgbClr val="D1E8D8"/>
          </a:solidFill>
          <a:ln w="12700">
            <a:solidFill>
              <a:srgbClr val="D1E8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3744" y="3639312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Steep Drop, Unstable Ground, Slippery Surface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26864" y="1234440"/>
            <a:ext cx="20116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175504" y="1371600"/>
            <a:ext cx="914400" cy="9144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75504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4672584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00016" y="278892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CIRCLE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symbol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background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0016" y="3566160"/>
            <a:ext cx="1874520" cy="54864"/>
          </a:xfrm>
          <a:prstGeom prst="rect">
            <a:avLst/>
          </a:prstGeom>
          <a:solidFill>
            <a:srgbClr val="D1E8D8"/>
          </a:solidFill>
          <a:ln w="12700">
            <a:solidFill>
              <a:srgbClr val="D1E8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0016" y="3639312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Wear a Life Jacket, Helmets Must Be Worn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03136" y="1234440"/>
            <a:ext cx="20116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06056" y="1371600"/>
            <a:ext cx="1005840" cy="91440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51776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6848856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Condition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76288" y="278892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RECTANGLE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symbol and text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background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876288" y="3566160"/>
            <a:ext cx="1874520" cy="54864"/>
          </a:xfrm>
          <a:prstGeom prst="rect">
            <a:avLst/>
          </a:prstGeom>
          <a:solidFill>
            <a:srgbClr val="D1E8D8"/>
          </a:solidFill>
          <a:ln w="12700">
            <a:solidFill>
              <a:srgbClr val="D1E8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76288" y="3639312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First Aid Point, Emergency Exit, Assembly Point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H&amp;S Instructions for an Outdoor Activity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955280" y="91440"/>
            <a:ext cx="1005840" cy="457200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 | AC 2.3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5530"/>
          </a:solidFill>
          <a:ln w="12700">
            <a:solidFill>
              <a:srgbClr val="1455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28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HB92CY002 | Agored Cymru Level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0" y="482803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when Learning in the Outdoors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8046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what happens BEFORE, DURING and AFTER any outdoor learning activity: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27889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234440"/>
            <a:ext cx="2788920" cy="5486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420624" cy="42062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68680" y="129844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84048" y="1874520"/>
            <a:ext cx="2578608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Pre-activity briefing from instructor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plan and weather check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and clothing check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procedures explained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and responsibilities assigned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conditions noted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18688" y="1234440"/>
            <a:ext cx="27889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18688" y="1234440"/>
            <a:ext cx="2788920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416" y="1298448"/>
            <a:ext cx="420624" cy="42062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813048" y="129844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3328416" y="1874520"/>
            <a:ext cx="2578608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instructor instructions at all times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within boundaries and exclusion zones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changing conditions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Buddy system — look out for each other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concerns to the instructor immediately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equipment only as instructed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163056" y="1234440"/>
            <a:ext cx="27889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163056" y="1234440"/>
            <a:ext cx="2788920" cy="5486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298448"/>
            <a:ext cx="420624" cy="42062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757416" y="129844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6272784" y="1874520"/>
            <a:ext cx="2578608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cleaned, checked, and returned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— what went well, any concerns?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any accidents or near misses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incident log if required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risk assessment for next time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6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2377440" y="457200"/>
            <a:ext cx="54864" cy="4114800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606040" y="6400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7D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06040" y="1097280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Emergencies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606040" y="283464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processes relating to accidents and emergencies when learning in the outdoors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06040" y="3657600"/>
            <a:ext cx="1280160" cy="320040"/>
          </a:xfrm>
          <a:prstGeom prst="rect">
            <a:avLst>
              <a:gd name="adj" fmla="val 14286"/>
            </a:avLst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36576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5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06040" y="402336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immediate actions when an accident occurs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how to summon help effectively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reporting requirements and what happens after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Response — The STOP Principle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955280" y="91440"/>
            <a:ext cx="1005840" cy="457200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 | AC 3.1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5530"/>
          </a:solidFill>
          <a:ln w="12700">
            <a:solidFill>
              <a:srgbClr val="1455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28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HB92CY002 | Agored Cymru Level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0" y="482803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when Learning in the Outdoors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8046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witness an accident or emergency, DO NOT rush in. Use STOP: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20116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234440"/>
            <a:ext cx="2011680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2344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347472" y="23317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" y="2788920"/>
            <a:ext cx="1874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what you are doing. Don't rush in. Make sure the scene is safe for YOU first — you cannot help others if you become a casualty too.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450592" y="1234440"/>
            <a:ext cx="20116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50592" y="1234440"/>
            <a:ext cx="2011680" cy="10058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50592" y="12344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2523744" y="23317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523744" y="2788920"/>
            <a:ext cx="1874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what has happened. What do you need? Who is involved? What hazards are still present? Gather information before acting.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26864" y="1234440"/>
            <a:ext cx="20116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26864" y="1234440"/>
            <a:ext cx="201168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26864" y="12344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5600" dirty="0"/>
          </a:p>
        </p:txBody>
      </p:sp>
      <p:sp>
        <p:nvSpPr>
          <p:cNvPr id="24" name="Text 22"/>
          <p:cNvSpPr/>
          <p:nvPr/>
        </p:nvSpPr>
        <p:spPr>
          <a:xfrm>
            <a:off x="4700016" y="23317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00016" y="2788920"/>
            <a:ext cx="1874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carefully at the casualty and the environment. Are there more casualties? Is the area safe? What is the person's condition?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03136" y="1234440"/>
            <a:ext cx="20116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03136" y="1234440"/>
            <a:ext cx="2011680" cy="10058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03136" y="12344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5600" dirty="0"/>
          </a:p>
        </p:txBody>
      </p:sp>
      <p:sp>
        <p:nvSpPr>
          <p:cNvPr id="29" name="Text 27"/>
          <p:cNvSpPr/>
          <p:nvPr/>
        </p:nvSpPr>
        <p:spPr>
          <a:xfrm>
            <a:off x="6876288" y="23317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76288" y="2788920"/>
            <a:ext cx="1874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on your course of action. Who calls for help? Who stays with the casualty? What first aid (if any) is needed? Then ACT.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Procedures &amp; Accident Reporting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955280" y="91440"/>
            <a:ext cx="1005840" cy="457200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 | AC 3.1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5530"/>
          </a:solidFill>
          <a:ln w="12700">
            <a:solidFill>
              <a:srgbClr val="1455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28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HB92CY002 | Agored Cymru Level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0" y="482803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when Learning in the Outdoors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68680"/>
            <a:ext cx="48920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868680"/>
            <a:ext cx="489204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914400"/>
            <a:ext cx="347472" cy="3474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04672" y="9144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Help — Calling 999 or 112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84048" y="1417320"/>
            <a:ext cx="310896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4048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86384" y="141732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999 (or 112)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86384" y="1609344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your emergency service needed: Police, Fire, or Ambulance.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84048" y="2039112"/>
            <a:ext cx="310896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4048" y="2039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86384" y="2039112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your location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86384" y="2231136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remote areas, give a 6-figure grid reference. Near roads, give address or landmarks.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84048" y="2660904"/>
            <a:ext cx="310896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84048" y="2660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86384" y="2660904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incident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86384" y="2852928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casualties, nature of injuries, age and condition of casualty.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84048" y="3282696"/>
            <a:ext cx="310896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84048" y="3282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86384" y="3282696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on the line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86384" y="347472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hang up until the operator tells you to.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84048" y="3904488"/>
            <a:ext cx="310896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84048" y="3904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86384" y="3904488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someone to meet help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86384" y="4096512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possible, send a second person to guide emergency services in.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349240" y="868680"/>
            <a:ext cx="3474720" cy="16916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5486400" y="960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Reporting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486400" y="13716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accidents must go in the incident log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RIDDOR — serious injuries must be reported to HSE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misses must also be recorded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349240" y="2697480"/>
            <a:ext cx="3474720" cy="1920240"/>
          </a:xfrm>
          <a:prstGeom prst="rect">
            <a:avLst/>
          </a:prstGeom>
          <a:solidFill>
            <a:srgbClr val="E8F5EE"/>
          </a:solidFill>
          <a:ln w="12700">
            <a:solidFill>
              <a:srgbClr val="1A6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5486400" y="2788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Emergency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5486400" y="320040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45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casualty warm, calm, and still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45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move unless further danger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45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group together — no one leaves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45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provide first aid if trained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6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LO4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2377440" y="457200"/>
            <a:ext cx="54864" cy="4114800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606040" y="6400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7D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06040" y="1097280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Clothing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Equipment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606040" y="283464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use safety clothing and equipment for a specific outdoor learning activity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06040" y="3657600"/>
            <a:ext cx="1280160" cy="320040"/>
          </a:xfrm>
          <a:prstGeom prst="rect">
            <a:avLst>
              <a:gd name="adj" fmla="val 14286"/>
            </a:avLst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36576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5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06040" y="402336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clothing and equipment for a specific activity (AC 4.1)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correct use of equipment (AC 4.2)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Layering System — Outdoor Clothing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955280" y="91440"/>
            <a:ext cx="1005840" cy="457200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LO4 | AC 4.1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5530"/>
          </a:solidFill>
          <a:ln w="12700">
            <a:solidFill>
              <a:srgbClr val="1455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28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HB92CY002 | Agored Cymru Level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0" y="482803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when Learning in the Outdoors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"Cotton kills" — never wear cotton as a base layer outdoors. It absorbs moisture and loses all insulating properties when wet.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1325880"/>
            <a:ext cx="2788920" cy="3291840"/>
          </a:xfrm>
          <a:prstGeom prst="rect">
            <a:avLst/>
          </a:prstGeom>
          <a:solidFill>
            <a:srgbClr val="E8F5EE"/>
          </a:solidFill>
          <a:ln w="12700">
            <a:solidFill>
              <a:srgbClr val="1A6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325880"/>
            <a:ext cx="2788920" cy="7772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3258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2960" y="13716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Layer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1737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to your skin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" y="21762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" y="2423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Wicks moisture (sweat) away from your skin to keep you dry and warm.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" y="29718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" y="32186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Merino wool, polyester, or synthetic materials — NEVER cotton.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" y="3721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" y="39502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top, moisture-wicking t-shirt, synthetic long johns.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18688" y="1325880"/>
            <a:ext cx="2788920" cy="329184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18688" y="1325880"/>
            <a:ext cx="278892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18688" y="13258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3767328" y="13716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Layer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767328" y="1737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28416" y="21762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28416" y="2423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Traps warm air close to the body to retain heat.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28416" y="29718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28416" y="32186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Fleece jackets, down or synthetic insulated gilets or jackets.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28416" y="3721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28416" y="39502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Fleece pullover, down jacket, insulated gilet.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63056" y="1325880"/>
            <a:ext cx="2788920" cy="3291840"/>
          </a:xfrm>
          <a:prstGeom prst="rect">
            <a:avLst/>
          </a:prstGeom>
          <a:solidFill>
            <a:srgbClr val="EDE7F6"/>
          </a:solidFill>
          <a:ln w="12700">
            <a:solidFill>
              <a:srgbClr val="4A14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63056" y="1325880"/>
            <a:ext cx="2788920" cy="77724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63056" y="13258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6711696" y="13716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Layer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711696" y="1737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/ Protection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72784" y="21762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72784" y="2423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you from wind, rain, and cold external conditions.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72784" y="29718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72784" y="32186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Waterproof and breathable fabrics such as Gore-Tex or similar.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72784" y="3721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72784" y="39502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Waterproof jacket (hardshell), waterproof trousers, wind shell.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Protective Equipment (PPE) for Outdoor Activities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955280" y="91440"/>
            <a:ext cx="1005840" cy="457200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LO4 | AC 4.1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5530"/>
          </a:solidFill>
          <a:ln w="12700">
            <a:solidFill>
              <a:srgbClr val="1455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28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HB92CY002 | Agored Cymru Level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0" y="482803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when Learning in the Outdoors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91440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97280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87552" y="1024128"/>
            <a:ext cx="1984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87552" y="1371600"/>
            <a:ext cx="1984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Climbing, abseiling, caving, cycling, white water kayaking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84048" y="1938528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fit correctly — neither too loose nor too tight.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18688" y="91440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416" y="109728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931920" y="1024128"/>
            <a:ext cx="1984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Buoyancy Aid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931920" y="1371600"/>
            <a:ext cx="1984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All water-based activities — kayaking, canoeing, rafting, sailing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328416" y="1938528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buoyancy aid assists swimming. A life jacket turns an unconscious person face-up.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163056" y="91440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09728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76288" y="1024128"/>
            <a:ext cx="1984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876288" y="1371600"/>
            <a:ext cx="1984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Rock climbing, abseiling, zip wire, high ropes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272784" y="1938528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professionally fitted and checked before every use.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274320" y="278892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971800"/>
            <a:ext cx="502920" cy="5029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87552" y="2898648"/>
            <a:ext cx="1984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987552" y="3246120"/>
            <a:ext cx="1984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All activities — choice depends on terrain and activity type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384048" y="3813048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Hiking boots for walking; water shoes for paddle sports; climbing shoes for technical climbing.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3218688" y="278892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8416" y="2971800"/>
            <a:ext cx="502920" cy="5029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931920" y="2898648"/>
            <a:ext cx="1984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3931920" y="3246120"/>
            <a:ext cx="1984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Cold conditions, rope work, handling sharp materials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3328416" y="3813048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hands from cold injury and friction burns.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163056" y="278892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2971800"/>
            <a:ext cx="502920" cy="5029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876288" y="2898648"/>
            <a:ext cx="1984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161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High-Vis Vest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6876288" y="3246120"/>
            <a:ext cx="1984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Road walks, low-light conditions, large groups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6272784" y="3813048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visibility to drivers and other users.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Equipment Correctly — AC 4.2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955280" y="91440"/>
            <a:ext cx="1005840" cy="457200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LO4 | AC 4.2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5530"/>
          </a:solidFill>
          <a:ln w="12700">
            <a:solidFill>
              <a:srgbClr val="1455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28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HB92CY002 | Agored Cymru Level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0" y="482803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when Learning in the Outdoors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8046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AC 4.2 you must describe HOW you used equipment according to instructions — not just what equipment you used.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32588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490472"/>
            <a:ext cx="502920" cy="5029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87552" y="14173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Pre-use check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87552" y="174650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equipment for damage, wear, or defects before you put it on. Never use damaged equipment.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09160" y="132588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1490472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22392" y="14173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the briefing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422392" y="174650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carefully to instructor guidance on how to fit, use and remove the equipment.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74320" y="2404872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569464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87552" y="249631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correctly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987552" y="282549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that does not fit properly provides little or no protection. Ask the instructor to check your fit.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709160" y="2404872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2569464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22392" y="249631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 instructed only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422392" y="282549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improvise or use equipment for purposes it is not designed for.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274320" y="3483864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648456"/>
            <a:ext cx="502920" cy="5029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87552" y="357530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problems immediately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987552" y="390448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equipment breaks, feels wrong, or you are unsure — stop and tell your instructor.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4709160" y="3483864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3648456"/>
            <a:ext cx="502920" cy="5029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22392" y="357530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return correctly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422392" y="390448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dry equipment before returning. Report anything that needs inspection or repair.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— Key Terms to Remember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955280" y="91440"/>
            <a:ext cx="1005840" cy="457200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5530"/>
          </a:solidFill>
          <a:ln w="12700">
            <a:solidFill>
              <a:srgbClr val="1455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28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HB92CY002 | Agored Cymru Level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0" y="482803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when Learning in the Outdoors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3794760"/>
        </p:xfrm>
        <a:graphic>
          <a:graphicData uri="http://schemas.openxmlformats.org/drawingml/2006/table">
            <a:tbl>
              <a:tblPr/>
              <a:tblGrid>
                <a:gridCol w="2743200"/>
                <a:gridCol w="5852160"/>
              </a:tblGrid>
              <a:tr h="3449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C"/>
                    </a:solidFill>
                  </a:tcPr>
                </a:tc>
              </a:tr>
              <a:tr h="3449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5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Hazard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Anything with the POTENTIAL to cause harm.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</a:tr>
              <a:tr h="3449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5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LIKELIHOOD and SEVERITY of harm occurring.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49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5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Measure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action that reduces or removes a risk.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</a:tr>
              <a:tr h="3449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5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Risk Assessment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Continuous, on-the-spot re-evaluation of risk during an activity.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49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5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Protective Equipment — clothing/kit worn to protect from harm.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</a:tr>
              <a:tr h="3449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5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Serious injuries must be reported to the HSE under this legislation.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49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5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Principle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→ Think → Observe → Plan. Use when responding to emergencies.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</a:tr>
              <a:tr h="3449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5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Layering 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(wicks) → Mid (insulates) → Outer (protects). Never cotton!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49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5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 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 circle — tells you something you MUST do.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</a:tr>
              <a:tr h="34497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5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Miss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event that could have caused harm but did not — must still be reported.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5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45530"/>
          </a:solidFill>
          <a:ln w="12700">
            <a:solidFill>
              <a:srgbClr val="1455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914400"/>
            <a:ext cx="3657600" cy="365760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open your digital workbook!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each Learning Outcome section — read the Knowledge Hub, then complete the activities and assessment tasks.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plural statement requires a minimum of TWO examples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1.2 requires a minimum of THREE hazards and THREE risks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Checklist at the end to review all your criteria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work using the 'Save File' button — take your file home!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069080"/>
            <a:ext cx="2926080" cy="502920"/>
          </a:xfrm>
          <a:prstGeom prst="rect">
            <a:avLst/>
          </a:prstGeom>
          <a:solidFill>
            <a:srgbClr val="97DEB5"/>
          </a:solidFill>
          <a:ln w="12700">
            <a:solidFill>
              <a:srgbClr val="97DE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069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5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HB92CY002  |  Agored Cymru Level 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4021"/>
          </a:solidFill>
          <a:ln w="12700">
            <a:solidFill>
              <a:srgbClr val="0D40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Safety when Learning in the Outdoors  |  Agored Cymru  |  Sector 8.1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