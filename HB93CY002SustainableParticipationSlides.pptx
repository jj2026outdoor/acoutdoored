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kg CO₂ per passenger-km</c:v>
                </c:pt>
              </c:strCache>
            </c:strRef>
          </c:tx>
          <c:spPr>
            <a:solidFill>
              <a:srgbClr val="991B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91B1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91B1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6B3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40A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65F4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65F4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Private car (petrol)</c:v>
                  </c:pt>
                  <c:pt idx="1">
                    <c:v>Private car (diesel)</c:v>
                  </c:pt>
                  <c:pt idx="2">
                    <c:v>Electric car</c:v>
                  </c:pt>
                  <c:pt idx="3">
                    <c:v>Minibus/coach</c:v>
                  </c:pt>
                  <c:pt idx="4">
                    <c:v>Train</c:v>
                  </c:pt>
                  <c:pt idx="5">
                    <c:v>Cycling</c:v>
                  </c:pt>
                  <c:pt idx="6">
                    <c:v>Walking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0.19</c:v>
                </c:pt>
                <c:pt idx="1">
                  <c:v>0.17</c:v>
                </c:pt>
                <c:pt idx="2">
                  <c:v>0.05</c:v>
                </c:pt>
                <c:pt idx="3">
                  <c:v>0.09</c:v>
                </c:pt>
                <c:pt idx="4">
                  <c:v>0.04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15-1.png"/><Relationship Id="rId2" Type="http://schemas.openxmlformats.org/officeDocument/2006/relationships/image" Target="../media/image-15-2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347472"/>
            <a:ext cx="2560320" cy="2377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3474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Agored Cymru Level 3  |  HB93CY002  |  3 Credits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8912" y="713232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Participation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Outdoor Activities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38912" y="260604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Resource  |  Jonathan Jones  |  Brynllywarch Outdoor Education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" y="3090672"/>
            <a:ext cx="1572768" cy="621792"/>
          </a:xfrm>
          <a:prstGeom prst="rect">
            <a:avLst/>
          </a:prstGeom>
          <a:solidFill>
            <a:srgbClr val="1A6B3C"/>
          </a:solidFill>
          <a:ln w="19050">
            <a:solidFill>
              <a:srgbClr val="C8A9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30906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33649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Eco-systems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3090672"/>
            <a:ext cx="1572768" cy="621792"/>
          </a:xfrm>
          <a:prstGeom prst="rect">
            <a:avLst/>
          </a:prstGeom>
          <a:solidFill>
            <a:srgbClr val="1A6B3C"/>
          </a:solidFill>
          <a:ln w="19050">
            <a:solidFill>
              <a:srgbClr val="C8A9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30906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33649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Env. Responsibility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67328" y="3090672"/>
            <a:ext cx="1572768" cy="621792"/>
          </a:xfrm>
          <a:prstGeom prst="rect">
            <a:avLst/>
          </a:prstGeom>
          <a:solidFill>
            <a:srgbClr val="1A6B3C"/>
          </a:solidFill>
          <a:ln w="19050">
            <a:solidFill>
              <a:srgbClr val="C8A9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67328" y="30906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67328" y="33649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Footprints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31536" y="3090672"/>
            <a:ext cx="1572768" cy="621792"/>
          </a:xfrm>
          <a:prstGeom prst="rect">
            <a:avLst/>
          </a:prstGeom>
          <a:solidFill>
            <a:srgbClr val="1A6B3C"/>
          </a:solidFill>
          <a:ln w="19050">
            <a:solidFill>
              <a:srgbClr val="C8A9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1536" y="30906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31536" y="33649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Awareness</a:t>
            </a:r>
            <a:endParaRPr lang="en-US" sz="9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3977640"/>
            <a:ext cx="841248" cy="585216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023360"/>
            <a:ext cx="914400" cy="512064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E18"/>
          </a:solidFill>
          <a:ln w="12700">
            <a:solidFill>
              <a:srgbClr val="0A2E1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Participation in Outdoor Activities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at a Glance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685800"/>
            <a:ext cx="8412480" cy="365760"/>
          </a:xfrm>
          <a:prstGeom prst="rect">
            <a:avLst/>
          </a:prstGeom>
          <a:solidFill>
            <a:srgbClr val="E8F5EE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75488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To demonstrate an enhanced understanding of eco-systems and the impact of outdoor activities on natural resources.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65760" y="1115568"/>
            <a:ext cx="2029968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1115568"/>
            <a:ext cx="2029968" cy="502920"/>
          </a:xfrm>
          <a:prstGeom prst="rect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5760" y="1115568"/>
            <a:ext cx="493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1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77824" y="111556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Eco-systems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1664208"/>
            <a:ext cx="1865376" cy="26517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Describe eco-systems (min. 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Identify species (min. 2 each)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Explain species adaptations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 Invasive species — impacts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 Minimising spread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487168" y="1115568"/>
            <a:ext cx="2029968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487168" y="1115568"/>
            <a:ext cx="2029968" cy="502920"/>
          </a:xfrm>
          <a:prstGeom prst="rect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487168" y="1115568"/>
            <a:ext cx="493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2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999232" y="111556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Responsibility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578608" y="1664208"/>
            <a:ext cx="1865376" cy="26517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Summarise environmental responsibility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Biodiversity impacts (min. 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Welsh legislation (min. 2 Acts)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608576" y="1115568"/>
            <a:ext cx="2029968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08576" y="1115568"/>
            <a:ext cx="2029968" cy="502920"/>
          </a:xfrm>
          <a:prstGeom prst="rect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08576" y="1115568"/>
            <a:ext cx="493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5120640" y="111556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Footprints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700016" y="1664208"/>
            <a:ext cx="1865376" cy="26517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Explain 'carbon zero'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Assess group carbon footprint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Reduce footprint (min. 3 ways)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729984" y="1115568"/>
            <a:ext cx="2029968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729984" y="1115568"/>
            <a:ext cx="2029968" cy="502920"/>
          </a:xfrm>
          <a:prstGeom prst="rect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729984" y="1115568"/>
            <a:ext cx="493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4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7242048" y="111556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Awareness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821424" y="1664208"/>
            <a:ext cx="1865376" cy="265176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Deliver a campaign plan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Reflect on campaign impact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365760" y="4462272"/>
            <a:ext cx="8412480" cy="347472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75488" y="44622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qualification is graded: Pass | Merit | Distinction. LO 3 and LO 4 are group activities assessed on individual contribution.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0" y="-36576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0" dirty="0"/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47472" y="5029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1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47472" y="804672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Eco-systems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347472" y="190195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living systems that cover our planet — from Welsh moorland to tropical rainforest.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47472" y="2395728"/>
            <a:ext cx="5943600" cy="2377440"/>
          </a:xfrm>
          <a:prstGeom prst="rect">
            <a:avLst/>
          </a:prstGeom>
          <a:solidFill>
            <a:srgbClr val="0A2E18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243230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2724912"/>
            <a:ext cx="568756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Describe a range of eco-systems (min. 3)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Identify species found in each eco-system (min. 2 each)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Explain how species characteristics suit their geographical area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 Explain the impact of invasive species on a specific area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 Explain ways to minimise the spread of invasive species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E18"/>
          </a:solidFill>
          <a:ln w="12700">
            <a:solidFill>
              <a:srgbClr val="0A2E1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HB93CY002  |  Sustainable Participation in Outdoor Activities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Participation in Outdoor Activities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Eco-system?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65760" y="877824"/>
            <a:ext cx="4663440" cy="1170432"/>
          </a:xfrm>
          <a:prstGeom prst="rect">
            <a:avLst/>
          </a:prstGeom>
          <a:solidFill>
            <a:srgbClr val="E8F5EE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5488" y="896112"/>
            <a:ext cx="4443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eco-system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community of living organisms (</a:t>
            </a:r>
            <a:pPr indent="0" marL="0">
              <a:buNone/>
            </a:pPr>
            <a:r>
              <a:rPr lang="en-US" sz="1200" b="1" i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biotic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interacting with each other and their non-living environment (</a:t>
            </a:r>
            <a:pPr indent="0" marL="0">
              <a:buNone/>
            </a:pPr>
            <a:r>
              <a:rPr lang="en-US" sz="1200" b="1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abiotic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as a system.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65760" y="2139696"/>
            <a:ext cx="2286000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5760" y="2139696"/>
            <a:ext cx="2286000" cy="2743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2139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BIOTIC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" y="2450592"/>
            <a:ext cx="21214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&amp; trees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 &amp; insects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Fungi &amp; bacteria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Decomposers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743200" y="2139696"/>
            <a:ext cx="2286000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0" y="2139696"/>
            <a:ext cx="2286000" cy="2743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743200" y="2139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ABIOTIC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834640" y="2450592"/>
            <a:ext cx="21214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Sunlight &amp; temperature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&amp; humidity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type &amp; minerals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chemistry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212080" y="877824"/>
            <a:ext cx="3566160" cy="3474720"/>
          </a:xfrm>
          <a:prstGeom prst="rect">
            <a:avLst/>
          </a:prstGeom>
          <a:solidFill>
            <a:srgbClr val="F7F9F7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321808" y="896112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Flow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321808" y="1243584"/>
            <a:ext cx="3346704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340096" y="1243584"/>
            <a:ext cx="192024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 Sun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7278624" y="124358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energy source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309360" y="1682496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321808" y="1792224"/>
            <a:ext cx="3346704" cy="43891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340096" y="1792224"/>
            <a:ext cx="192024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Producers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7278624" y="179222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photosynthesise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309360" y="2231136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5321808" y="2340864"/>
            <a:ext cx="3346704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340096" y="2340864"/>
            <a:ext cx="192024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Primary Consumers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7278624" y="234086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Herbivores eat plants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6309360" y="2779776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5321808" y="2889504"/>
            <a:ext cx="3346704" cy="438912"/>
          </a:xfrm>
          <a:prstGeom prst="rect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340096" y="2889504"/>
            <a:ext cx="192024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🦊  Secondary Consumers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7278624" y="288950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Carnivores / omnivores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6309360" y="3328416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5321808" y="3438144"/>
            <a:ext cx="3346704" cy="438912"/>
          </a:xfrm>
          <a:prstGeom prst="rect">
            <a:avLst/>
          </a:prstGeom>
          <a:solidFill>
            <a:srgbClr val="6B7B8C"/>
          </a:solidFill>
          <a:ln w="12700">
            <a:solidFill>
              <a:srgbClr val="6B7B8C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340096" y="3438144"/>
            <a:ext cx="1920240" cy="43891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🍄  Decomposers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7278624" y="343814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dead matter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365760" y="3438144"/>
            <a:ext cx="4663440" cy="1335024"/>
          </a:xfrm>
          <a:prstGeom prst="rect">
            <a:avLst/>
          </a:prstGeom>
          <a:solidFill>
            <a:srgbClr val="FEF3C7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75488" y="3474720"/>
            <a:ext cx="44439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key point: 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assessment, describe the characteristics of each eco-system — not just its name. Include climate, soil type, vegetation structure and geographical location.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Participation in Outdoor Activities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Eco-systems — Welsh &amp; Global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 + 1.2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65760" y="841248"/>
            <a:ext cx="2706624" cy="1792224"/>
          </a:xfrm>
          <a:prstGeom prst="rect">
            <a:avLst/>
          </a:prstGeom>
          <a:solidFill>
            <a:srgbClr val="FFFFFF"/>
          </a:solidFill>
          <a:ln w="19050">
            <a:solidFill>
              <a:srgbClr val="4A556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841248"/>
            <a:ext cx="2706624" cy="34747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38912" y="84124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Upland Moorland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38912" y="1207008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Brecon Beacons, Snowdonia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38912" y="1463040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grouse, mountain hare, merlin, heather, bilberry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182112" y="841248"/>
            <a:ext cx="2706624" cy="1792224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182112" y="841248"/>
            <a:ext cx="2706624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55264" y="84124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Temperate Deciduous Forest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255264" y="1207008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Wye Valley, Coed Felenrhyd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255264" y="1463040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Oak, ash, dormouse, pied flycatcher, bluebell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998464" y="841248"/>
            <a:ext cx="2706624" cy="1792224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998464" y="841248"/>
            <a:ext cx="2706624" cy="3474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071616" y="84124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Freshwater (River / Lake)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071616" y="1207008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River Wye, Lake Vyrnwy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071616" y="1463040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trout, otter, dipper, kingfisher, water crowfoot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65760" y="2761488"/>
            <a:ext cx="2706624" cy="1792224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65760" y="2761488"/>
            <a:ext cx="2706624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38912" y="276148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/ Marine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438912" y="3127248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Pembrokeshire Coast NP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38912" y="3383280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seal, puffin, gannet, kelp, periwinkle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3182112" y="2761488"/>
            <a:ext cx="2706624" cy="1792224"/>
          </a:xfrm>
          <a:prstGeom prst="rect">
            <a:avLst/>
          </a:prstGeom>
          <a:solidFill>
            <a:srgbClr val="FFFFFF"/>
          </a:solidFill>
          <a:ln w="19050">
            <a:solidFill>
              <a:srgbClr val="1B43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3182112" y="2761488"/>
            <a:ext cx="2706624" cy="3474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55264" y="276148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Tropical Rainforest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3255264" y="3127248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Amazon / Congo Basin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3255264" y="3383280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Jaguar, toucan, poison dart frog, kapok tree, orchids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5998464" y="2761488"/>
            <a:ext cx="2706624" cy="1792224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5998464" y="2761488"/>
            <a:ext cx="2706624" cy="34747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071616" y="276148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Tundra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6071616" y="3127248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Arctic Circle, high peaks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6071616" y="3383280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fox, reindeer, snowy owl, cotton grass, lichen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Participation in Outdoor Activities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Species Adapt to Their Habitat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1.3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65760" y="841248"/>
            <a:ext cx="2706624" cy="3639312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841248"/>
            <a:ext cx="2706624" cy="4572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5760" y="841248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🦴  STRUCTURAL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1316736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features of the body that aid survival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57200" y="1682496"/>
            <a:ext cx="25420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Otter — webbed feet for swimming in rivers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Ptarmigan — feathered feet for walking on snow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Cactus — thick waxy skin to reduce water loss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grouse — cryptic brown plumage for camouflage on heather moor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182112" y="841248"/>
            <a:ext cx="2706624" cy="3639312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182112" y="841248"/>
            <a:ext cx="2706624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182112" y="841248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PHYSIOLOGICAL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273552" y="1316736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biological processes that aid survival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273552" y="1682496"/>
            <a:ext cx="25420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bear — accumulates fat reserves for hibernation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 — concentrates urine to conserve water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fox — changes fur colour with seasons for camouflage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Salmon — can osmoregulate in both fresh and salt water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998464" y="841248"/>
            <a:ext cx="2706624" cy="3639312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998464" y="841248"/>
            <a:ext cx="2706624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998464" y="841248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BEHAVIOURAL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089904" y="1316736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or patterns of behaviour that aid survival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089904" y="1682496"/>
            <a:ext cx="25420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Swallows — migrate to Africa to avoid Welsh winter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squirrel — caches food in summer for winter use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Curlew — nests on open moorland to spot predators early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Otter — mainly nocturnal to avoid human disturbance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65760" y="4572000"/>
            <a:ext cx="8412480" cy="310896"/>
          </a:xfrm>
          <a:prstGeom prst="rect">
            <a:avLst/>
          </a:prstGeom>
          <a:solidFill>
            <a:srgbClr val="E8F5EE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5488" y="4572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1.3: Explain the LINK between the feature and the specific geographical conditions — don't just describe the body part, explain WHY it helps.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Participation in Outdoor Activities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Invasive Species in Wales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1.4 + 1.5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65760" y="87782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invasive non-native species is one introduced outside its natural range that causes ecological, economic or social harm.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3675888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2468880"/>
                <a:gridCol w="24688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5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Introduced / Where Found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5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Ecological Impact (AC 1.4)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5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Minimise Spread (AC 1.5)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52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Himalayan Balsam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Riverbanks across Wales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Outcompetes native wildflowers; bare soil erodes in winter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before seed set; bag and dispose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Japanese Knotweed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Roadsides, riverbanks, gardens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Damages foundations; creates dense monocultures blocking light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Licensed herbicide treatment; never compost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Rhododendron ponticum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Woodland understory in Wales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Shades out native plants; toxic to insects and grazers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 and apply herbicide; NRW-coordinated removal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Crayfish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Rivers: Wye, Usk, Teifi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 crayfish plague; out-competes white-clawed crayfish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Clean, Check, Dry equipment; report to NRW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Grey Squirrel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Woodland throughout Wales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Squirrelpox wipes out red squirrels; bark-strips trees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Trap and humane control; support red squirrel programmes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0" y="-36576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0" dirty="0"/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47472" y="5029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2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47472" y="804672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Responsibility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347472" y="190195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how we behave in the outdoors matter — and what does Welsh law say about it?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47472" y="2395728"/>
            <a:ext cx="5943600" cy="2377440"/>
          </a:xfrm>
          <a:prstGeom prst="rect">
            <a:avLst/>
          </a:prstGeom>
          <a:solidFill>
            <a:srgbClr val="0A2E18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243230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2724912"/>
            <a:ext cx="568756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Summarise 'environmental responsibility' in outdoor activities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Explain how irresponsibility affects biodiversity (min. 2 ways)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Explain Welsh environmental protection legislation (min. 2 Acts)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E18"/>
          </a:solidFill>
          <a:ln w="12700">
            <a:solidFill>
              <a:srgbClr val="0A2E1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HB93CY002  |  Sustainable Participation in Outdoor Activities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Participation in Outdoor Activities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Responsibility in Outdoor Activities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65760" y="694944"/>
            <a:ext cx="8412480" cy="512064"/>
          </a:xfrm>
          <a:prstGeom prst="rect">
            <a:avLst/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93776" y="713232"/>
            <a:ext cx="8156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responsibility</a:t>
            </a:r>
            <a:pPr indent="0" marL="0">
              <a:buNone/>
            </a:pPr>
            <a:r>
              <a:rPr lang="en-US" sz="1200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 acting in ways that minimise harm to the natural environment and actively preserving it for future generations — through the choices we make about travel, access, equipment, waste, and behaviour.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65760" y="1280160"/>
            <a:ext cx="4114800" cy="3182112"/>
          </a:xfrm>
          <a:prstGeom prst="rect">
            <a:avLst/>
          </a:prstGeom>
          <a:solidFill>
            <a:srgbClr val="FFFFFF"/>
          </a:solidFill>
          <a:ln w="9525">
            <a:solidFill>
              <a:srgbClr val="D4D4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5760" y="1280160"/>
            <a:ext cx="4114800" cy="32918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84048" y="1280160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No Trace — 7 Principles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75488" y="1645920"/>
            <a:ext cx="3895344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Plan ahead and prepare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Travel and camp on durable surfaces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Dispose of waste properly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Leave what you find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Minimise campfire impact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Respect wildlife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Be considerate of other visitors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63440" y="1280160"/>
            <a:ext cx="4114800" cy="3182112"/>
          </a:xfrm>
          <a:prstGeom prst="rect">
            <a:avLst/>
          </a:prstGeom>
          <a:solidFill>
            <a:srgbClr val="FFFFFF"/>
          </a:solidFill>
          <a:ln w="9525">
            <a:solidFill>
              <a:srgbClr val="D4D4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63440" y="1280160"/>
            <a:ext cx="4114800" cy="329184"/>
          </a:xfrm>
          <a:prstGeom prst="rect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81728" y="1280160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Responsibility In Practice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773168" y="1645920"/>
            <a:ext cx="3895344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routes that avoid sensitive habitats during breeding season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dogs on leads near ground-nesting birds (March–July)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out all litter — including organic waste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on designated paths in fragile upland habitats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biosecurity procedures when moving between water bodies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low-carbon travel options to activity venues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second-hand or sustainably-sourced outdoor kit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Participation in Outdoor Activities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Irresponsibility Threatens Biodiversity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65760" y="87782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 must give a minimum of TWO specific examples. Explain the mechanism — how does the action cause harm?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65760" y="1188720"/>
            <a:ext cx="2706624" cy="1682496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5760" y="1188720"/>
            <a:ext cx="50292" cy="16824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122529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👣  Soil Compaction &amp; Erosion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1554480"/>
            <a:ext cx="2560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foot/bike traffic compresses soil → destroys root systems, reduces water infiltration, causes gullying → sediment enters watercourses → harms aquatic macroinvertebrates and fish spawning.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182112" y="1188720"/>
            <a:ext cx="2706624" cy="1682496"/>
          </a:xfrm>
          <a:prstGeom prst="rect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182112" y="1188720"/>
            <a:ext cx="50292" cy="168249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73552" y="122529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🐦  Disturbance to Nesting Birds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273552" y="1554480"/>
            <a:ext cx="2560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Ground-nesting species (curlew, lapwing, red grouse) abandon nests if disturbed by walkers or dogs during March–July → chick mortality → local population decline.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998464" y="1188720"/>
            <a:ext cx="2706624" cy="1682496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998464" y="1188720"/>
            <a:ext cx="50292" cy="168249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089904" y="122529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Water Pollution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089904" y="1554480"/>
            <a:ext cx="2560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spills from watercraft, litter, and improper waste disposal contaminate rivers and lakes → lethal to macroinvertebrates, fish and riparian species, disrupts food chains.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65760" y="2962656"/>
            <a:ext cx="2706624" cy="1682496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65760" y="2962656"/>
            <a:ext cx="50292" cy="168249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57200" y="299923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Spread of Invasive Species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57200" y="3328416"/>
            <a:ext cx="2560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attach to footwear, clothing and bike tyres; aquatic invasives transfer on wet equipment → displacement of native species, loss of habitat structure, reduced biodiversity.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3182112" y="2962656"/>
            <a:ext cx="2706624" cy="1682496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3182112" y="2962656"/>
            <a:ext cx="50292" cy="16824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273552" y="299923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🔦  Light &amp; Noise Pollution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3273552" y="3328416"/>
            <a:ext cx="2560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Headtorches and campfire noise disturb nocturnal wildlife → disrupt breeding behaviours → chronic physiological stress → reduced reproduction in sensitive species.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5998464" y="2962656"/>
            <a:ext cx="2706624" cy="1682496"/>
          </a:xfrm>
          <a:prstGeom prst="rect">
            <a:avLst/>
          </a:prstGeom>
          <a:solidFill>
            <a:srgbClr val="FFFFFF"/>
          </a:solidFill>
          <a:ln w="19050">
            <a:solidFill>
              <a:srgbClr val="065F4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5998464" y="2962656"/>
            <a:ext cx="50292" cy="168249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089904" y="299923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Trampling Sensitive Habitats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6089904" y="3328416"/>
            <a:ext cx="2560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Blanket bog and alpine heath are extremely slow to recover → a single footstep on dry sphagnum takes decades to fully heal → loss of specialist plant and invertebrate communities.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Participation in Outdoor Activities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Welsh Environmental Protection Legislation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2.3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65760" y="67665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of TWO pieces of legislation required. For each: name it (with year), explain its purpose and what it specifically protects.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858768"/>
        </p:xfrm>
        <a:graphic>
          <a:graphicData uri="http://schemas.openxmlformats.org/drawingml/2006/table">
            <a:tbl>
              <a:tblPr/>
              <a:tblGrid>
                <a:gridCol w="2560320"/>
                <a:gridCol w="640080"/>
                <a:gridCol w="521208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Legislation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5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5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 — relevance to outdoor activities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52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(Wales) 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Statutory duty on public bodies to maintain and enhance biodiversity; creates Resilient Ecological Network for Wales. The most comprehensive Welsh environmental law.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Countryside and Rights of Way (CRoW) 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to roam on open access land; significantly strengthens SSSI protection. Affects where outdoor activities can legally take place.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Wildlife and Countryside 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Protects listed species (birds, bats, great crested newts, red squirrels). Illegal to deliberately disturb nesting birds or damage an SSSI.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Well-being of Future Generations (Wales) 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all public bodies to consider long-term environmental impact. Embeds sustainability into all Welsh public decision-making.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Resources Wales (NRW) — Establishment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NRW to manage Wales's natural environment. Merged Countryside Council for Wales, Environment Agency Wales, Forestry Commission Wales.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0" y="-36576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0" dirty="0"/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47472" y="5029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3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47472" y="804672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Carbon Footprints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347472" y="190195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activity — assessed on individual contribution. Use the MacKay Carbon Calculator (RGS) for AC 3.2.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47472" y="2395728"/>
            <a:ext cx="5943600" cy="2377440"/>
          </a:xfrm>
          <a:prstGeom prst="rect">
            <a:avLst/>
          </a:prstGeom>
          <a:solidFill>
            <a:srgbClr val="0A2E18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243230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2724912"/>
            <a:ext cx="568756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Explain the term 'carbon zero'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Assess the carbon footprint of the group for the outdoor activity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Explain at least THREE ways to reduce the group's carbon footprint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E18"/>
          </a:solidFill>
          <a:ln w="12700">
            <a:solidFill>
              <a:srgbClr val="0A2E1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HB93CY002  |  Sustainable Participation in Outdoor Activities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Participation in Outdoor Activities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Carbon Footprint?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65760" y="694944"/>
            <a:ext cx="8412480" cy="475488"/>
          </a:xfrm>
          <a:prstGeom prst="rect">
            <a:avLst/>
          </a:prstGeom>
          <a:solidFill>
            <a:srgbClr val="E8F5EE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5488" y="713232"/>
            <a:ext cx="8193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carbon footprint is the total amount of greenhouse gases (measured in kg or tonnes of CO₂ equivalent, CO₂e) produced directly and indirectly by an activity, person, event or organisation.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65760" y="124358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 to a group outdoor trip's carbon footprint: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41248" y="1591056"/>
            <a:ext cx="1152144" cy="1152144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41248" y="1591056"/>
            <a:ext cx="11521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🚗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365760" y="281635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65760" y="3108960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dominates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(cars, minibus, train)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962656" y="1591056"/>
            <a:ext cx="1152144" cy="1152144"/>
          </a:xfrm>
          <a:prstGeom prst="ellipse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62656" y="1591056"/>
            <a:ext cx="11521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🎿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2487168" y="281635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487168" y="3108960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carbon-intensive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5084064" y="1591056"/>
            <a:ext cx="1152144" cy="11521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84064" y="1591056"/>
            <a:ext cx="11521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🍽</a:t>
            </a:r>
            <a:endParaRPr lang="en-US" sz="2800" dirty="0"/>
          </a:p>
        </p:txBody>
      </p:sp>
      <p:sp>
        <p:nvSpPr>
          <p:cNvPr id="23" name="Text 19"/>
          <p:cNvSpPr/>
          <p:nvPr/>
        </p:nvSpPr>
        <p:spPr>
          <a:xfrm>
            <a:off x="4608576" y="281635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608576" y="3108960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Meat-heavy diets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high impact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7205472" y="1591056"/>
            <a:ext cx="1152144" cy="1152144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205472" y="1591056"/>
            <a:ext cx="11521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🏕</a:t>
            </a:r>
            <a:endParaRPr lang="en-US" sz="2800" dirty="0"/>
          </a:p>
        </p:txBody>
      </p:sp>
      <p:sp>
        <p:nvSpPr>
          <p:cNvPr id="27" name="Text 23"/>
          <p:cNvSpPr/>
          <p:nvPr/>
        </p:nvSpPr>
        <p:spPr>
          <a:xfrm>
            <a:off x="6729984" y="281635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729984" y="3108960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and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use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65760" y="3675888"/>
            <a:ext cx="8412480" cy="1207008"/>
          </a:xfrm>
          <a:prstGeom prst="rect">
            <a:avLst/>
          </a:prstGeom>
          <a:solidFill>
            <a:srgbClr val="F7F9F7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5488" y="36941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Greenhouse Gases: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75488" y="39502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Carbon dioxide. Burning fossil fuels (car, plane, minibus). The primary contributor.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475488" y="4206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CH₄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Methane. Livestock, landfill, natural gas. 28× more potent than CO₂ over 100 years.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475488" y="44622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N₂O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Nitrous oxide. Agriculture, fertilisers. 265× more potent than CO₂.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Participation in Outdoor Activities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Zero, Net Zero and Carbon Neutral — The Difference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65760" y="822960"/>
            <a:ext cx="2688336" cy="4041648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3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822960"/>
            <a:ext cx="2688336" cy="47548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5760" y="822960"/>
            <a:ext cx="2688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CARBON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1335024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carbon is emitted at all.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" y="1737360"/>
            <a:ext cx="252374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truly achievable by walking, cycling, or using 100% renewable energy. No offsets needed — emissions simply do not happen.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3730752"/>
            <a:ext cx="2523744" cy="585216"/>
          </a:xfrm>
          <a:prstGeom prst="rect">
            <a:avLst/>
          </a:prstGeom>
          <a:solidFill>
            <a:srgbClr val="E8F5EE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93776" y="374904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to a local crag. Solar-powered activity centre.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182112" y="822960"/>
            <a:ext cx="2688336" cy="4041648"/>
          </a:xfrm>
          <a:prstGeom prst="rect">
            <a:avLst/>
          </a:prstGeom>
          <a:solidFill>
            <a:srgbClr val="FFFFFF"/>
          </a:solidFill>
          <a:ln w="25400">
            <a:solidFill>
              <a:srgbClr val="1E40A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182112" y="822960"/>
            <a:ext cx="2688336" cy="47548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182112" y="822960"/>
            <a:ext cx="2688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ZERO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273552" y="1335024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produced = Emissions removed.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273552" y="1737360"/>
            <a:ext cx="252374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emissions are made but are balanced by certified removals — tree planting, soil carbon, carbon capture technology. The Welsh Government target is net zero by 2050.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273552" y="3730752"/>
            <a:ext cx="2523744" cy="585216"/>
          </a:xfrm>
          <a:prstGeom prst="rect">
            <a:avLst/>
          </a:prstGeom>
          <a:solidFill>
            <a:srgbClr val="E8F5EE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310128" y="374904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to a venue, then planting trees to sequester equivalent CO₂.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5998464" y="822960"/>
            <a:ext cx="2688336" cy="4041648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998464" y="822960"/>
            <a:ext cx="2688336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998464" y="822960"/>
            <a:ext cx="2688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NEUTRAL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089904" y="1335024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achieved mainly through offsets.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089904" y="1737360"/>
            <a:ext cx="252374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relies on buying carbon credits rather than reducing actual emissions. Generally regarded as a weaker standard than net zero as it doesn't require emission reductions.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089904" y="3730752"/>
            <a:ext cx="2523744" cy="585216"/>
          </a:xfrm>
          <a:prstGeom prst="rect">
            <a:avLst/>
          </a:prstGeom>
          <a:solidFill>
            <a:srgbClr val="E8F5EE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126480" y="374904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pays to offset flights by funding a solar project elsewhere.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Participation in Outdoor Activities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Travel Emissions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3.2</a:t>
            </a:r>
            <a:endParaRPr lang="en-US" sz="9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65760" y="822960"/>
          <a:ext cx="4754880" cy="40050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Shape 6"/>
          <p:cNvSpPr/>
          <p:nvPr/>
        </p:nvSpPr>
        <p:spPr>
          <a:xfrm>
            <a:off x="5303520" y="822960"/>
            <a:ext cx="3474720" cy="1792224"/>
          </a:xfrm>
          <a:prstGeom prst="rect">
            <a:avLst/>
          </a:prstGeom>
          <a:solidFill>
            <a:srgbClr val="E8F5EE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413248" y="85953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 for AC 3.2: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413248" y="1152144"/>
            <a:ext cx="325526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car is ~5× more emissions per km than train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minibus cuts per-person emissions by ~50% vs car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car still has emissions from grid electricity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travel (cycling/walking) = zero operational CO₂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5303520" y="2706624"/>
            <a:ext cx="3474720" cy="1152144"/>
          </a:xfrm>
          <a:prstGeom prst="rect">
            <a:avLst/>
          </a:prstGeom>
          <a:solidFill>
            <a:srgbClr val="FEF3C7"/>
          </a:solidFill>
          <a:ln w="19050">
            <a:solidFill>
              <a:srgbClr val="C8A951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413248" y="272491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MacKay Carbon Calculator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413248" y="3017520"/>
            <a:ext cx="32735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Royal Geographical Society's free tool to calculate your group trip's full carbon footprint: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rgs.org/schools/teaching-resources/mackay-carbon-calculator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303520" y="3931920"/>
            <a:ext cx="347472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6B7B8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413248" y="3968496"/>
            <a:ext cx="3273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3.2 asks you to ASSESS — not just calculate. Identify the biggest contributors, compare with alternatives, and explain what the total means for environmental impact.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Participation in Outdoor Activities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Your Group's Carbon Footprint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3.3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65760" y="87782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of THREE ways required. At Level 3, be specific to your group and activity — generic statements are not enough.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65760" y="1188720"/>
            <a:ext cx="2706624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" y="1298448"/>
            <a:ext cx="347472" cy="347472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77824" y="1298448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travel mode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1700784"/>
            <a:ext cx="25420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by minibus, coach or train instead of individual cars. One full minibus replacing 10 solo car journeys cuts per-person emissions by ~50%.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182112" y="1188720"/>
            <a:ext cx="2706624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73552" y="1298448"/>
            <a:ext cx="347472" cy="347472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273552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694176" y="1298448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local venues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273552" y="1700784"/>
            <a:ext cx="25420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activity sites accessible by public transport, cycling or walking. This may require researching transport links when planning.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998464" y="1188720"/>
            <a:ext cx="2706624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F452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89904" y="1298448"/>
            <a:ext cx="347472" cy="347472"/>
          </a:xfrm>
          <a:prstGeom prst="ellipse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089904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510528" y="1298448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Second-hand equipment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089904" y="1700784"/>
            <a:ext cx="25420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outdoor gear is carbon-intensive. Buying second-hand or borrowing equipment avoids this embodied carbon entirely.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65760" y="2962656"/>
            <a:ext cx="2706624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57200" y="3072384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57200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877824" y="3072384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Plant-based food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57200" y="3474720"/>
            <a:ext cx="25420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Livestock products generate significantly more methane than plant-based alternatives. Even one plant-based meal per day makes a measurable difference.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3182112" y="2962656"/>
            <a:ext cx="2706624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3273552" y="3072384"/>
            <a:ext cx="347472" cy="347472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273552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3694176" y="3072384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offset remaining emissions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3273552" y="3474720"/>
            <a:ext cx="25420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certified scheme (Gold Standard, Woodland Trust) to offset emissions that can't be avoided — but this should be a last resort, not a substitute for reducing.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5998464" y="2962656"/>
            <a:ext cx="2706624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089904" y="3072384"/>
            <a:ext cx="347472" cy="34747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089904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6510528" y="3072384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disposable plastic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6089904" y="3474720"/>
            <a:ext cx="25420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water bottles, packed lunches in reusable containers, zero single-use plastic. Reduces both waste and the upstream carbon cost of manufacturing.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0" y="-36576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0" dirty="0"/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47472" y="5029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4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47472" y="804672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Awareness of Environmental Impact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347472" y="190195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activity — you are assessed on your individual contribution, planning and reflection.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47472" y="2395728"/>
            <a:ext cx="5943600" cy="2377440"/>
          </a:xfrm>
          <a:prstGeom prst="rect">
            <a:avLst/>
          </a:prstGeom>
          <a:solidFill>
            <a:srgbClr val="0A2E18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243230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2724912"/>
            <a:ext cx="568756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Deliver a campaign plan to raise awareness of the impact of a selected outdoor activity on the natural environment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Reflect on the impact of the campaign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E18"/>
          </a:solidFill>
          <a:ln w="12700">
            <a:solidFill>
              <a:srgbClr val="0A2E1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HB93CY002  |  Sustainable Participation in Outdoor Activities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Participation in Outdoor Activities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an Effective Awareness Campaign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4.1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65760" y="969264"/>
            <a:ext cx="2706624" cy="1591056"/>
          </a:xfrm>
          <a:prstGeom prst="rect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57200" y="10241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Clear Message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1371600"/>
            <a:ext cx="25603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'be more sustainable' — specific: 'Reduce trail erosion from mountain biking on the Afan trails by choosing waymarked routes'.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969264"/>
            <a:ext cx="50292" cy="159105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182112" y="969264"/>
            <a:ext cx="2706624" cy="1591056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273552" y="10241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Target Audience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273552" y="1371600"/>
            <a:ext cx="25603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 reaching? Year 9 students, local club members, parents, the community? Tone and format must match.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182112" y="969264"/>
            <a:ext cx="50292" cy="159105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98464" y="969264"/>
            <a:ext cx="2706624" cy="1591056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089904" y="10241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Evidence Base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089904" y="1371600"/>
            <a:ext cx="25603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your campaign in data — species counts, NRW pollution reports, carbon statistics. Credibility requires evidence.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998464" y="969264"/>
            <a:ext cx="50292" cy="159105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65760" y="2688336"/>
            <a:ext cx="2706624" cy="2084832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457200" y="2743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Call to Action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57200" y="3090672"/>
            <a:ext cx="25603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want people to DO? Sign a pledge, change a behaviour, share content? A specific ask outperforms vague awareness.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65760" y="2688336"/>
            <a:ext cx="50292" cy="20848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182112" y="2688336"/>
            <a:ext cx="2706624" cy="2084832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3273552" y="2743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Measurable Impact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3273552" y="3090672"/>
            <a:ext cx="25603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you know it worked? Views, pledges taken, follow-up survey, behaviour change observed? Plan this before delivering.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3182112" y="2688336"/>
            <a:ext cx="50292" cy="20848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365760" y="4572000"/>
            <a:ext cx="8412480" cy="310896"/>
          </a:xfrm>
          <a:prstGeom prst="rect">
            <a:avLst/>
          </a:prstGeom>
          <a:solidFill>
            <a:srgbClr val="E8F5EE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75488" y="4572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4.1 tip: 'Deliver' means you carry it out — your workbook should capture the plan AND evidence of the delivery (upload to Photo &amp; Audio Evidence section).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Participation in Outdoor Activities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Formats — Choose What Fits Your Audience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4.1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65760" y="822960"/>
            <a:ext cx="2706624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D4D4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822960"/>
            <a:ext cx="2706624" cy="329184"/>
          </a:xfrm>
          <a:prstGeom prst="rect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20624" y="82296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School Presentation / Assembly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38912" y="1188720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impact, interactive, Q&amp;A possible. Good for reaching a large audience quickly.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38912" y="1938528"/>
            <a:ext cx="2578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9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strong visuals, key statistics and a clear call to action.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182112" y="822960"/>
            <a:ext cx="2706624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D4D4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182112" y="822960"/>
            <a:ext cx="2706624" cy="329184"/>
          </a:xfrm>
          <a:prstGeom prst="rect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36976" y="82296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Social Media Campaign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255264" y="1188720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for wide reach; Instagram/TikTok suit younger audiences. Short video, infographic or photo series.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255264" y="1938528"/>
            <a:ext cx="2578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9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matters — choose where your audience actually is.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998464" y="822960"/>
            <a:ext cx="2706624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D4D4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998464" y="822960"/>
            <a:ext cx="2706624" cy="329184"/>
          </a:xfrm>
          <a:prstGeom prst="rect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053328" y="82296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Poster / Display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071616" y="1188720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presence at school, outdoor centre or trailhead. Targeted at specific location users.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071616" y="1938528"/>
            <a:ext cx="2578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9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must be eye-catching. Use Canva (free) for professional output.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365760" y="2724912"/>
            <a:ext cx="2706624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D4D4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65760" y="2724912"/>
            <a:ext cx="2706624" cy="329184"/>
          </a:xfrm>
          <a:prstGeom prst="rect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20624" y="2724912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Short Documentary Film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438912" y="3090672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credibility, shows real evidence. Combines visuals, interview and narration for compelling storytelling.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438912" y="3840480"/>
            <a:ext cx="2578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9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Time-intensive but very high impact — even a 2-minute film is powerful.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3182112" y="2724912"/>
            <a:ext cx="2706624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D4D4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3182112" y="2724912"/>
            <a:ext cx="2706624" cy="329184"/>
          </a:xfrm>
          <a:prstGeom prst="rect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36976" y="2724912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Webpage / Blog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3255264" y="3090672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Searchable, detailed, can include interactive elements and links. Good for long-term reference.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3255264" y="3840480"/>
            <a:ext cx="2578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9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your carbon calculator results or species surveys for added evidence.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5998464" y="2724912"/>
            <a:ext cx="2706624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D4D4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5998464" y="2724912"/>
            <a:ext cx="2706624" cy="329184"/>
          </a:xfrm>
          <a:prstGeom prst="rect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053328" y="2724912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Leaflet at Activity Venue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6071616" y="3090672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 participants at the point of impact — walkers, cyclists, paddlers.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6071616" y="3840480"/>
            <a:ext cx="2578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9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to one side, A5 format. Print run of 50–100 is realistic for a school project.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Participation in Outdoor Activities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Reflecting on Your Campaign — Gibbs Reflective Cycle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6400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65760" y="87782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4.2 requires structured reflection — not just 'it went well'. Use Gibbs to move from description to genuine analysis.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65760" y="1170432"/>
            <a:ext cx="2706624" cy="1609344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" y="1261872"/>
            <a:ext cx="365760" cy="36576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1261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96112" y="12618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" y="1682496"/>
            <a:ext cx="25420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 What did you do and observe during the campaign?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182112" y="1170432"/>
            <a:ext cx="2706624" cy="1609344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73552" y="1261872"/>
            <a:ext cx="365760" cy="36576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273552" y="1261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712464" y="12618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273552" y="1682496"/>
            <a:ext cx="25420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were you thinking and feeling during delivery? Before and after?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998464" y="1170432"/>
            <a:ext cx="2706624" cy="1609344"/>
          </a:xfrm>
          <a:prstGeom prst="rect">
            <a:avLst/>
          </a:prstGeom>
          <a:solidFill>
            <a:srgbClr val="FFFFFF"/>
          </a:solidFill>
          <a:ln w="19050">
            <a:solidFill>
              <a:srgbClr val="C8A95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89904" y="1261872"/>
            <a:ext cx="365760" cy="365760"/>
          </a:xfrm>
          <a:prstGeom prst="ellipse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089904" y="1261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528816" y="12618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089904" y="1682496"/>
            <a:ext cx="25420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well? What did not go as you had planned?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365760" y="2834640"/>
            <a:ext cx="2706624" cy="1609344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57200" y="292608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5720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896112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57200" y="3346704"/>
            <a:ext cx="25420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it go well or badly? What factors affected the outcome?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3182112" y="2834640"/>
            <a:ext cx="2706624" cy="1609344"/>
          </a:xfrm>
          <a:prstGeom prst="rect">
            <a:avLst/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3273552" y="2926080"/>
            <a:ext cx="365760" cy="36576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273552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3712464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3273552" y="3346704"/>
            <a:ext cx="25420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else could you have done? What have you learned?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5998464" y="2834640"/>
            <a:ext cx="2706624" cy="1609344"/>
          </a:xfrm>
          <a:prstGeom prst="rect">
            <a:avLst/>
          </a:prstGeom>
          <a:solidFill>
            <a:srgbClr val="FFFFFF"/>
          </a:solidFill>
          <a:ln w="19050">
            <a:solidFill>
              <a:srgbClr val="0F452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089904" y="2926080"/>
            <a:ext cx="365760" cy="365760"/>
          </a:xfrm>
          <a:prstGeom prst="ellipse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089904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6528816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6089904" y="3346704"/>
            <a:ext cx="25420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did this again, what would you do differently next time?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365760" y="4572000"/>
            <a:ext cx="8412480" cy="310896"/>
          </a:xfrm>
          <a:prstGeom prst="rect">
            <a:avLst/>
          </a:prstGeom>
          <a:solidFill>
            <a:srgbClr val="FEF3C7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75488" y="4572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strong reflection: include evidence of impact (views, feedback forms, behaviour changes observed). Move beyond stages 1–2 into genuine analysis (stages 4–6).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64008"/>
            <a:ext cx="694944" cy="48463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91440"/>
            <a:ext cx="969264" cy="40233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9728" y="4983480"/>
            <a:ext cx="2286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HB93CY002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200400" y="4983480"/>
            <a:ext cx="58338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Participation in Outdoor Activities  |  Level 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65760" y="109728"/>
            <a:ext cx="6812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Revision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365760" y="658368"/>
            <a:ext cx="8412480" cy="237744"/>
          </a:xfrm>
          <a:prstGeom prst="rect">
            <a:avLst/>
          </a:prstGeom>
          <a:solidFill>
            <a:srgbClr val="E8F5EE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75488" y="6583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define each of these without looking? Test yourself with a partner.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9264"/>
          <a:ext cx="4169664" cy="3913632"/>
        </p:xfrm>
        <a:graphic>
          <a:graphicData uri="http://schemas.openxmlformats.org/drawingml/2006/table">
            <a:tbl>
              <a:tblPr/>
              <a:tblGrid>
                <a:gridCol w="1280160"/>
                <a:gridCol w="2889504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4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Eco-system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community of biotic (living) organisms interacting with abiotic (non-living) components as a system.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4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feature (structural, physiological or behavioural) that improves a species' survival in its habitat.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4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Invasive species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non-native species introduced outside its natural range that causes ecological harm.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4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Biodiversity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variety of species within a habitat, ecosystem or the planet as a whole.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4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Environmental responsibility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Acting to minimise environmental harm and preserve natural resources for future generations.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4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 footprint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greenhouse gases (CO₂e) produced by an activity, event or person.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08576" y="969264"/>
          <a:ext cx="4169664" cy="3913632"/>
        </p:xfrm>
        <a:graphic>
          <a:graphicData uri="http://schemas.openxmlformats.org/drawingml/2006/table">
            <a:tbl>
              <a:tblPr/>
              <a:tblGrid>
                <a:gridCol w="1280160"/>
                <a:gridCol w="2889504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4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zero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where greenhouse gas emitted = greenhouse gas removed from the atmosphere.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4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 neutral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achieved mainly through offsets, not by eliminating emissions at source.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4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of Special Scientific Interest — legal designation protecting areas of notable wildlife or geology.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4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Resources Wales — the body managing and protecting Wales's natural environment.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4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 No Trace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Seven principles designed to minimise the environmental impact of outdoor recreation.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4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 Act 2000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Countryside and Rights of Way Act — establishes right to roam on open access land in Wales.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Open Your Digital Workbook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73736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HB93CY002SustainableParticipationDigital.html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2176272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your student details on the Cover page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Knowledge Hub section — then complete the assessment tasks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 and LO 4 are completed as a group — record your individual contribution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Save button to export your work as a JSON file after every session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campaign materials (posters, photos, audio) in the Photo &amp; Audio Evidence section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Checklist and sign the Declaration before final submission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66344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qualification: Pass | Merit | Distinction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3977640"/>
            <a:ext cx="841248" cy="585216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4023360"/>
            <a:ext cx="914400" cy="51206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E18"/>
          </a:solidFill>
          <a:ln w="12700">
            <a:solidFill>
              <a:srgbClr val="0A2E1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HB93CY002  |  Sustainable Participation in Outdoor Activities  |  Jonathan Jones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HB93CY002 Sustainable Participation in Outdoor Activities</dc:title>
  <dc:subject>PptxGenJS Presentation</dc:subject>
  <dc:creator>Jonathan Jones</dc:creator>
  <cp:lastModifiedBy>Jonathan Jones</cp:lastModifiedBy>
  <cp:revision>1</cp:revision>
  <dcterms:created xsi:type="dcterms:W3CDTF">2026-06-01T20:32:01Z</dcterms:created>
  <dcterms:modified xsi:type="dcterms:W3CDTF">2026-06-01T20:32:01Z</dcterms:modified>
</cp:coreProperties>
</file>