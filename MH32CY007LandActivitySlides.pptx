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D4AF3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28600"/>
            <a:ext cx="795528" cy="594360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28600"/>
            <a:ext cx="1033272" cy="5029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57200" y="100584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spc="400" kern="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AGORED CYMRU  ·  LEVEL 2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457200" y="146304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Participate in a Land-based Activity</a:t>
            </a:r>
            <a:endParaRPr lang="en-US" sz="3400" dirty="0"/>
          </a:p>
        </p:txBody>
      </p:sp>
      <p:sp>
        <p:nvSpPr>
          <p:cNvPr id="9" name="Text 5"/>
          <p:cNvSpPr/>
          <p:nvPr/>
        </p:nvSpPr>
        <p:spPr>
          <a:xfrm>
            <a:off x="457200" y="22860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Hill Walking  ·  Mountain Biking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457200" y="29260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MH32CY007  ·  CDO652  ·  Level 2  ·  3 Credits  ·  15 GLH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0" y="4453128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Brynllywarch  |  Jonathan Jones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73152" cy="454914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452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91440"/>
            <a:ext cx="539496" cy="402336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09728"/>
            <a:ext cx="795528" cy="3657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14400" y="457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Overview — MH32CY007</a:t>
            </a:r>
            <a:endParaRPr lang="en-US" sz="1900" dirty="0"/>
          </a:p>
        </p:txBody>
      </p:sp>
      <p:sp>
        <p:nvSpPr>
          <p:cNvPr id="8" name="Text 4"/>
          <p:cNvSpPr/>
          <p:nvPr/>
        </p:nvSpPr>
        <p:spPr>
          <a:xfrm>
            <a:off x="228600" y="685800"/>
            <a:ext cx="868680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unit introduces students to land-based outdoor activities through practical participation.</a:t>
            </a:r>
            <a:endParaRPr lang="en-US" sz="1700" dirty="0"/>
          </a:p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choose ONE activity pathway — either Hill Walking or Mountain Biking.</a:t>
            </a:r>
            <a:endParaRPr lang="en-US" sz="1700" dirty="0"/>
          </a:p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Learning Outcomes covering: knowledge, requirements, preparation, participation, maintenance, and self-assessment.</a:t>
            </a:r>
            <a:endParaRPr lang="en-US" sz="1700" dirty="0"/>
          </a:p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is by practical demonstration in an outdoor setting — observed by an assessor.</a:t>
            </a:r>
            <a:endParaRPr lang="en-US" sz="1700" dirty="0"/>
          </a:p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Credits  ·  15 Guided Learning Hours  ·  Last Registration: 31/08/2030</a:t>
            </a:r>
            <a:endParaRPr lang="en-US" sz="1700" dirty="0"/>
          </a:p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of the Agored Cymru Level 2 Learning in the Outdoors Extended Certificate.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0" y="4864608"/>
            <a:ext cx="7315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MH32CY007 | Slide 2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6400800" y="4864608"/>
            <a:ext cx="2743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Brynllywarch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73152" cy="454914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452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91440"/>
            <a:ext cx="539496" cy="402336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09728"/>
            <a:ext cx="795528" cy="3657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14400" y="457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Outcomes at a Glance</a:t>
            </a:r>
            <a:endParaRPr lang="en-US" sz="1900" dirty="0"/>
          </a:p>
        </p:txBody>
      </p:sp>
      <p:sp>
        <p:nvSpPr>
          <p:cNvPr id="8" name="Shape 4"/>
          <p:cNvSpPr/>
          <p:nvPr/>
        </p:nvSpPr>
        <p:spPr>
          <a:xfrm>
            <a:off x="182880" y="749808"/>
            <a:ext cx="4343400" cy="1170432"/>
          </a:xfrm>
          <a:prstGeom prst="rect">
            <a:avLst/>
          </a:prstGeom>
          <a:solidFill>
            <a:srgbClr val="E8F5EE"/>
          </a:solidFill>
          <a:ln w="12700">
            <a:solidFill>
              <a:srgbClr val="C8E6D4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182880" y="749808"/>
            <a:ext cx="914400" cy="1170432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10" name="Text 6"/>
          <p:cNvSpPr/>
          <p:nvPr/>
        </p:nvSpPr>
        <p:spPr>
          <a:xfrm>
            <a:off x="228600" y="1024128"/>
            <a:ext cx="822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1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1188720" y="932688"/>
            <a:ext cx="32461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a range of land-based activities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182880" y="2029968"/>
            <a:ext cx="4343400" cy="1170432"/>
          </a:xfrm>
          <a:prstGeom prst="rect">
            <a:avLst/>
          </a:prstGeom>
          <a:solidFill>
            <a:srgbClr val="E8F5EE"/>
          </a:solidFill>
          <a:ln w="12700">
            <a:solidFill>
              <a:srgbClr val="C8E6D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82880" y="2029968"/>
            <a:ext cx="914400" cy="1170432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14" name="Text 10"/>
          <p:cNvSpPr/>
          <p:nvPr/>
        </p:nvSpPr>
        <p:spPr>
          <a:xfrm>
            <a:off x="228600" y="2304288"/>
            <a:ext cx="822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2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1188720" y="2212848"/>
            <a:ext cx="32461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requirements of the activity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182880" y="3310128"/>
            <a:ext cx="4343400" cy="1170432"/>
          </a:xfrm>
          <a:prstGeom prst="rect">
            <a:avLst/>
          </a:prstGeom>
          <a:solidFill>
            <a:srgbClr val="E8F5EE"/>
          </a:solidFill>
          <a:ln w="12700">
            <a:solidFill>
              <a:srgbClr val="C8E6D4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182880" y="3310128"/>
            <a:ext cx="914400" cy="1170432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18" name="Text 14"/>
          <p:cNvSpPr/>
          <p:nvPr/>
        </p:nvSpPr>
        <p:spPr>
          <a:xfrm>
            <a:off x="228600" y="3584448"/>
            <a:ext cx="822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3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1188720" y="3493008"/>
            <a:ext cx="32461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for participation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4709160" y="749808"/>
            <a:ext cx="4343400" cy="1170432"/>
          </a:xfrm>
          <a:prstGeom prst="rect">
            <a:avLst/>
          </a:prstGeom>
          <a:solidFill>
            <a:srgbClr val="E8F5EE"/>
          </a:solidFill>
          <a:ln w="12700">
            <a:solidFill>
              <a:srgbClr val="C8E6D4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709160" y="749808"/>
            <a:ext cx="914400" cy="1170432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22" name="Text 18"/>
          <p:cNvSpPr/>
          <p:nvPr/>
        </p:nvSpPr>
        <p:spPr>
          <a:xfrm>
            <a:off x="4754880" y="1024128"/>
            <a:ext cx="822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4</a:t>
            </a:r>
            <a:endParaRPr lang="en-US" sz="1300" dirty="0"/>
          </a:p>
        </p:txBody>
      </p:sp>
      <p:sp>
        <p:nvSpPr>
          <p:cNvPr id="23" name="Text 19"/>
          <p:cNvSpPr/>
          <p:nvPr/>
        </p:nvSpPr>
        <p:spPr>
          <a:xfrm>
            <a:off x="5715000" y="932688"/>
            <a:ext cx="32461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Participate in the activity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4709160" y="2029968"/>
            <a:ext cx="4343400" cy="1170432"/>
          </a:xfrm>
          <a:prstGeom prst="rect">
            <a:avLst/>
          </a:prstGeom>
          <a:solidFill>
            <a:srgbClr val="E8F5EE"/>
          </a:solidFill>
          <a:ln w="12700">
            <a:solidFill>
              <a:srgbClr val="C8E6D4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4709160" y="2029968"/>
            <a:ext cx="914400" cy="1170432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26" name="Text 22"/>
          <p:cNvSpPr/>
          <p:nvPr/>
        </p:nvSpPr>
        <p:spPr>
          <a:xfrm>
            <a:off x="4754880" y="2304288"/>
            <a:ext cx="822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5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5715000" y="2212848"/>
            <a:ext cx="32461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 equipment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4709160" y="3310128"/>
            <a:ext cx="4343400" cy="1170432"/>
          </a:xfrm>
          <a:prstGeom prst="rect">
            <a:avLst/>
          </a:prstGeom>
          <a:solidFill>
            <a:srgbClr val="E8F5EE"/>
          </a:solidFill>
          <a:ln w="12700">
            <a:solidFill>
              <a:srgbClr val="C8E6D4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709160" y="3310128"/>
            <a:ext cx="914400" cy="1170432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30" name="Text 26"/>
          <p:cNvSpPr/>
          <p:nvPr/>
        </p:nvSpPr>
        <p:spPr>
          <a:xfrm>
            <a:off x="4754880" y="3584448"/>
            <a:ext cx="822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6</a:t>
            </a:r>
            <a:endParaRPr lang="en-US" sz="1300" dirty="0"/>
          </a:p>
        </p:txBody>
      </p:sp>
      <p:sp>
        <p:nvSpPr>
          <p:cNvPr id="31" name="Text 27"/>
          <p:cNvSpPr/>
          <p:nvPr/>
        </p:nvSpPr>
        <p:spPr>
          <a:xfrm>
            <a:off x="5715000" y="3493008"/>
            <a:ext cx="32461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own participation</a:t>
            </a:r>
            <a:endParaRPr lang="en-US" sz="1400" dirty="0"/>
          </a:p>
        </p:txBody>
      </p:sp>
      <p:sp>
        <p:nvSpPr>
          <p:cNvPr id="32" name="Text 28"/>
          <p:cNvSpPr/>
          <p:nvPr/>
        </p:nvSpPr>
        <p:spPr>
          <a:xfrm>
            <a:off x="0" y="4864608"/>
            <a:ext cx="7315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MH32CY007 | Slide 3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400800" y="4864608"/>
            <a:ext cx="2743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Brynllywarch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A6B3C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28600"/>
            <a:ext cx="612648" cy="457200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228600"/>
            <a:ext cx="941832" cy="3657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65760" y="164592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1 — Land-based Activities</a:t>
            </a:r>
            <a:endParaRPr lang="en-US" sz="3600" dirty="0"/>
          </a:p>
        </p:txBody>
      </p:sp>
      <p:sp>
        <p:nvSpPr>
          <p:cNvPr id="7" name="Text 3"/>
          <p:cNvSpPr/>
          <p:nvPr/>
        </p:nvSpPr>
        <p:spPr>
          <a:xfrm>
            <a:off x="365760" y="237744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 1.1: Describe a range of land-based activities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0" y="44348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MH32CY007 · Agored Cymru Level 2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73152" cy="454914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452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91440"/>
            <a:ext cx="539496" cy="402336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09728"/>
            <a:ext cx="795528" cy="3657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14400" y="457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Land-based Activities?</a:t>
            </a:r>
            <a:endParaRPr lang="en-US" sz="1900" dirty="0"/>
          </a:p>
        </p:txBody>
      </p:sp>
      <p:sp>
        <p:nvSpPr>
          <p:cNvPr id="8" name="Shape 4"/>
          <p:cNvSpPr/>
          <p:nvPr/>
        </p:nvSpPr>
        <p:spPr>
          <a:xfrm>
            <a:off x="182880" y="685800"/>
            <a:ext cx="4251960" cy="4069080"/>
          </a:xfrm>
          <a:prstGeom prst="rect">
            <a:avLst/>
          </a:prstGeom>
          <a:solidFill>
            <a:srgbClr val="E8F5EE"/>
          </a:solidFill>
          <a:ln w="12700">
            <a:solidFill>
              <a:srgbClr val="C8E6D4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182880" y="685800"/>
            <a:ext cx="4251960" cy="384048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10" name="Text 6"/>
          <p:cNvSpPr/>
          <p:nvPr/>
        </p:nvSpPr>
        <p:spPr>
          <a:xfrm>
            <a:off x="228600" y="713232"/>
            <a:ext cx="4160520" cy="32918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🥾  Hill Walking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228600" y="1115568"/>
            <a:ext cx="41605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Travelling on foot over upland terrain using paths and open ground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OS maps (1:25,000), compass, route cards for navigation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layering system, waterproof boots, and emergency kit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Popular areas: Brecon Beacons, Snowdonia, Cambrian Mountains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Suitable for a wide range of abilities — routes can be adapted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709160" y="685800"/>
            <a:ext cx="4251960" cy="4069080"/>
          </a:xfrm>
          <a:prstGeom prst="rect">
            <a:avLst/>
          </a:prstGeom>
          <a:solidFill>
            <a:srgbClr val="E8F5EE"/>
          </a:solidFill>
          <a:ln w="12700">
            <a:solidFill>
              <a:srgbClr val="C8E6D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709160" y="685800"/>
            <a:ext cx="4251960" cy="384048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14" name="Text 10"/>
          <p:cNvSpPr/>
          <p:nvPr/>
        </p:nvSpPr>
        <p:spPr>
          <a:xfrm>
            <a:off x="4754880" y="713232"/>
            <a:ext cx="4160520" cy="32918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🚵  Mountain Biking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754880" y="1115568"/>
            <a:ext cx="41605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Off-road cycling on natural or purpose-built trails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Trail grades: green → blue → red → black (increasing difficulty)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correctly fitted helmet, protective gear, repair kit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World-class venues: Dyfi Bike Park, Coed y Brenin, Afan Forest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activities provide excellent outdoor challenge and personal development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0" y="4864608"/>
            <a:ext cx="7315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MH32CY007 | Slide 5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6400800" y="4864608"/>
            <a:ext cx="2743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Brynllywarch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73152" cy="454914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452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91440"/>
            <a:ext cx="539496" cy="402336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09728"/>
            <a:ext cx="795528" cy="3657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14400" y="457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Range of Land-based Activities</a:t>
            </a:r>
            <a:endParaRPr lang="en-US" sz="1900" dirty="0"/>
          </a:p>
        </p:txBody>
      </p:sp>
      <p:sp>
        <p:nvSpPr>
          <p:cNvPr id="8" name="Text 4"/>
          <p:cNvSpPr/>
          <p:nvPr/>
        </p:nvSpPr>
        <p:spPr>
          <a:xfrm>
            <a:off x="228600" y="685800"/>
            <a:ext cx="868680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🧗  Rock Climbing — ascending natural rock faces using hands, feet, and protective equipment.</a:t>
            </a:r>
            <a:endParaRPr lang="en-US" sz="1700" dirty="0"/>
          </a:p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🌲  Gorge Walking — moving through river gorges by scrambling, jumping, and swimming.</a:t>
            </a:r>
            <a:endParaRPr lang="en-US" sz="1700" dirty="0"/>
          </a:p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🏕️  Orienteering — navigating between checkpoints at speed using map and compass.</a:t>
            </a:r>
            <a:endParaRPr lang="en-US" sz="1700" dirty="0"/>
          </a:p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🪓  Bushcraft — wilderness survival skills: fire lighting, shelter building, foraging.</a:t>
            </a:r>
            <a:endParaRPr lang="en-US" sz="1700" dirty="0"/>
          </a:p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AC 1.1: Describe at least TWO activities — what they involve, where in Wales, and who might take part.</a:t>
            </a:r>
            <a:endParaRPr lang="en-US" sz="1700" dirty="0"/>
          </a:p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Discussion: What other land-based activities have you experienced?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0" y="4864608"/>
            <a:ext cx="7315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MH32CY007 | Slide 6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6400800" y="4864608"/>
            <a:ext cx="2743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Brynllywarch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A6B3C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28600"/>
            <a:ext cx="612648" cy="457200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228600"/>
            <a:ext cx="941832" cy="3657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65760" y="164592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2 — Activity Requirements</a:t>
            </a:r>
            <a:endParaRPr lang="en-US" sz="3600" dirty="0"/>
          </a:p>
        </p:txBody>
      </p:sp>
      <p:sp>
        <p:nvSpPr>
          <p:cNvPr id="7" name="Text 3"/>
          <p:cNvSpPr/>
          <p:nvPr/>
        </p:nvSpPr>
        <p:spPr>
          <a:xfrm>
            <a:off x="365760" y="237744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 2.1 – 2.4: Features, skills, equipment, safety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0" y="44348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MH32CY007 · Agored Cymru Level 2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73152" cy="454914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452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91440"/>
            <a:ext cx="539496" cy="402336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09728"/>
            <a:ext cx="795528" cy="3657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14400" y="457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of Each Activity</a:t>
            </a:r>
            <a:endParaRPr lang="en-US" sz="1900" dirty="0"/>
          </a:p>
        </p:txBody>
      </p:sp>
      <p:sp>
        <p:nvSpPr>
          <p:cNvPr id="8" name="Shape 4"/>
          <p:cNvSpPr/>
          <p:nvPr/>
        </p:nvSpPr>
        <p:spPr>
          <a:xfrm>
            <a:off x="182880" y="685800"/>
            <a:ext cx="4251960" cy="4069080"/>
          </a:xfrm>
          <a:prstGeom prst="rect">
            <a:avLst/>
          </a:prstGeom>
          <a:solidFill>
            <a:srgbClr val="E8F5EE"/>
          </a:solidFill>
          <a:ln w="12700">
            <a:solidFill>
              <a:srgbClr val="C8E6D4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182880" y="685800"/>
            <a:ext cx="4251960" cy="384048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10" name="Text 6"/>
          <p:cNvSpPr/>
          <p:nvPr/>
        </p:nvSpPr>
        <p:spPr>
          <a:xfrm>
            <a:off x="228600" y="713232"/>
            <a:ext cx="4160520" cy="32918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Hill Walking — Key Features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228600" y="1115568"/>
            <a:ext cx="41605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planning with 1:25,000 OS map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Navigation: map, compass, pace counting, bearings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Terrain awareness: scree, boggy ground, steep slopes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management: pace, welfare, dynamic risk assessment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awareness and forecast checking (MWIS)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709160" y="685800"/>
            <a:ext cx="4251960" cy="4069080"/>
          </a:xfrm>
          <a:prstGeom prst="rect">
            <a:avLst/>
          </a:prstGeom>
          <a:solidFill>
            <a:srgbClr val="E8F5EE"/>
          </a:solidFill>
          <a:ln w="12700">
            <a:solidFill>
              <a:srgbClr val="C8E6D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709160" y="685800"/>
            <a:ext cx="4251960" cy="384048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14" name="Text 10"/>
          <p:cNvSpPr/>
          <p:nvPr/>
        </p:nvSpPr>
        <p:spPr>
          <a:xfrm>
            <a:off x="4754880" y="713232"/>
            <a:ext cx="4160520" cy="32918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Mountain Biking — Key Features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754880" y="1115568"/>
            <a:ext cx="41605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Trail grade selection appropriate to ability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 fit: saddle height, handlebar position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Riding technique: body position, braking, cornering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Climbing: seated, gear selection, consistent cadence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safety checks throughout the ride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0" y="4864608"/>
            <a:ext cx="7315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MH32CY007 | Slide 8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6400800" y="4864608"/>
            <a:ext cx="2743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Brynllywarch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73152" cy="454914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452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91440"/>
            <a:ext cx="539496" cy="402336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09728"/>
            <a:ext cx="795528" cy="3657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14400" y="457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— What Do You Need?</a:t>
            </a:r>
            <a:endParaRPr lang="en-US" sz="1900" dirty="0"/>
          </a:p>
        </p:txBody>
      </p:sp>
      <p:sp>
        <p:nvSpPr>
          <p:cNvPr id="8" name="Shape 4"/>
          <p:cNvSpPr/>
          <p:nvPr/>
        </p:nvSpPr>
        <p:spPr>
          <a:xfrm>
            <a:off x="182880" y="685800"/>
            <a:ext cx="4251960" cy="4069080"/>
          </a:xfrm>
          <a:prstGeom prst="rect">
            <a:avLst/>
          </a:prstGeom>
          <a:solidFill>
            <a:srgbClr val="E8F5EE"/>
          </a:solidFill>
          <a:ln w="12700">
            <a:solidFill>
              <a:srgbClr val="C8E6D4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182880" y="685800"/>
            <a:ext cx="4251960" cy="384048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10" name="Text 6"/>
          <p:cNvSpPr/>
          <p:nvPr/>
        </p:nvSpPr>
        <p:spPr>
          <a:xfrm>
            <a:off x="228600" y="713232"/>
            <a:ext cx="4160520" cy="32918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Hill Walking Kit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228600" y="1115568"/>
            <a:ext cx="41605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Waterproof boots with ankle support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layer (wicking) → mid layer (fleece) → outer shell (waterproof)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30–45L rucksack fitted correctly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map (waterproof case), compass, route card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2L water, food/snacks, first aid, whistle, foil blanket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709160" y="685800"/>
            <a:ext cx="4251960" cy="4069080"/>
          </a:xfrm>
          <a:prstGeom prst="rect">
            <a:avLst/>
          </a:prstGeom>
          <a:solidFill>
            <a:srgbClr val="E8F5EE"/>
          </a:solidFill>
          <a:ln w="12700">
            <a:solidFill>
              <a:srgbClr val="C8E6D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709160" y="685800"/>
            <a:ext cx="4251960" cy="384048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14" name="Text 10"/>
          <p:cNvSpPr/>
          <p:nvPr/>
        </p:nvSpPr>
        <p:spPr>
          <a:xfrm>
            <a:off x="4754880" y="713232"/>
            <a:ext cx="4160520" cy="32918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Mountain Biking Kit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754880" y="1115568"/>
            <a:ext cx="41605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fitted helmet — non-negotiable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Gloves, knee pads, elbow pads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Moisture-wicking clothing + waterproof layer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Hydration pack (minimum 1.5L)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 kit: inner tube, levers, pump, multi-tool, chain link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0" y="4864608"/>
            <a:ext cx="7315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MH32CY007 | Slide 9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6400800" y="4864608"/>
            <a:ext cx="2743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Brynllywarch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73152" cy="454914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452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91440"/>
            <a:ext cx="539496" cy="402336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09728"/>
            <a:ext cx="795528" cy="3657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14400" y="457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and Safety Requirements</a:t>
            </a:r>
            <a:endParaRPr lang="en-US" sz="1900" dirty="0"/>
          </a:p>
        </p:txBody>
      </p:sp>
      <p:sp>
        <p:nvSpPr>
          <p:cNvPr id="8" name="Shape 4"/>
          <p:cNvSpPr/>
          <p:nvPr/>
        </p:nvSpPr>
        <p:spPr>
          <a:xfrm>
            <a:off x="182880" y="685800"/>
            <a:ext cx="4251960" cy="4069080"/>
          </a:xfrm>
          <a:prstGeom prst="rect">
            <a:avLst/>
          </a:prstGeom>
          <a:solidFill>
            <a:srgbClr val="E8F5EE"/>
          </a:solidFill>
          <a:ln w="12700">
            <a:solidFill>
              <a:srgbClr val="C8E6D4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182880" y="685800"/>
            <a:ext cx="4251960" cy="384048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10" name="Text 6"/>
          <p:cNvSpPr/>
          <p:nvPr/>
        </p:nvSpPr>
        <p:spPr>
          <a:xfrm>
            <a:off x="228600" y="713232"/>
            <a:ext cx="4160520" cy="32918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 — Safety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228600" y="1115568"/>
            <a:ext cx="41605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 check before departure every time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999 and your grid reference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group shelter, whistle (6 blasts = distress)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procedure if lost: Stop, Think, Observe, Plan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incidents reported; near misses logged immediately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709160" y="685800"/>
            <a:ext cx="4251960" cy="4069080"/>
          </a:xfrm>
          <a:prstGeom prst="rect">
            <a:avLst/>
          </a:prstGeom>
          <a:solidFill>
            <a:srgbClr val="E8F5EE"/>
          </a:solidFill>
          <a:ln w="12700">
            <a:solidFill>
              <a:srgbClr val="C8E6D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709160" y="685800"/>
            <a:ext cx="4251960" cy="384048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14" name="Text 10"/>
          <p:cNvSpPr/>
          <p:nvPr/>
        </p:nvSpPr>
        <p:spPr>
          <a:xfrm>
            <a:off x="4754880" y="713232"/>
            <a:ext cx="4160520" cy="32918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Mountain Biking — Safety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754880" y="1115568"/>
            <a:ext cx="41605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M-Check before every ride (follow the M shape)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tyre pressure before every ride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 within your ability — never skip grades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ride alone in remote areas — share your route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Emergency: stop, make safe, call 999, give what3words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0" y="4864608"/>
            <a:ext cx="7315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MH32CY007 | Slide 10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6400800" y="4864608"/>
            <a:ext cx="2743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Brynllywarch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73152" cy="454914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452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91440"/>
            <a:ext cx="539496" cy="402336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09728"/>
            <a:ext cx="795528" cy="3657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14400" y="457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 2.2 — Assessing Your Own Skills</a:t>
            </a:r>
            <a:endParaRPr lang="en-US" sz="1900" dirty="0"/>
          </a:p>
        </p:txBody>
      </p:sp>
      <p:sp>
        <p:nvSpPr>
          <p:cNvPr id="8" name="Text 4"/>
          <p:cNvSpPr/>
          <p:nvPr/>
        </p:nvSpPr>
        <p:spPr>
          <a:xfrm>
            <a:off x="228600" y="685800"/>
            <a:ext cx="868680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self-assessment is a key professional skill — used throughout outdoor education.</a:t>
            </a:r>
            <a:endParaRPr lang="en-US" sz="1700" dirty="0"/>
          </a:p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Consider: fitness and stamina  ·  navigation or riding experience  ·  equipment knowledge  ·  previous activity.</a:t>
            </a:r>
            <a:endParaRPr lang="en-US" sz="1700" dirty="0"/>
          </a:p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at least ONE strength and ONE area for development.</a:t>
            </a:r>
            <a:endParaRPr lang="en-US" sz="1700" dirty="0"/>
          </a:p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sentence starters: 'I am confident at...'  'I need to develop...'  'My experience of... is...'</a:t>
            </a:r>
            <a:endParaRPr lang="en-US" sz="1700" dirty="0"/>
          </a:p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are no wrong answers — this is about YOU, not about having the perfect skill set.</a:t>
            </a:r>
            <a:endParaRPr lang="en-US" sz="1700" dirty="0"/>
          </a:p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Activity: Complete AC 2.2 in your workbook now.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0" y="4864608"/>
            <a:ext cx="7315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MH32CY007 | Slide 11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6400800" y="4864608"/>
            <a:ext cx="2743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Brynllywarch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A6B3C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28600"/>
            <a:ext cx="612648" cy="457200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228600"/>
            <a:ext cx="941832" cy="3657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65760" y="164592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3 — Preparing for Participation</a:t>
            </a:r>
            <a:endParaRPr lang="en-US" sz="3600" dirty="0"/>
          </a:p>
        </p:txBody>
      </p:sp>
      <p:sp>
        <p:nvSpPr>
          <p:cNvPr id="7" name="Text 3"/>
          <p:cNvSpPr/>
          <p:nvPr/>
        </p:nvSpPr>
        <p:spPr>
          <a:xfrm>
            <a:off x="365760" y="237744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 3.1 – 3.2: Kit selection and preparation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0" y="44348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MH32CY007 · Agored Cymru Level 2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73152" cy="454914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452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91440"/>
            <a:ext cx="539496" cy="402336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09728"/>
            <a:ext cx="795528" cy="3657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14400" y="457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Preparing for Your Activity</a:t>
            </a:r>
            <a:endParaRPr lang="en-US" sz="1900" dirty="0"/>
          </a:p>
        </p:txBody>
      </p:sp>
      <p:sp>
        <p:nvSpPr>
          <p:cNvPr id="8" name="Shape 4"/>
          <p:cNvSpPr/>
          <p:nvPr/>
        </p:nvSpPr>
        <p:spPr>
          <a:xfrm>
            <a:off x="182880" y="685800"/>
            <a:ext cx="4251960" cy="4069080"/>
          </a:xfrm>
          <a:prstGeom prst="rect">
            <a:avLst/>
          </a:prstGeom>
          <a:solidFill>
            <a:srgbClr val="E8F5EE"/>
          </a:solidFill>
          <a:ln w="12700">
            <a:solidFill>
              <a:srgbClr val="C8E6D4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182880" y="685800"/>
            <a:ext cx="4251960" cy="384048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10" name="Text 6"/>
          <p:cNvSpPr/>
          <p:nvPr/>
        </p:nvSpPr>
        <p:spPr>
          <a:xfrm>
            <a:off x="228600" y="713232"/>
            <a:ext cx="4160520" cy="32918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Hill Walking — Preparation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228600" y="1115568"/>
            <a:ext cx="41605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 out and check kit against list before departure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rucksack: hip belt, shoulder straps, sternum strap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Lace boots correctly — not too tight, not loose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weather forecast (MWIS for mountain areas)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 route briefing — know emergency exits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709160" y="685800"/>
            <a:ext cx="4251960" cy="4069080"/>
          </a:xfrm>
          <a:prstGeom prst="rect">
            <a:avLst/>
          </a:prstGeom>
          <a:solidFill>
            <a:srgbClr val="E8F5EE"/>
          </a:solidFill>
          <a:ln w="12700">
            <a:solidFill>
              <a:srgbClr val="C8E6D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709160" y="685800"/>
            <a:ext cx="4251960" cy="384048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14" name="Text 10"/>
          <p:cNvSpPr/>
          <p:nvPr/>
        </p:nvSpPr>
        <p:spPr>
          <a:xfrm>
            <a:off x="4754880" y="713232"/>
            <a:ext cx="4160520" cy="32918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Mountain Biking — Preparation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754880" y="1115568"/>
            <a:ext cx="41605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full M-Check before every ride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and inflate tyres to correct pressure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helmet: level, two fingers above eyebrows, V-strap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repair kit, hydration, food, first aid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route plan with someone not on the ride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0" y="4864608"/>
            <a:ext cx="7315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MH32CY007 | Slide 13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6400800" y="4864608"/>
            <a:ext cx="2743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Brynllywarch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73152" cy="454914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452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91440"/>
            <a:ext cx="539496" cy="402336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09728"/>
            <a:ext cx="795528" cy="3657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14400" y="457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Mountain Biking — The M-Check</a:t>
            </a:r>
            <a:endParaRPr lang="en-US" sz="1900" dirty="0"/>
          </a:p>
        </p:txBody>
      </p:sp>
      <p:sp>
        <p:nvSpPr>
          <p:cNvPr id="8" name="Text 4"/>
          <p:cNvSpPr/>
          <p:nvPr/>
        </p:nvSpPr>
        <p:spPr>
          <a:xfrm>
            <a:off x="228600" y="685800"/>
            <a:ext cx="868680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M-Check is a systematic pre-ride safety inspection — follow the letter M through the bike.</a:t>
            </a:r>
            <a:endParaRPr lang="en-US" sz="1700" dirty="0"/>
          </a:p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 Front wheel: tyre condition, pressure, quick-release or axle secure, spokes.</a:t>
            </a:r>
            <a:endParaRPr lang="en-US" sz="1700" dirty="0"/>
          </a:p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 Front forks: no cracks or bends. Headset: no play when brake applied and rocked forward.</a:t>
            </a:r>
            <a:endParaRPr lang="en-US" sz="1700" dirty="0"/>
          </a:p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 Frame: check for cracks, dents, or damage at welds. Bottom bracket: no play.</a:t>
            </a:r>
            <a:endParaRPr lang="en-US" sz="1700" dirty="0"/>
          </a:p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 Rear wheel: tyre condition, pressure, axle secure, spokes.</a:t>
            </a:r>
            <a:endParaRPr lang="en-US" sz="1700" dirty="0"/>
          </a:p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 Drivetrain: chain lubricated and on correctly. Brakes: firm, pads not worn, aligned.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0" y="4864608"/>
            <a:ext cx="7315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MH32CY007 | Slide 14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6400800" y="4864608"/>
            <a:ext cx="2743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Brynllywarch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A6B3C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28600"/>
            <a:ext cx="612648" cy="457200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228600"/>
            <a:ext cx="941832" cy="3657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65760" y="164592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4 — Participating</a:t>
            </a:r>
            <a:endParaRPr lang="en-US" sz="3600" dirty="0"/>
          </a:p>
        </p:txBody>
      </p:sp>
      <p:sp>
        <p:nvSpPr>
          <p:cNvPr id="7" name="Text 3"/>
          <p:cNvSpPr/>
          <p:nvPr/>
        </p:nvSpPr>
        <p:spPr>
          <a:xfrm>
            <a:off x="365760" y="237744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 4.1: Skills, techniques, equipment, safety checks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0" y="44348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MH32CY007 · Agored Cymru Level 2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73152" cy="454914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452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91440"/>
            <a:ext cx="539496" cy="402336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09728"/>
            <a:ext cx="795528" cy="3657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14400" y="457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Hill Walking — Skills and Techniques</a:t>
            </a:r>
            <a:endParaRPr lang="en-US" sz="1900" dirty="0"/>
          </a:p>
        </p:txBody>
      </p:sp>
      <p:sp>
        <p:nvSpPr>
          <p:cNvPr id="8" name="Text 4"/>
          <p:cNvSpPr/>
          <p:nvPr/>
        </p:nvSpPr>
        <p:spPr>
          <a:xfrm>
            <a:off x="228600" y="685800"/>
            <a:ext cx="868680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 technique: heel-to-toe action, shorten stride on steep ascents, lean slightly forward uphill.</a:t>
            </a:r>
            <a:endParaRPr lang="en-US" sz="1700" dirty="0"/>
          </a:p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Descent: face forward on gentle slopes. Sideways or face inward on steep or loose ground. Bend knees.</a:t>
            </a:r>
            <a:endParaRPr lang="en-US" sz="1700" dirty="0"/>
          </a:p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reading: orientate the map to the ground. Identify and follow features — streams, walls, ridges.</a:t>
            </a:r>
            <a:endParaRPr lang="en-US" sz="1700" dirty="0"/>
          </a:p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Compass: set bearing from map. Align with magnetic north. Follow the direction of travel arrow.</a:t>
            </a:r>
            <a:endParaRPr lang="en-US" sz="1700" dirty="0"/>
          </a:p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safety: stay within sight. Support slower members. Report concerns immediately.</a:t>
            </a:r>
            <a:endParaRPr lang="en-US" sz="1700" dirty="0"/>
          </a:p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risk assessment: continuously observe changes in weather, terrain, and group condition.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0" y="4864608"/>
            <a:ext cx="7315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MH32CY007 | Slide 16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6400800" y="4864608"/>
            <a:ext cx="2743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Brynllywarch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73152" cy="454914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452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91440"/>
            <a:ext cx="539496" cy="402336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09728"/>
            <a:ext cx="795528" cy="3657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14400" y="457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Mountain Biking — Skills and Techniques</a:t>
            </a:r>
            <a:endParaRPr lang="en-US" sz="1900" dirty="0"/>
          </a:p>
        </p:txBody>
      </p:sp>
      <p:sp>
        <p:nvSpPr>
          <p:cNvPr id="8" name="Text 4"/>
          <p:cNvSpPr/>
          <p:nvPr/>
        </p:nvSpPr>
        <p:spPr>
          <a:xfrm>
            <a:off x="228600" y="685800"/>
            <a:ext cx="868680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position: neutral (pedals level, knees bent) → attack position (lower, weight back) for technical sections.</a:t>
            </a:r>
            <a:endParaRPr lang="en-US" sz="1700" dirty="0"/>
          </a:p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Climbing: shift gear BEFORE the climb, stay seated, lean forward, maintain consistent cadence.</a:t>
            </a:r>
            <a:endParaRPr lang="en-US" sz="1700" dirty="0"/>
          </a:p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Descent: weight back and low, heels down, arms and legs absorbing trail feedback. Eyes look ahead.</a:t>
            </a:r>
            <a:endParaRPr lang="en-US" sz="1700" dirty="0"/>
          </a:p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Cornering: look through the corner, brake before entry, lean the bike, outside pedal weighted down.</a:t>
            </a:r>
            <a:endParaRPr lang="en-US" sz="1700" dirty="0"/>
          </a:p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Obstacle riding: unweight the bike slightly over roots and rocks — do not brake on the obstacle.</a:t>
            </a:r>
            <a:endParaRPr lang="en-US" sz="1700" dirty="0"/>
          </a:p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safety: monitor tyres and brakes. Stop and check if you hear or feel something unusual.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0" y="4864608"/>
            <a:ext cx="7315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MH32CY007 | Slide 17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6400800" y="4864608"/>
            <a:ext cx="2743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Brynllywarch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73152" cy="454914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452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91440"/>
            <a:ext cx="539496" cy="402336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09728"/>
            <a:ext cx="795528" cy="3657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14400" y="457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Your Assessor Will Look For (AC 4.1)</a:t>
            </a:r>
            <a:endParaRPr lang="en-US" sz="1900" dirty="0"/>
          </a:p>
        </p:txBody>
      </p:sp>
      <p:sp>
        <p:nvSpPr>
          <p:cNvPr id="8" name="Shape 4"/>
          <p:cNvSpPr/>
          <p:nvPr/>
        </p:nvSpPr>
        <p:spPr>
          <a:xfrm>
            <a:off x="182880" y="685800"/>
            <a:ext cx="4251960" cy="4069080"/>
          </a:xfrm>
          <a:prstGeom prst="rect">
            <a:avLst/>
          </a:prstGeom>
          <a:solidFill>
            <a:srgbClr val="E8F5EE"/>
          </a:solidFill>
          <a:ln w="12700">
            <a:solidFill>
              <a:srgbClr val="C8E6D4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182880" y="685800"/>
            <a:ext cx="4251960" cy="384048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10" name="Text 6"/>
          <p:cNvSpPr/>
          <p:nvPr/>
        </p:nvSpPr>
        <p:spPr>
          <a:xfrm>
            <a:off x="228600" y="713232"/>
            <a:ext cx="4160520" cy="32918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Hill Walking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228600" y="1115568"/>
            <a:ext cx="41605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TWO different techniques observed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Wearing and using correct equipment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Participating in safety checks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Adapting to terrain conditions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Behaviours that show dynamic risk awareness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709160" y="685800"/>
            <a:ext cx="4251960" cy="4069080"/>
          </a:xfrm>
          <a:prstGeom prst="rect">
            <a:avLst/>
          </a:prstGeom>
          <a:solidFill>
            <a:srgbClr val="E8F5EE"/>
          </a:solidFill>
          <a:ln w="12700">
            <a:solidFill>
              <a:srgbClr val="C8E6D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709160" y="685800"/>
            <a:ext cx="4251960" cy="384048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14" name="Text 10"/>
          <p:cNvSpPr/>
          <p:nvPr/>
        </p:nvSpPr>
        <p:spPr>
          <a:xfrm>
            <a:off x="4754880" y="713232"/>
            <a:ext cx="4160520" cy="32918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Mountain Biking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754880" y="1115568"/>
            <a:ext cx="41605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TWO different techniques observed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Helmet worn at all times during the ride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Protective gear worn correctly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Staying on marked trail grade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Stopping and checking if something feels wrong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0" y="4864608"/>
            <a:ext cx="7315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MH32CY007 | Slide 18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6400800" y="4864608"/>
            <a:ext cx="2743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Brynllywarch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A6B3C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28600"/>
            <a:ext cx="612648" cy="457200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228600"/>
            <a:ext cx="941832" cy="3657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65760" y="164592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5 — Equipment Maintenance</a:t>
            </a:r>
            <a:endParaRPr lang="en-US" sz="3600" dirty="0"/>
          </a:p>
        </p:txBody>
      </p:sp>
      <p:sp>
        <p:nvSpPr>
          <p:cNvPr id="7" name="Text 3"/>
          <p:cNvSpPr/>
          <p:nvPr/>
        </p:nvSpPr>
        <p:spPr>
          <a:xfrm>
            <a:off x="365760" y="237744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 5.1: Maintain your kit after the activity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0" y="44348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MH32CY007 · Agored Cymru Level 2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73152" cy="454914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452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91440"/>
            <a:ext cx="539496" cy="402336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09728"/>
            <a:ext cx="795528" cy="3657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14400" y="457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After Your Kit</a:t>
            </a:r>
            <a:endParaRPr lang="en-US" sz="1900" dirty="0"/>
          </a:p>
        </p:txBody>
      </p:sp>
      <p:sp>
        <p:nvSpPr>
          <p:cNvPr id="8" name="Shape 4"/>
          <p:cNvSpPr/>
          <p:nvPr/>
        </p:nvSpPr>
        <p:spPr>
          <a:xfrm>
            <a:off x="182880" y="685800"/>
            <a:ext cx="4251960" cy="4069080"/>
          </a:xfrm>
          <a:prstGeom prst="rect">
            <a:avLst/>
          </a:prstGeom>
          <a:solidFill>
            <a:srgbClr val="E8F5EE"/>
          </a:solidFill>
          <a:ln w="12700">
            <a:solidFill>
              <a:srgbClr val="C8E6D4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182880" y="685800"/>
            <a:ext cx="4251960" cy="384048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10" name="Text 6"/>
          <p:cNvSpPr/>
          <p:nvPr/>
        </p:nvSpPr>
        <p:spPr>
          <a:xfrm>
            <a:off x="228600" y="713232"/>
            <a:ext cx="4160520" cy="32918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 Hill Walk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228600" y="1115568"/>
            <a:ext cx="41605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Boots: brush off mud, air dry — NOT near direct heat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Waterproofs: hang to dry, re-proof with DWR spray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Rucksack: empty, air out, wipe down, check zips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Map: dry if wet, store folded in case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aid kit: restock used items, check expiry dates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709160" y="685800"/>
            <a:ext cx="4251960" cy="4069080"/>
          </a:xfrm>
          <a:prstGeom prst="rect">
            <a:avLst/>
          </a:prstGeom>
          <a:solidFill>
            <a:srgbClr val="E8F5EE"/>
          </a:solidFill>
          <a:ln w="12700">
            <a:solidFill>
              <a:srgbClr val="C8E6D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709160" y="685800"/>
            <a:ext cx="4251960" cy="384048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14" name="Text 10"/>
          <p:cNvSpPr/>
          <p:nvPr/>
        </p:nvSpPr>
        <p:spPr>
          <a:xfrm>
            <a:off x="4754880" y="713232"/>
            <a:ext cx="4160520" cy="32918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 Mountain Bike Ride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754880" y="1115568"/>
            <a:ext cx="41605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Rinse mud — soft brush on frame, tyres, cassette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 and lubricate chain: apply sparingly, wipe excess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Re-inflate tyres to correct pressure, check for cuts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brake pads — replace if worn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frame for cracks. Hang wet kit to air dry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0" y="4864608"/>
            <a:ext cx="7315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MH32CY007 | Slide 20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6400800" y="4864608"/>
            <a:ext cx="2743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Brynllywarch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73152" cy="454914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452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91440"/>
            <a:ext cx="539496" cy="402336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09728"/>
            <a:ext cx="795528" cy="3657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14400" y="457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Equipment Maintenance Matters</a:t>
            </a:r>
            <a:endParaRPr lang="en-US" sz="1900" dirty="0"/>
          </a:p>
        </p:txBody>
      </p:sp>
      <p:sp>
        <p:nvSpPr>
          <p:cNvPr id="8" name="Text 4"/>
          <p:cNvSpPr/>
          <p:nvPr/>
        </p:nvSpPr>
        <p:spPr>
          <a:xfrm>
            <a:off x="228600" y="685800"/>
            <a:ext cx="868680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Well-maintained kit is safer — faults are found before they cause problems in the field.</a:t>
            </a:r>
            <a:endParaRPr lang="en-US" sz="1700" dirty="0"/>
          </a:p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 lasts longer — waterproofing, chains, and brake pads are significantly extended by correct care.</a:t>
            </a:r>
            <a:endParaRPr lang="en-US" sz="1700" dirty="0"/>
          </a:p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is a professional habit — outdoor leaders and cyclists maintain kit as standard practice.</a:t>
            </a:r>
            <a:endParaRPr lang="en-US" sz="1700" dirty="0"/>
          </a:p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to maintain kit is a performance issue: worn brake pads, soaked waterproofs, dirty chains all reduce safety.</a:t>
            </a:r>
            <a:endParaRPr lang="en-US" sz="1700" dirty="0"/>
          </a:p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Activity: After today's session, complete AC 5.1 in your workbook — describe what you maintained and how.</a:t>
            </a:r>
            <a:endParaRPr lang="en-US" sz="1700" dirty="0"/>
          </a:p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assessor will observe your maintenance process — be systematic and thorough.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0" y="4864608"/>
            <a:ext cx="7315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MH32CY007 | Slide 21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6400800" y="4864608"/>
            <a:ext cx="2743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Brynllywarch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A6B3C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28600"/>
            <a:ext cx="612648" cy="457200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228600"/>
            <a:ext cx="941832" cy="3657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65760" y="164592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6 — Self-Assessment</a:t>
            </a:r>
            <a:endParaRPr lang="en-US" sz="3600" dirty="0"/>
          </a:p>
        </p:txBody>
      </p:sp>
      <p:sp>
        <p:nvSpPr>
          <p:cNvPr id="7" name="Text 3"/>
          <p:cNvSpPr/>
          <p:nvPr/>
        </p:nvSpPr>
        <p:spPr>
          <a:xfrm>
            <a:off x="365760" y="237744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 6.1: Assess your own participation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0" y="44348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MH32CY007 · Agored Cymru Level 2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73152" cy="454914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452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91440"/>
            <a:ext cx="539496" cy="402336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09728"/>
            <a:ext cx="795528" cy="3657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14400" y="457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Write a Strong Self-Assessment</a:t>
            </a:r>
            <a:endParaRPr lang="en-US" sz="1900" dirty="0"/>
          </a:p>
        </p:txBody>
      </p:sp>
      <p:sp>
        <p:nvSpPr>
          <p:cNvPr id="8" name="Text 4"/>
          <p:cNvSpPr/>
          <p:nvPr/>
        </p:nvSpPr>
        <p:spPr>
          <a:xfrm>
            <a:off x="228600" y="685800"/>
            <a:ext cx="868680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SPECIFIC — name the exact moment, trail section, or skill you are reflecting on.</a:t>
            </a:r>
            <a:endParaRPr lang="en-US" sz="1700" dirty="0"/>
          </a:p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both strengths AND areas for development — honest reflection is more valuable than praise.</a:t>
            </a:r>
            <a:endParaRPr lang="en-US" sz="1700" dirty="0"/>
          </a:p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 CONCRETE improvements — not just 'get better' but 'practise compass bearings on the school field'.</a:t>
            </a:r>
            <a:endParaRPr lang="en-US" sz="1700" dirty="0"/>
          </a:p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 to: technical skills  ·  preparation  ·  safety  ·  teamwork  ·  fitness.</a:t>
            </a:r>
            <a:endParaRPr lang="en-US" sz="1700" dirty="0"/>
          </a:p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Avoid: 'I enjoyed it' without further analysis — this does not meet the criterion alone.</a:t>
            </a:r>
            <a:endParaRPr lang="en-US" sz="1700" dirty="0"/>
          </a:p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starters: 'I performed well at...'  'I found it challenging when...'  'Next time I would...'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0" y="4864608"/>
            <a:ext cx="7315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MH32CY007 | Slide 23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6400800" y="4864608"/>
            <a:ext cx="2743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Brynllywarch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73152" cy="454914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452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91440"/>
            <a:ext cx="539496" cy="402336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09728"/>
            <a:ext cx="795528" cy="3657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14400" y="457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Self-Assessment — Sentence Starters</a:t>
            </a:r>
            <a:endParaRPr lang="en-US" sz="1900" dirty="0"/>
          </a:p>
        </p:txBody>
      </p:sp>
      <p:sp>
        <p:nvSpPr>
          <p:cNvPr id="8" name="Shape 4"/>
          <p:cNvSpPr/>
          <p:nvPr/>
        </p:nvSpPr>
        <p:spPr>
          <a:xfrm>
            <a:off x="182880" y="685800"/>
            <a:ext cx="4251960" cy="4069080"/>
          </a:xfrm>
          <a:prstGeom prst="rect">
            <a:avLst/>
          </a:prstGeom>
          <a:solidFill>
            <a:srgbClr val="E8F5EE"/>
          </a:solidFill>
          <a:ln w="12700">
            <a:solidFill>
              <a:srgbClr val="C8E6D4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182880" y="685800"/>
            <a:ext cx="4251960" cy="384048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10" name="Text 6"/>
          <p:cNvSpPr/>
          <p:nvPr/>
        </p:nvSpPr>
        <p:spPr>
          <a:xfrm>
            <a:off x="228600" y="713232"/>
            <a:ext cx="4160520" cy="32918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went well?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228600" y="1115568"/>
            <a:ext cx="41605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'I navigated confidently when the path disappeared and used my compass to...'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'I performed well on the descent by keeping my weight back and...'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'I found the M-Check straightforward and identified...'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'I supported another group member when they found the hill difficult by...'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709160" y="685800"/>
            <a:ext cx="4251960" cy="4069080"/>
          </a:xfrm>
          <a:prstGeom prst="rect">
            <a:avLst/>
          </a:prstGeom>
          <a:solidFill>
            <a:srgbClr val="E8F5EE"/>
          </a:solidFill>
          <a:ln w="12700">
            <a:solidFill>
              <a:srgbClr val="C8E6D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709160" y="685800"/>
            <a:ext cx="4251960" cy="384048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14" name="Text 10"/>
          <p:cNvSpPr/>
          <p:nvPr/>
        </p:nvSpPr>
        <p:spPr>
          <a:xfrm>
            <a:off x="4754880" y="713232"/>
            <a:ext cx="4160520" cy="32918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could improve?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754880" y="1115568"/>
            <a:ext cx="41605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'I need to develop my compass bearing technique because...'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'I found the steep descent challenging and braked too much in the corners, which...'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'Next time I would arrive with my kit already packed so that...'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'I want to improve my fitness for climbing by...'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0" y="4864608"/>
            <a:ext cx="7315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MH32CY007 | Slide 24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6400800" y="4864608"/>
            <a:ext cx="2743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Brynllywarch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73152" cy="454914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452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91440"/>
            <a:ext cx="539496" cy="402336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09728"/>
            <a:ext cx="795528" cy="3657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14400" y="457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Summary — What You Need to Produce</a:t>
            </a:r>
            <a:endParaRPr lang="en-US" sz="1900" dirty="0"/>
          </a:p>
        </p:txBody>
      </p:sp>
      <p:sp>
        <p:nvSpPr>
          <p:cNvPr id="8" name="Text 4"/>
          <p:cNvSpPr/>
          <p:nvPr/>
        </p:nvSpPr>
        <p:spPr>
          <a:xfrm>
            <a:off x="228600" y="685800"/>
            <a:ext cx="868680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Written workbook answers — complete all AC boxes in LO 1, 2, and 6.</a:t>
            </a:r>
            <a:endParaRPr lang="en-US" sz="1700" dirty="0"/>
          </a:p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Practical evidence — your assessor observes LO 3 (preparation), LO 4 (participation), and LO 5 (maintenance).</a:t>
            </a:r>
            <a:endParaRPr lang="en-US" sz="1700" dirty="0"/>
          </a:p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Photo or audio evidence — upload to the digital workbook or attach to the printed workbook.</a:t>
            </a:r>
            <a:endParaRPr lang="en-US" sz="1700" dirty="0"/>
          </a:p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Criteria Evidence Checklist — tick each AC when your evidence is ready.</a:t>
            </a:r>
            <a:endParaRPr lang="en-US" sz="1700" dirty="0"/>
          </a:p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Student Declaration — sign when all work is complete.</a:t>
            </a:r>
            <a:endParaRPr lang="en-US" sz="1700" dirty="0"/>
          </a:p>
          <a:p>
            <a:pPr>
              <a:spcBef>
                <a:spcPts val="600"/>
              </a:spcBef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 criterion uses a plural (e.g. 'a range'), a minimum of TWO examples is required.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0" y="4864608"/>
            <a:ext cx="7315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MH32CY007 | Slide 25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6400800" y="4864608"/>
            <a:ext cx="2743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Brynllywarch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D4AF3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28600"/>
            <a:ext cx="795528" cy="594360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28600"/>
            <a:ext cx="1033272" cy="5029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57200" y="137160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Outside. Get Moving.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457200" y="219456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MH32CY007 — Hill Walking &amp; Mountain Biking</a:t>
            </a:r>
            <a:endParaRPr lang="en-US" sz="2000" dirty="0"/>
          </a:p>
        </p:txBody>
      </p:sp>
      <p:sp>
        <p:nvSpPr>
          <p:cNvPr id="9" name="Text 5"/>
          <p:cNvSpPr/>
          <p:nvPr/>
        </p:nvSpPr>
        <p:spPr>
          <a:xfrm>
            <a:off x="914400" y="2834640"/>
            <a:ext cx="7315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questions? Ask your teacher or refer to your workbook.
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Digital workbook: auto-saves and exports to JSON
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Printed workbook: available from your teacher
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Assessor password: Agored2025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0" y="4453128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Brynllywarch  |  Jonathan Jones  |  Agored Cymru Level 2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MH32CY007 Participate in a Land-based Activity — Walking &amp; Mountain Biking</dc:title>
  <dc:subject>PptxGenJS Presentation</dc:subject>
  <dc:creator>Jonathan Jones</dc:creator>
  <cp:lastModifiedBy>Jonathan Jones</cp:lastModifiedBy>
  <cp:revision>1</cp:revision>
  <dcterms:created xsi:type="dcterms:W3CDTF">2026-05-02T19:26:04Z</dcterms:created>
  <dcterms:modified xsi:type="dcterms:W3CDTF">2026-05-02T19:26:04Z</dcterms:modified>
</cp:coreProperties>
</file>