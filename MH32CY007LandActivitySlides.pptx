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6B3C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457200"/>
            <a:ext cx="914400" cy="914400"/>
          </a:xfrm>
          <a:prstGeom prst="rect">
            <a:avLst/>
          </a:prstGeom>
        </p:spPr>
      </p:pic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502920"/>
            <a:ext cx="1188720" cy="7315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31520" y="201168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3600" dirty="0"/>
          </a:p>
        </p:txBody>
      </p:sp>
      <p:sp>
        <p:nvSpPr>
          <p:cNvPr id="6" name="Text 2"/>
          <p:cNvSpPr/>
          <p:nvPr/>
        </p:nvSpPr>
        <p:spPr>
          <a:xfrm>
            <a:off x="731520" y="310896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MH32CY007 · Agored Cymru Level 2 · Learning in the Outdoors · 3 Credits</a:t>
            </a:r>
            <a:endParaRPr lang="en-US" sz="1800" dirty="0"/>
          </a:p>
        </p:txBody>
      </p:sp>
      <p:sp>
        <p:nvSpPr>
          <p:cNvPr id="7" name="Shape 3"/>
          <p:cNvSpPr/>
          <p:nvPr/>
        </p:nvSpPr>
        <p:spPr>
          <a:xfrm>
            <a:off x="1463040" y="393192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1463040" y="39319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663440" y="393192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663440" y="39319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863840" y="393192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863840" y="393192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Running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1463040" y="498348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1463040" y="4983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Orienteering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4663440" y="498348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663440" y="4983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Climbing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7863840" y="4983480"/>
            <a:ext cx="2926080" cy="822960"/>
          </a:xfrm>
          <a:prstGeom prst="rect">
            <a:avLst/>
          </a:prstGeom>
          <a:solidFill>
            <a:srgbClr val="0F4525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863840" y="4983480"/>
            <a:ext cx="29260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Scrambling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3657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Overview</a:t>
            </a:r>
            <a:endParaRPr lang="en-US" sz="3000" dirty="0"/>
          </a:p>
        </p:txBody>
      </p:sp>
      <p:sp>
        <p:nvSpPr>
          <p:cNvPr id="5" name="Shape 1"/>
          <p:cNvSpPr/>
          <p:nvPr/>
        </p:nvSpPr>
        <p:spPr>
          <a:xfrm>
            <a:off x="548640" y="123444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731520" y="1307592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LO1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1737360" y="1307592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range of land-based activities</a:t>
            </a:r>
            <a:endParaRPr lang="en-US" sz="1400" dirty="0"/>
          </a:p>
        </p:txBody>
      </p:sp>
      <p:sp>
        <p:nvSpPr>
          <p:cNvPr id="8" name="Text 4"/>
          <p:cNvSpPr/>
          <p:nvPr/>
        </p:nvSpPr>
        <p:spPr>
          <a:xfrm>
            <a:off x="9418320" y="130759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1.1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2112264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731520" y="2185416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LO2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1737360" y="2185416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requirements of a land-based activity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418320" y="2185416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2.1-2.4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548640" y="2990088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31520" y="3063240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LO3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1737360" y="3063240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prepare for participation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9418320" y="3063240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3.1, 3.2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548640" y="3867912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31520" y="3941064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LO4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1737360" y="3941064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participate in a land-based activity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9418320" y="3941064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4.1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4745736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731520" y="4818888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LO5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1737360" y="4818888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maintain equipment used</a:t>
            </a:r>
            <a:endParaRPr lang="en-US" sz="1400" dirty="0"/>
          </a:p>
        </p:txBody>
      </p:sp>
      <p:sp>
        <p:nvSpPr>
          <p:cNvPr id="24" name="Text 20"/>
          <p:cNvSpPr/>
          <p:nvPr/>
        </p:nvSpPr>
        <p:spPr>
          <a:xfrm>
            <a:off x="9418320" y="4818888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5.1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548640" y="562356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6" name="Text 22"/>
          <p:cNvSpPr/>
          <p:nvPr/>
        </p:nvSpPr>
        <p:spPr>
          <a:xfrm>
            <a:off x="731520" y="5696712"/>
            <a:ext cx="9144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LO6</a:t>
            </a:r>
            <a:endParaRPr lang="en-US" sz="1800" dirty="0"/>
          </a:p>
        </p:txBody>
      </p:sp>
      <p:sp>
        <p:nvSpPr>
          <p:cNvPr id="27" name="Text 23"/>
          <p:cNvSpPr/>
          <p:nvPr/>
        </p:nvSpPr>
        <p:spPr>
          <a:xfrm>
            <a:off x="1737360" y="5696712"/>
            <a:ext cx="768096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assess own participation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9418320" y="5696712"/>
            <a:ext cx="182880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6.1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548640" y="58521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your own specific land-based activity in LO2 — mountain biking, hill walking, trail running, orienteering, or another activity.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1" name="Text 27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 1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a range of land-based activities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AC 1.1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5" name="Text 1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1.1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36576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of Land-based Activity</a:t>
            </a:r>
            <a:endParaRPr lang="en-US" sz="2600" dirty="0"/>
          </a:p>
        </p:txBody>
      </p:sp>
      <p:sp>
        <p:nvSpPr>
          <p:cNvPr id="7" name="Shape 3"/>
          <p:cNvSpPr/>
          <p:nvPr/>
        </p:nvSpPr>
        <p:spPr>
          <a:xfrm>
            <a:off x="548640" y="128016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7240" y="128016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Biking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3749040" y="128016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Riding off-road on trails, tracks or purpose-built centres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48640" y="214884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7240" y="214884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3749040" y="214884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Walking on hills and mountains, usually with a planned route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548640" y="301752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77240" y="301752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Trail Running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3749040" y="301752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off-road on natural terrain — paths, tracks, hills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548640" y="388620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77240" y="388620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Orienteering</a:t>
            </a:r>
            <a:endParaRPr lang="en-US" sz="1500" dirty="0"/>
          </a:p>
        </p:txBody>
      </p:sp>
      <p:sp>
        <p:nvSpPr>
          <p:cNvPr id="18" name="Text 14"/>
          <p:cNvSpPr/>
          <p:nvPr/>
        </p:nvSpPr>
        <p:spPr>
          <a:xfrm>
            <a:off x="3749040" y="388620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Navigating between marked control points on a map, against the clock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548640" y="475488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0" name="Text 16"/>
          <p:cNvSpPr/>
          <p:nvPr/>
        </p:nvSpPr>
        <p:spPr>
          <a:xfrm>
            <a:off x="777240" y="475488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Rock Climbing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3749040" y="475488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Climbing natural rock or an artificial wall, usually roped for protection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48640" y="5623560"/>
            <a:ext cx="10881360" cy="749808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23" name="Text 19"/>
          <p:cNvSpPr/>
          <p:nvPr/>
        </p:nvSpPr>
        <p:spPr>
          <a:xfrm>
            <a:off x="777240" y="5623560"/>
            <a:ext cx="2926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Scrambling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3749040" y="5623560"/>
            <a:ext cx="749808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between hillwalking and climbing, often using hands, sometimes roped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6" name="Text 22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 2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 the requirements of a land-based activity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AC 2.1, 2.2, 2.3, 2.4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5" name="Text 1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2.4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Essentials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548640" y="1371600"/>
            <a:ext cx="10881360" cy="105156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7240" y="1463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system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7240" y="182880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Base, mid and outer layers manage temperature and moisture — never cotton next to skin.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560320"/>
            <a:ext cx="10881360" cy="105156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7240" y="26517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 &amp; terrain check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7240" y="301752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before setting out — be ready to change plans or turn back.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3749040"/>
            <a:ext cx="10881360" cy="105156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77240" y="38404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7240" y="420624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map and compass carried and understood, even when using GPS or a phone app.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4937760"/>
            <a:ext cx="10881360" cy="105156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3"/>
          <p:cNvSpPr/>
          <p:nvPr/>
        </p:nvSpPr>
        <p:spPr>
          <a:xfrm>
            <a:off x="777240" y="5029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management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777240" y="5394960"/>
            <a:ext cx="104241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set by the slowest or least experienced member, with a clear exit route planned.</a:t>
            </a:r>
            <a:endParaRPr lang="en-US" sz="1400" dirty="0"/>
          </a:p>
        </p:txBody>
      </p:sp>
      <p:sp>
        <p:nvSpPr>
          <p:cNvPr id="19" name="Shape 15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0" name="Text 16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21" name="Text 17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5" name="Text 1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2.2-2.3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Skills, Equipment &amp; Assessing Yourself</a:t>
            </a:r>
            <a:endParaRPr lang="en-US" sz="2400" dirty="0"/>
          </a:p>
        </p:txBody>
      </p:sp>
      <p:sp>
        <p:nvSpPr>
          <p:cNvPr id="7" name="Shape 3"/>
          <p:cNvSpPr/>
          <p:nvPr/>
        </p:nvSpPr>
        <p:spPr>
          <a:xfrm>
            <a:off x="548640" y="13716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548640" y="13716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Helmet (biking/climbing)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4251960" y="13716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0" name="Text 6"/>
          <p:cNvSpPr/>
          <p:nvPr/>
        </p:nvSpPr>
        <p:spPr>
          <a:xfrm>
            <a:off x="4251960" y="13716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Appropriate footwear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7955280" y="13716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2" name="Text 8"/>
          <p:cNvSpPr/>
          <p:nvPr/>
        </p:nvSpPr>
        <p:spPr>
          <a:xfrm>
            <a:off x="7955280" y="13716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Weatherproof clothing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27432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548640" y="27432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&amp; compass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4251960" y="27432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251960" y="27432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torch / spare layers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7955280" y="2743200"/>
            <a:ext cx="352044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7955280" y="2743200"/>
            <a:ext cx="3520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aid kit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48640" y="429768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AC 2.2, honestly compare your own current ability to the skills your chosen activity actually requires — this isn't about being perfect, it's about knowing where you are.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21" name="Text 17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22" name="Text 18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 3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prepare for participation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AC 3.1, 3.2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45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OUTCOME 4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able to participate in a land-based activity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731520" y="39319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AC 4.1 — assessed by practical demonstration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solidFill>
            <a:srgbClr val="C8A951"/>
          </a:solidFill>
          <a:ln/>
        </p:spPr>
      </p:sp>
      <p:sp>
        <p:nvSpPr>
          <p:cNvPr id="5" name="Text 1"/>
          <p:cNvSpPr/>
          <p:nvPr/>
        </p:nvSpPr>
        <p:spPr>
          <a:xfrm>
            <a:off x="10149840" y="9601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 4.1</a:t>
            </a:r>
            <a:endParaRPr lang="en-US" sz="1300" dirty="0"/>
          </a:p>
        </p:txBody>
      </p:sp>
      <p:sp>
        <p:nvSpPr>
          <p:cNvPr id="6" name="Text 2"/>
          <p:cNvSpPr/>
          <p:nvPr/>
        </p:nvSpPr>
        <p:spPr>
          <a:xfrm>
            <a:off x="548640" y="3657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the Trail</a:t>
            </a:r>
            <a:endParaRPr lang="en-US" sz="2800" dirty="0"/>
          </a:p>
        </p:txBody>
      </p:sp>
      <p:sp>
        <p:nvSpPr>
          <p:cNvPr id="7" name="Shape 3"/>
          <p:cNvSpPr/>
          <p:nvPr/>
        </p:nvSpPr>
        <p:spPr>
          <a:xfrm>
            <a:off x="548640" y="1371600"/>
            <a:ext cx="1088136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8" name="Text 4"/>
          <p:cNvSpPr/>
          <p:nvPr/>
        </p:nvSpPr>
        <p:spPr>
          <a:xfrm>
            <a:off x="777240" y="14630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range of skills and techniques</a:t>
            </a:r>
            <a:endParaRPr lang="en-US" sz="1700" dirty="0"/>
          </a:p>
        </p:txBody>
      </p:sp>
      <p:sp>
        <p:nvSpPr>
          <p:cNvPr id="9" name="Text 5"/>
          <p:cNvSpPr/>
          <p:nvPr/>
        </p:nvSpPr>
        <p:spPr>
          <a:xfrm>
            <a:off x="777240" y="187452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Demonstrated appropriate to your specific activity and ability level.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743200"/>
            <a:ext cx="1088136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7240" y="28346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correct equipment and resources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777240" y="324612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and used exactly as prepared in LO3.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548640" y="4114800"/>
            <a:ext cx="10881360" cy="118872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4" name="Text 10"/>
          <p:cNvSpPr/>
          <p:nvPr/>
        </p:nvSpPr>
        <p:spPr>
          <a:xfrm>
            <a:off x="777240" y="42062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checks appropriate to the activity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77240" y="4617720"/>
            <a:ext cx="104241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 out before and during participation, not just planned on paper.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7" name="Text 13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36576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the Activity: Maintain &amp; Reflect</a:t>
            </a: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6" name="Text 2"/>
          <p:cNvSpPr/>
          <p:nvPr/>
        </p:nvSpPr>
        <p:spPr>
          <a:xfrm>
            <a:off x="777240" y="1508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LO5 — Maintain Equipment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868680" y="201168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off mud or grit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fully before storing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damage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correctly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6126480" y="1371600"/>
            <a:ext cx="5303520" cy="4114800"/>
          </a:xfrm>
          <a:prstGeom prst="rect">
            <a:avLst/>
          </a:prstGeom>
          <a:solidFill>
            <a:srgbClr val="E8F5EE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6355080" y="1508760"/>
            <a:ext cx="4846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LO6 — Assess Own Participation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6446520" y="2011680"/>
            <a:ext cx="46634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challenging?</a:t>
            </a:r>
            <a:endParaRPr lang="en-US" sz="1400" dirty="0"/>
          </a:p>
          <a:p>
            <a:pPr marL="342900" indent="-342900">
              <a:spcAft>
                <a:spcPts val="1000"/>
              </a:spcAft>
              <a:buSzPct val="100000"/>
              <a:buChar char="●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would you prepare differently?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12" name="Text 8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13" name="Text 9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182880"/>
            <a:ext cx="777240" cy="77724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0" y="256032"/>
            <a:ext cx="960120" cy="59436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54864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6B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— Key Terms</a:t>
            </a:r>
            <a:endParaRPr lang="en-US" sz="2600" dirty="0"/>
          </a:p>
        </p:txBody>
      </p:sp>
      <p:sp>
        <p:nvSpPr>
          <p:cNvPr id="5" name="Shape 1"/>
          <p:cNvSpPr/>
          <p:nvPr/>
        </p:nvSpPr>
        <p:spPr>
          <a:xfrm>
            <a:off x="548640" y="1298448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6" name="Text 2"/>
          <p:cNvSpPr/>
          <p:nvPr/>
        </p:nvSpPr>
        <p:spPr>
          <a:xfrm>
            <a:off x="640080" y="13441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Layering system</a:t>
            </a: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640080" y="164592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temperature and moisture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4251960" y="1298448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9" name="Text 5"/>
          <p:cNvSpPr/>
          <p:nvPr/>
        </p:nvSpPr>
        <p:spPr>
          <a:xfrm>
            <a:off x="4343400" y="13441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Hypothermia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343400" y="164592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Dangerous drop in body temperature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955280" y="1298448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2" name="Text 8"/>
          <p:cNvSpPr/>
          <p:nvPr/>
        </p:nvSpPr>
        <p:spPr>
          <a:xfrm>
            <a:off x="8046720" y="134416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46720" y="164592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a map and compass to find your way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2084832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5" name="Text 11"/>
          <p:cNvSpPr/>
          <p:nvPr/>
        </p:nvSpPr>
        <p:spPr>
          <a:xfrm>
            <a:off x="640080" y="213055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Terrain assessment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40080" y="2432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ground conditions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251960" y="2084832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13055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management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4343400" y="2432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Pace set by the least experienced</a:t>
            </a:r>
            <a:endParaRPr lang="en-US" sz="1050" dirty="0"/>
          </a:p>
        </p:txBody>
      </p:sp>
      <p:sp>
        <p:nvSpPr>
          <p:cNvPr id="20" name="Shape 16"/>
          <p:cNvSpPr/>
          <p:nvPr/>
        </p:nvSpPr>
        <p:spPr>
          <a:xfrm>
            <a:off x="7955280" y="2084832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1" name="Text 17"/>
          <p:cNvSpPr/>
          <p:nvPr/>
        </p:nvSpPr>
        <p:spPr>
          <a:xfrm>
            <a:off x="8046720" y="213055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 route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8046720" y="2432304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Shorter route off the hill if needed</a:t>
            </a:r>
            <a:endParaRPr lang="en-US" sz="1050" dirty="0"/>
          </a:p>
        </p:txBody>
      </p:sp>
      <p:sp>
        <p:nvSpPr>
          <p:cNvPr id="23" name="Shape 19"/>
          <p:cNvSpPr/>
          <p:nvPr/>
        </p:nvSpPr>
        <p:spPr>
          <a:xfrm>
            <a:off x="548640" y="2871216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4" name="Text 20"/>
          <p:cNvSpPr/>
          <p:nvPr/>
        </p:nvSpPr>
        <p:spPr>
          <a:xfrm>
            <a:off x="640080" y="29169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Scrambling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640080" y="3218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Between hillwalking and climbing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4251960" y="2871216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29169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Orienteering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343400" y="3218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sport against the clock</a:t>
            </a:r>
            <a:endParaRPr lang="en-US" sz="1050" dirty="0"/>
          </a:p>
        </p:txBody>
      </p:sp>
      <p:sp>
        <p:nvSpPr>
          <p:cNvPr id="29" name="Shape 25"/>
          <p:cNvSpPr/>
          <p:nvPr/>
        </p:nvSpPr>
        <p:spPr>
          <a:xfrm>
            <a:off x="7955280" y="2871216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0" name="Text 26"/>
          <p:cNvSpPr/>
          <p:nvPr/>
        </p:nvSpPr>
        <p:spPr>
          <a:xfrm>
            <a:off x="8046720" y="2916936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British Cycling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8046720" y="3218688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cycle sport governing body</a:t>
            </a:r>
            <a:endParaRPr lang="en-US" sz="1050" dirty="0"/>
          </a:p>
        </p:txBody>
      </p:sp>
      <p:sp>
        <p:nvSpPr>
          <p:cNvPr id="32" name="Shape 28"/>
          <p:cNvSpPr/>
          <p:nvPr/>
        </p:nvSpPr>
        <p:spPr>
          <a:xfrm>
            <a:off x="548640" y="3657600"/>
            <a:ext cx="3520440" cy="694944"/>
          </a:xfrm>
          <a:prstGeom prst="rect">
            <a:avLst/>
          </a:prstGeom>
          <a:solidFill>
            <a:srgbClr val="E8F5EE"/>
          </a:solidFill>
          <a:ln/>
        </p:spPr>
      </p:sp>
      <p:sp>
        <p:nvSpPr>
          <p:cNvPr id="33" name="Text 29"/>
          <p:cNvSpPr/>
          <p:nvPr/>
        </p:nvSpPr>
        <p:spPr>
          <a:xfrm>
            <a:off x="640080" y="370332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45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BMC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40080" y="4005072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Hill walking/climbing body for England &amp; Wales</a:t>
            </a:r>
            <a:endParaRPr lang="en-US" sz="1050" dirty="0"/>
          </a:p>
        </p:txBody>
      </p:sp>
      <p:sp>
        <p:nvSpPr>
          <p:cNvPr id="35" name="Shape 31"/>
          <p:cNvSpPr/>
          <p:nvPr/>
        </p:nvSpPr>
        <p:spPr>
          <a:xfrm>
            <a:off x="0" y="6446520"/>
            <a:ext cx="12191695" cy="182880"/>
          </a:xfrm>
          <a:prstGeom prst="rect">
            <a:avLst/>
          </a:prstGeom>
          <a:solidFill>
            <a:srgbClr val="1A6B3C"/>
          </a:solidFill>
          <a:ln/>
        </p:spPr>
      </p:sp>
      <p:sp>
        <p:nvSpPr>
          <p:cNvPr id="36" name="Text 32"/>
          <p:cNvSpPr/>
          <p:nvPr/>
        </p:nvSpPr>
        <p:spPr>
          <a:xfrm>
            <a:off x="274320" y="644652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</a:t>
            </a:r>
            <a:endParaRPr lang="en-US" sz="900" dirty="0"/>
          </a:p>
        </p:txBody>
      </p:sp>
      <p:sp>
        <p:nvSpPr>
          <p:cNvPr id="37" name="Text 33"/>
          <p:cNvSpPr/>
          <p:nvPr/>
        </p:nvSpPr>
        <p:spPr>
          <a:xfrm>
            <a:off x="8686800" y="6446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Participate in a Land-based Activity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6B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0" y="548640"/>
            <a:ext cx="822960" cy="82296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594360"/>
            <a:ext cx="1051560" cy="640080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Get Started?</a:t>
            </a:r>
            <a:endParaRPr lang="en-US" sz="3400" dirty="0"/>
          </a:p>
        </p:txBody>
      </p:sp>
      <p:sp>
        <p:nvSpPr>
          <p:cNvPr id="5" name="Text 1"/>
          <p:cNvSpPr/>
          <p:nvPr/>
        </p:nvSpPr>
        <p:spPr>
          <a:xfrm>
            <a:off x="1371600" y="3291840"/>
            <a:ext cx="9418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F5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digital workbook to choose your activity and begin.</a:t>
            </a:r>
            <a:endParaRPr lang="en-US" sz="1700" dirty="0"/>
          </a:p>
        </p:txBody>
      </p:sp>
      <p:sp>
        <p:nvSpPr>
          <p:cNvPr id="6" name="Text 2"/>
          <p:cNvSpPr/>
          <p:nvPr/>
        </p:nvSpPr>
        <p:spPr>
          <a:xfrm>
            <a:off x="1371600" y="4206240"/>
            <a:ext cx="9418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8A9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MH32CY007LandActivityDigital.html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2026-07-23T13:38:18Z</dcterms:created>
  <dcterms:modified xsi:type="dcterms:W3CDTF">2026-07-23T13:38:18Z</dcterms:modified>
</cp:coreProperties>
</file>