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Anti-bullying Awareness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HB12CY057  •  Level Two  •  2 Credits  •  18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Understand the term bullying</a:t>
            </a:r>
          </a:p>
          <a:p>
            <a:pPr>
              <a:defRPr sz="2000"/>
            </a:pPr>
            <a:r>
              <a:t>LO2: Understand how people bully others</a:t>
            </a:r>
          </a:p>
          <a:p>
            <a:pPr>
              <a:defRPr sz="2000"/>
            </a:pPr>
            <a:r>
              <a:t>LO3: Understand the effects of bullying</a:t>
            </a:r>
          </a:p>
          <a:p>
            <a:pPr>
              <a:defRPr sz="2000"/>
            </a:pPr>
            <a:r>
              <a:t>LO4: Understand where to get support and help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Understand the term bullying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Define the term “bullying”.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Understand how people bully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Describe different ways that people are bullied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2.2: Describe why a person may bully someone.</a:t>
            </a:r>
          </a:p>
          <a:p>
            <a:pPr>
              <a:defRPr sz="2000"/>
            </a:pPr>
            <a:r>
              <a:t>AC 2.3: Describe the term “bystander effect” and how this can affect bullying behaviour.</a:t>
            </a:r>
          </a:p>
          <a:p>
            <a:pPr>
              <a:defRPr sz="2000"/>
            </a:pPr>
            <a:r>
              <a:t>AC 2.4: Outline how inappropriate humour and language can be used to bully.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Understand the effects of bullying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Describe how bullying affects both the person bullying and the person being bullied (at least three effects for each).</a:t>
            </a:r>
          </a:p>
          <a:p>
            <a:pPr lvl="1">
              <a:defRPr sz="1600"/>
            </a:pPr>
            <a:r>
              <a:t>Effects on the person bullying</a:t>
            </a:r>
          </a:p>
          <a:p>
            <a:pPr lvl="1">
              <a:defRPr sz="1600"/>
            </a:pPr>
            <a:r>
              <a:t>Effects on the person being bullied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LO4: Understand where to get support and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4.1: Describe a range of ways that a person can address being bullied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4.2: Describe how your own organisation (e.g. school) addresses bullying.</a:t>
            </a:r>
          </a:p>
          <a:p>
            <a:pPr>
              <a:defRPr sz="2000"/>
            </a:pPr>
            <a:r>
              <a:t>AC 4.3: Describe a range of services that provide support around bullying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Bullying: Repeated, unwanted behaviour intended to hurt someone physically, emotionally or socially, often involving a power imbalance.</a:t>
            </a:r>
          </a:p>
          <a:p>
            <a:pPr>
              <a:defRPr sz="2000"/>
            </a:pPr>
            <a:r>
              <a:t>Bystander effect: The tendency for people to be less likely to help or intervene when others are present, assuming someone else will act.</a:t>
            </a:r>
          </a:p>
          <a:p>
            <a:pPr>
              <a:defRPr sz="2000"/>
            </a:pPr>
            <a:r>
              <a:t>Cyberbullying: Bullying that takes place using digital devices, such as phones, social media, or messaging apps.</a:t>
            </a:r>
          </a:p>
          <a:p>
            <a:pPr>
              <a:defRPr sz="2000"/>
            </a:pPr>
            <a:r>
              <a:t>Relational bullying: Bullying that damages someone's relationships or social standing, e.g. excluding them or spreading rumours.</a:t>
            </a:r>
          </a:p>
          <a:p>
            <a:pPr>
              <a:defRPr sz="2000"/>
            </a:pPr>
            <a:r>
              <a:t>Upstander: Someone who takes action to help when they witness bullying, rather than staying silent.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