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4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8A951"/>
          </a:solidFill>
          <a:ln w="12700">
            <a:solidFill>
              <a:srgbClr val="C8A951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64592"/>
            <a:ext cx="1005840" cy="713232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508760" y="256032"/>
            <a:ext cx="1280160" cy="42976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65760" y="1005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Agored Cymru  |  Level 2  |  MH12CY006</a:t>
            </a:r>
            <a:endParaRPr lang="en-US" sz="1300" dirty="0"/>
          </a:p>
        </p:txBody>
      </p:sp>
      <p:sp>
        <p:nvSpPr>
          <p:cNvPr id="6" name="Text 2"/>
          <p:cNvSpPr/>
          <p:nvPr/>
        </p:nvSpPr>
        <p:spPr>
          <a:xfrm>
            <a:off x="36576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Participate in an Expedition</a:t>
            </a:r>
            <a:endParaRPr lang="en-US" sz="4400" dirty="0"/>
          </a:p>
        </p:txBody>
      </p:sp>
      <p:sp>
        <p:nvSpPr>
          <p:cNvPr id="7" name="Text 3"/>
          <p:cNvSpPr/>
          <p:nvPr/>
        </p:nvSpPr>
        <p:spPr>
          <a:xfrm>
            <a:off x="365760" y="2514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DD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Two-Day Expedition  |  4 Credits  |  38 GLH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274320" y="3017520"/>
            <a:ext cx="932688" cy="438912"/>
          </a:xfrm>
          <a:prstGeom prst="rect">
            <a:avLst/>
          </a:prstGeom>
          <a:solidFill>
            <a:srgbClr val="1A6B3C"/>
          </a:solidFill>
          <a:ln w="12700">
            <a:solidFill>
              <a:srgbClr val="C8A95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274320" y="3026664"/>
            <a:ext cx="932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1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274320" y="3218688"/>
            <a:ext cx="932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Procedures</a:t>
            </a:r>
            <a:endParaRPr lang="en-US" sz="700" dirty="0"/>
          </a:p>
        </p:txBody>
      </p:sp>
      <p:sp>
        <p:nvSpPr>
          <p:cNvPr id="11" name="Shape 7"/>
          <p:cNvSpPr/>
          <p:nvPr/>
        </p:nvSpPr>
        <p:spPr>
          <a:xfrm>
            <a:off x="1243584" y="3017520"/>
            <a:ext cx="932688" cy="438912"/>
          </a:xfrm>
          <a:prstGeom prst="rect">
            <a:avLst/>
          </a:prstGeom>
          <a:solidFill>
            <a:srgbClr val="1A6B3C"/>
          </a:solidFill>
          <a:ln w="12700">
            <a:solidFill>
              <a:srgbClr val="C8A95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1243584" y="3026664"/>
            <a:ext cx="932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2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243584" y="3218688"/>
            <a:ext cx="932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Hazards &amp; Risks</a:t>
            </a:r>
            <a:endParaRPr lang="en-US" sz="700" dirty="0"/>
          </a:p>
        </p:txBody>
      </p:sp>
      <p:sp>
        <p:nvSpPr>
          <p:cNvPr id="14" name="Shape 10"/>
          <p:cNvSpPr/>
          <p:nvPr/>
        </p:nvSpPr>
        <p:spPr>
          <a:xfrm>
            <a:off x="2212848" y="3017520"/>
            <a:ext cx="932688" cy="438912"/>
          </a:xfrm>
          <a:prstGeom prst="rect">
            <a:avLst/>
          </a:prstGeom>
          <a:solidFill>
            <a:srgbClr val="1A6B3C"/>
          </a:solidFill>
          <a:ln w="12700">
            <a:solidFill>
              <a:srgbClr val="C8A95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2212848" y="3026664"/>
            <a:ext cx="932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3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2212848" y="3218688"/>
            <a:ext cx="932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Expedition</a:t>
            </a:r>
            <a:endParaRPr lang="en-US" sz="700" dirty="0"/>
          </a:p>
        </p:txBody>
      </p:sp>
      <p:sp>
        <p:nvSpPr>
          <p:cNvPr id="17" name="Shape 13"/>
          <p:cNvSpPr/>
          <p:nvPr/>
        </p:nvSpPr>
        <p:spPr>
          <a:xfrm>
            <a:off x="3182112" y="3017520"/>
            <a:ext cx="932688" cy="438912"/>
          </a:xfrm>
          <a:prstGeom prst="rect">
            <a:avLst/>
          </a:prstGeom>
          <a:solidFill>
            <a:srgbClr val="1A6B3C"/>
          </a:solidFill>
          <a:ln w="12700">
            <a:solidFill>
              <a:srgbClr val="C8A95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3182112" y="3026664"/>
            <a:ext cx="932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4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3182112" y="3218688"/>
            <a:ext cx="932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 Rucksack</a:t>
            </a:r>
            <a:endParaRPr lang="en-US" sz="700" dirty="0"/>
          </a:p>
        </p:txBody>
      </p:sp>
      <p:sp>
        <p:nvSpPr>
          <p:cNvPr id="20" name="Shape 16"/>
          <p:cNvSpPr/>
          <p:nvPr/>
        </p:nvSpPr>
        <p:spPr>
          <a:xfrm>
            <a:off x="4151376" y="3017520"/>
            <a:ext cx="932688" cy="438912"/>
          </a:xfrm>
          <a:prstGeom prst="rect">
            <a:avLst/>
          </a:prstGeom>
          <a:solidFill>
            <a:srgbClr val="1A6B3C"/>
          </a:solidFill>
          <a:ln w="12700">
            <a:solidFill>
              <a:srgbClr val="C8A95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Text 17"/>
          <p:cNvSpPr/>
          <p:nvPr/>
        </p:nvSpPr>
        <p:spPr>
          <a:xfrm>
            <a:off x="4151376" y="3026664"/>
            <a:ext cx="932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5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4151376" y="3218688"/>
            <a:ext cx="932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Expedition</a:t>
            </a:r>
            <a:endParaRPr lang="en-US" sz="700" dirty="0"/>
          </a:p>
        </p:txBody>
      </p:sp>
      <p:sp>
        <p:nvSpPr>
          <p:cNvPr id="23" name="Shape 19"/>
          <p:cNvSpPr/>
          <p:nvPr/>
        </p:nvSpPr>
        <p:spPr>
          <a:xfrm>
            <a:off x="5120640" y="3017520"/>
            <a:ext cx="932688" cy="438912"/>
          </a:xfrm>
          <a:prstGeom prst="rect">
            <a:avLst/>
          </a:prstGeom>
          <a:solidFill>
            <a:srgbClr val="1A6B3C"/>
          </a:solidFill>
          <a:ln w="12700">
            <a:solidFill>
              <a:srgbClr val="C8A95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Text 20"/>
          <p:cNvSpPr/>
          <p:nvPr/>
        </p:nvSpPr>
        <p:spPr>
          <a:xfrm>
            <a:off x="5120640" y="3026664"/>
            <a:ext cx="932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6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5120640" y="3218688"/>
            <a:ext cx="932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Code</a:t>
            </a:r>
            <a:endParaRPr lang="en-US" sz="700" dirty="0"/>
          </a:p>
        </p:txBody>
      </p:sp>
      <p:sp>
        <p:nvSpPr>
          <p:cNvPr id="26" name="Shape 22"/>
          <p:cNvSpPr/>
          <p:nvPr/>
        </p:nvSpPr>
        <p:spPr>
          <a:xfrm>
            <a:off x="6089904" y="3017520"/>
            <a:ext cx="932688" cy="438912"/>
          </a:xfrm>
          <a:prstGeom prst="rect">
            <a:avLst/>
          </a:prstGeom>
          <a:solidFill>
            <a:srgbClr val="1A6B3C"/>
          </a:solidFill>
          <a:ln w="12700">
            <a:solidFill>
              <a:srgbClr val="C8A95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Text 23"/>
          <p:cNvSpPr/>
          <p:nvPr/>
        </p:nvSpPr>
        <p:spPr>
          <a:xfrm>
            <a:off x="6089904" y="3026664"/>
            <a:ext cx="932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7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6089904" y="3218688"/>
            <a:ext cx="932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</a:t>
            </a:r>
            <a:endParaRPr lang="en-US" sz="700" dirty="0"/>
          </a:p>
        </p:txBody>
      </p:sp>
      <p:sp>
        <p:nvSpPr>
          <p:cNvPr id="29" name="Shape 25"/>
          <p:cNvSpPr/>
          <p:nvPr/>
        </p:nvSpPr>
        <p:spPr>
          <a:xfrm>
            <a:off x="7059168" y="3017520"/>
            <a:ext cx="932688" cy="438912"/>
          </a:xfrm>
          <a:prstGeom prst="rect">
            <a:avLst/>
          </a:prstGeom>
          <a:solidFill>
            <a:srgbClr val="1A6B3C"/>
          </a:solidFill>
          <a:ln w="12700">
            <a:solidFill>
              <a:srgbClr val="C8A95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Text 26"/>
          <p:cNvSpPr/>
          <p:nvPr/>
        </p:nvSpPr>
        <p:spPr>
          <a:xfrm>
            <a:off x="7059168" y="3026664"/>
            <a:ext cx="932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8</a:t>
            </a:r>
            <a:endParaRPr lang="en-US" sz="900" dirty="0"/>
          </a:p>
        </p:txBody>
      </p:sp>
      <p:sp>
        <p:nvSpPr>
          <p:cNvPr id="31" name="Text 27"/>
          <p:cNvSpPr/>
          <p:nvPr/>
        </p:nvSpPr>
        <p:spPr>
          <a:xfrm>
            <a:off x="7059168" y="3218688"/>
            <a:ext cx="932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Equipment</a:t>
            </a:r>
            <a:endParaRPr lang="en-US" sz="700" dirty="0"/>
          </a:p>
        </p:txBody>
      </p:sp>
      <p:sp>
        <p:nvSpPr>
          <p:cNvPr id="32" name="Shape 28"/>
          <p:cNvSpPr/>
          <p:nvPr/>
        </p:nvSpPr>
        <p:spPr>
          <a:xfrm>
            <a:off x="8028432" y="3017520"/>
            <a:ext cx="932688" cy="438912"/>
          </a:xfrm>
          <a:prstGeom prst="rect">
            <a:avLst/>
          </a:prstGeom>
          <a:solidFill>
            <a:srgbClr val="1A6B3C"/>
          </a:solidFill>
          <a:ln w="12700">
            <a:solidFill>
              <a:srgbClr val="C8A95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3" name="Text 29"/>
          <p:cNvSpPr/>
          <p:nvPr/>
        </p:nvSpPr>
        <p:spPr>
          <a:xfrm>
            <a:off x="8028432" y="3026664"/>
            <a:ext cx="932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9</a:t>
            </a:r>
            <a:endParaRPr lang="en-US" sz="900" dirty="0"/>
          </a:p>
        </p:txBody>
      </p:sp>
      <p:sp>
        <p:nvSpPr>
          <p:cNvPr id="34" name="Text 30"/>
          <p:cNvSpPr/>
          <p:nvPr/>
        </p:nvSpPr>
        <p:spPr>
          <a:xfrm>
            <a:off x="8028432" y="3218688"/>
            <a:ext cx="932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Self-Assessment</a:t>
            </a:r>
            <a:endParaRPr lang="en-US" sz="700" dirty="0"/>
          </a:p>
        </p:txBody>
      </p:sp>
      <p:sp>
        <p:nvSpPr>
          <p:cNvPr id="35" name="Shape 3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C8A951"/>
          </a:solidFill>
          <a:ln w="12700">
            <a:solidFill>
              <a:srgbClr val="C8A951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182880" y="4818888"/>
            <a:ext cx="8778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Jonathan Jones  |  Bryn Llywarch Outdoor Education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4818888"/>
            <a:ext cx="5486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MH12CY006  |  Participate in an Expedition</a:t>
            </a:r>
            <a:endParaRPr lang="en-US" sz="9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0" y="73152"/>
            <a:ext cx="685800" cy="484632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156448" y="128016"/>
            <a:ext cx="877824" cy="29260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274320" y="73152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Overview — MH12CY006</a:t>
            </a:r>
            <a:endParaRPr lang="en-US" sz="2600" dirty="0"/>
          </a:p>
        </p:txBody>
      </p:sp>
      <p:sp>
        <p:nvSpPr>
          <p:cNvPr id="8" name="Text 4"/>
          <p:cNvSpPr/>
          <p:nvPr/>
        </p:nvSpPr>
        <p:spPr>
          <a:xfrm>
            <a:off x="274320" y="576072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EE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Participate in an Expedition  |  Level 2  |  4 Credits  |  38 GLH  |  Two-Day Expedition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137160" y="1005840"/>
            <a:ext cx="8869680" cy="384048"/>
          </a:xfrm>
          <a:prstGeom prst="rect">
            <a:avLst/>
          </a:prstGeom>
          <a:solidFill>
            <a:srgbClr val="E8F5EE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137160" y="1005840"/>
            <a:ext cx="594360" cy="384048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137160" y="1014984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1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777240" y="1014984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Procedures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2468880" y="1014984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1.1 — Describe emergency procedures that may be used during an expedition.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137160" y="1426464"/>
            <a:ext cx="88696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37160" y="1426464"/>
            <a:ext cx="594360" cy="384048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137160" y="1435608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2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777240" y="143560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Hazards &amp; Risks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2468880" y="1435608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2.1 — Assess expedition hazards and risks.  AC 2.2 — Mitigate against them.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137160" y="1847088"/>
            <a:ext cx="8869680" cy="384048"/>
          </a:xfrm>
          <a:prstGeom prst="rect">
            <a:avLst/>
          </a:prstGeom>
          <a:solidFill>
            <a:srgbClr val="E8F5EE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137160" y="1847088"/>
            <a:ext cx="594360" cy="384048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137160" y="1856232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3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777240" y="185623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Expedition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2468880" y="1856232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3.1 — Plan a two-day expedition (equipment, sundries, meals, route planners).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137160" y="2267712"/>
            <a:ext cx="88696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137160" y="2267712"/>
            <a:ext cx="594360" cy="384048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137160" y="2276856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4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777240" y="2276856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 Rucksack</a:t>
            </a:r>
            <a:endParaRPr lang="en-US" sz="1100" dirty="0"/>
          </a:p>
        </p:txBody>
      </p:sp>
      <p:sp>
        <p:nvSpPr>
          <p:cNvPr id="28" name="Text 24"/>
          <p:cNvSpPr/>
          <p:nvPr/>
        </p:nvSpPr>
        <p:spPr>
          <a:xfrm>
            <a:off x="2468880" y="2276856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4.1 — Pack a rucksack effectively (weight distribution, frequently used items).</a:t>
            </a:r>
            <a:endParaRPr lang="en-US" sz="1000" dirty="0"/>
          </a:p>
        </p:txBody>
      </p:sp>
      <p:sp>
        <p:nvSpPr>
          <p:cNvPr id="29" name="Shape 25"/>
          <p:cNvSpPr/>
          <p:nvPr/>
        </p:nvSpPr>
        <p:spPr>
          <a:xfrm>
            <a:off x="137160" y="2688336"/>
            <a:ext cx="8869680" cy="384048"/>
          </a:xfrm>
          <a:prstGeom prst="rect">
            <a:avLst/>
          </a:prstGeom>
          <a:solidFill>
            <a:srgbClr val="E8F5EE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137160" y="2688336"/>
            <a:ext cx="594360" cy="384048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137160" y="2697480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5</a:t>
            </a:r>
            <a:endParaRPr lang="en-US" sz="900" dirty="0"/>
          </a:p>
        </p:txBody>
      </p:sp>
      <p:sp>
        <p:nvSpPr>
          <p:cNvPr id="32" name="Text 28"/>
          <p:cNvSpPr/>
          <p:nvPr/>
        </p:nvSpPr>
        <p:spPr>
          <a:xfrm>
            <a:off x="777240" y="26974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Expedition</a:t>
            </a: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2468880" y="2697480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5.1 — Complete a two-day expedition (practical demonstration).</a:t>
            </a:r>
            <a:endParaRPr lang="en-US" sz="1000" dirty="0"/>
          </a:p>
        </p:txBody>
      </p:sp>
      <p:sp>
        <p:nvSpPr>
          <p:cNvPr id="34" name="Shape 30"/>
          <p:cNvSpPr/>
          <p:nvPr/>
        </p:nvSpPr>
        <p:spPr>
          <a:xfrm>
            <a:off x="137160" y="3108960"/>
            <a:ext cx="88696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137160" y="3108960"/>
            <a:ext cx="594360" cy="384048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137160" y="3118104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6</a:t>
            </a:r>
            <a:endParaRPr lang="en-US" sz="900" dirty="0"/>
          </a:p>
        </p:txBody>
      </p:sp>
      <p:sp>
        <p:nvSpPr>
          <p:cNvPr id="37" name="Text 33"/>
          <p:cNvSpPr/>
          <p:nvPr/>
        </p:nvSpPr>
        <p:spPr>
          <a:xfrm>
            <a:off x="777240" y="3118104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Code</a:t>
            </a:r>
            <a:endParaRPr lang="en-US" sz="1100" dirty="0"/>
          </a:p>
        </p:txBody>
      </p:sp>
      <p:sp>
        <p:nvSpPr>
          <p:cNvPr id="38" name="Text 34"/>
          <p:cNvSpPr/>
          <p:nvPr/>
        </p:nvSpPr>
        <p:spPr>
          <a:xfrm>
            <a:off x="2468880" y="3118104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6.1 — Comply with the Country Code during the expedition.</a:t>
            </a:r>
            <a:endParaRPr lang="en-US" sz="1000" dirty="0"/>
          </a:p>
        </p:txBody>
      </p:sp>
      <p:sp>
        <p:nvSpPr>
          <p:cNvPr id="39" name="Shape 35"/>
          <p:cNvSpPr/>
          <p:nvPr/>
        </p:nvSpPr>
        <p:spPr>
          <a:xfrm>
            <a:off x="137160" y="3529584"/>
            <a:ext cx="8869680" cy="384048"/>
          </a:xfrm>
          <a:prstGeom prst="rect">
            <a:avLst/>
          </a:prstGeom>
          <a:solidFill>
            <a:srgbClr val="E8F5EE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137160" y="3529584"/>
            <a:ext cx="594360" cy="384048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137160" y="3538728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7</a:t>
            </a:r>
            <a:endParaRPr lang="en-US" sz="900" dirty="0"/>
          </a:p>
        </p:txBody>
      </p:sp>
      <p:sp>
        <p:nvSpPr>
          <p:cNvPr id="42" name="Text 38"/>
          <p:cNvSpPr/>
          <p:nvPr/>
        </p:nvSpPr>
        <p:spPr>
          <a:xfrm>
            <a:off x="777240" y="353872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</a:t>
            </a:r>
            <a:endParaRPr lang="en-US" sz="1100" dirty="0"/>
          </a:p>
        </p:txBody>
      </p:sp>
      <p:sp>
        <p:nvSpPr>
          <p:cNvPr id="43" name="Text 39"/>
          <p:cNvSpPr/>
          <p:nvPr/>
        </p:nvSpPr>
        <p:spPr>
          <a:xfrm>
            <a:off x="2468880" y="3538728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7.1 — Use navigation techniques during the expedition.</a:t>
            </a:r>
            <a:endParaRPr lang="en-US" sz="1000" dirty="0"/>
          </a:p>
        </p:txBody>
      </p:sp>
      <p:sp>
        <p:nvSpPr>
          <p:cNvPr id="44" name="Shape 40"/>
          <p:cNvSpPr/>
          <p:nvPr/>
        </p:nvSpPr>
        <p:spPr>
          <a:xfrm>
            <a:off x="137160" y="3950208"/>
            <a:ext cx="88696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5" name="Shape 41"/>
          <p:cNvSpPr/>
          <p:nvPr/>
        </p:nvSpPr>
        <p:spPr>
          <a:xfrm>
            <a:off x="137160" y="3950208"/>
            <a:ext cx="594360" cy="384048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46" name="Text 42"/>
          <p:cNvSpPr/>
          <p:nvPr/>
        </p:nvSpPr>
        <p:spPr>
          <a:xfrm>
            <a:off x="137160" y="3959352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8</a:t>
            </a:r>
            <a:endParaRPr lang="en-US" sz="900" dirty="0"/>
          </a:p>
        </p:txBody>
      </p:sp>
      <p:sp>
        <p:nvSpPr>
          <p:cNvPr id="47" name="Text 43"/>
          <p:cNvSpPr/>
          <p:nvPr/>
        </p:nvSpPr>
        <p:spPr>
          <a:xfrm>
            <a:off x="777240" y="395935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Equipment</a:t>
            </a:r>
            <a:endParaRPr lang="en-US" sz="1100" dirty="0"/>
          </a:p>
        </p:txBody>
      </p:sp>
      <p:sp>
        <p:nvSpPr>
          <p:cNvPr id="48" name="Text 44"/>
          <p:cNvSpPr/>
          <p:nvPr/>
        </p:nvSpPr>
        <p:spPr>
          <a:xfrm>
            <a:off x="2468880" y="3959352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8.1 — Maintain expedition equipment.</a:t>
            </a:r>
            <a:endParaRPr lang="en-US" sz="1000" dirty="0"/>
          </a:p>
        </p:txBody>
      </p:sp>
      <p:sp>
        <p:nvSpPr>
          <p:cNvPr id="49" name="Shape 45"/>
          <p:cNvSpPr/>
          <p:nvPr/>
        </p:nvSpPr>
        <p:spPr>
          <a:xfrm>
            <a:off x="137160" y="4370832"/>
            <a:ext cx="8869680" cy="384048"/>
          </a:xfrm>
          <a:prstGeom prst="rect">
            <a:avLst/>
          </a:prstGeom>
          <a:solidFill>
            <a:srgbClr val="E8F5EE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0" name="Shape 46"/>
          <p:cNvSpPr/>
          <p:nvPr/>
        </p:nvSpPr>
        <p:spPr>
          <a:xfrm>
            <a:off x="137160" y="4370832"/>
            <a:ext cx="594360" cy="384048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51" name="Text 47"/>
          <p:cNvSpPr/>
          <p:nvPr/>
        </p:nvSpPr>
        <p:spPr>
          <a:xfrm>
            <a:off x="137160" y="4379976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9</a:t>
            </a:r>
            <a:endParaRPr lang="en-US" sz="900" dirty="0"/>
          </a:p>
        </p:txBody>
      </p:sp>
      <p:sp>
        <p:nvSpPr>
          <p:cNvPr id="52" name="Text 48"/>
          <p:cNvSpPr/>
          <p:nvPr/>
        </p:nvSpPr>
        <p:spPr>
          <a:xfrm>
            <a:off x="777240" y="4379976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Self-Assessment</a:t>
            </a:r>
            <a:endParaRPr lang="en-US" sz="1100" dirty="0"/>
          </a:p>
        </p:txBody>
      </p:sp>
      <p:sp>
        <p:nvSpPr>
          <p:cNvPr id="53" name="Text 49"/>
          <p:cNvSpPr/>
          <p:nvPr/>
        </p:nvSpPr>
        <p:spPr>
          <a:xfrm>
            <a:off x="2468880" y="4379976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9.1 — Assess the expedition following completion.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4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8A951"/>
          </a:solidFill>
          <a:ln w="12700">
            <a:solidFill>
              <a:srgbClr val="C8A9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5486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Outcome 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Emergency Procedures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65760" y="20116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Criteria covered: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2377440"/>
            <a:ext cx="8229600" cy="34747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386584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1.1 — Describe the emergency procedures that may be used during an expedition.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" y="4818888"/>
            <a:ext cx="5486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MH12CY006  |  Participate in an Expedition</a:t>
            </a:r>
            <a:endParaRPr lang="en-US" sz="9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0" y="73152"/>
            <a:ext cx="685800" cy="484632"/>
          </a:xfrm>
          <a:prstGeom prst="rect">
            <a:avLst/>
          </a:prstGeom>
        </p:spPr>
      </p:pic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156448" y="128016"/>
            <a:ext cx="877824" cy="29260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4818888"/>
            <a:ext cx="5486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MH12CY006  |  Participate in an Expedition</a:t>
            </a:r>
            <a:endParaRPr lang="en-US" sz="9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0" y="73152"/>
            <a:ext cx="685800" cy="484632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156448" y="128016"/>
            <a:ext cx="877824" cy="29260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274320" y="64008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Action Plan (EAP)</a:t>
            </a:r>
            <a:endParaRPr lang="en-US" sz="2200" dirty="0"/>
          </a:p>
        </p:txBody>
      </p:sp>
      <p:sp>
        <p:nvSpPr>
          <p:cNvPr id="8" name="Shape 4"/>
          <p:cNvSpPr/>
          <p:nvPr/>
        </p:nvSpPr>
        <p:spPr>
          <a:xfrm>
            <a:off x="7315200" y="91440"/>
            <a:ext cx="914400" cy="256032"/>
          </a:xfrm>
          <a:prstGeom prst="rect">
            <a:avLst/>
          </a:prstGeom>
          <a:solidFill>
            <a:srgbClr val="C8A951"/>
          </a:solidFill>
          <a:ln w="12700">
            <a:solidFill>
              <a:srgbClr val="C8A951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315200" y="914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1 / AC 1.1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274320" y="914400"/>
            <a:ext cx="4206240" cy="374904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expedition must have a pre-agreed Emergency Action Plan.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Procedure: Stop — Think — Observe — Plan.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panic and ensures a coordinated response.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Designate roles in advance: who calls for help, who stays with casualty.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4663440" y="914400"/>
            <a:ext cx="4206240" cy="374904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999: ask for Police, then Mountain Rescue.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signal? — 6 whistle blasts (repeated) or torch flashes.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for emergency services: location (6-figure grid reference), number of casualties, nature of injury, time of incident.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leave a casualty alone.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4526280" y="914400"/>
            <a:ext cx="0" cy="365760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4818888"/>
            <a:ext cx="5486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MH12CY006  |  Participate in an Expedition</a:t>
            </a:r>
            <a:endParaRPr lang="en-US" sz="9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0" y="73152"/>
            <a:ext cx="685800" cy="484632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156448" y="128016"/>
            <a:ext cx="877824" cy="29260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274320" y="64008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Casualty Care — DR ABC</a:t>
            </a:r>
            <a:endParaRPr lang="en-US" sz="2200" dirty="0"/>
          </a:p>
        </p:txBody>
      </p:sp>
      <p:sp>
        <p:nvSpPr>
          <p:cNvPr id="8" name="Shape 4"/>
          <p:cNvSpPr/>
          <p:nvPr/>
        </p:nvSpPr>
        <p:spPr>
          <a:xfrm>
            <a:off x="7315200" y="91440"/>
            <a:ext cx="914400" cy="256032"/>
          </a:xfrm>
          <a:prstGeom prst="rect">
            <a:avLst/>
          </a:prstGeom>
          <a:solidFill>
            <a:srgbClr val="C8A951"/>
          </a:solidFill>
          <a:ln w="12700">
            <a:solidFill>
              <a:srgbClr val="C8A951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315200" y="914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1 / AC 1.1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274320" y="914400"/>
            <a:ext cx="8595360" cy="374904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DANGER — Check the scene is safe before approaching. Remove danger, not the casualty.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— Check responsiveness: shout and tap shoulders.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AIRWAY — Open airway: head-tilt, chin-lift. Look for obstructions.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BREATHING — Look, listen, feel for normal breathing (no more than 10 seconds).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CIRCULATION — If not breathing normally, begin CPR (30 compressions : 2 breaths). Control severe bleeding.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casualty warm (emergency bivvy). Do NOT move if spinal injury suspected.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Hypothermia signs: shivering, confusion, slurred speech, pale skin — insulate and shelter immediately.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4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8A951"/>
          </a:solidFill>
          <a:ln w="12700">
            <a:solidFill>
              <a:srgbClr val="C8A9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5486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Outcome 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Mitigate Against Expedition Hazards and Risks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65760" y="20116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Criteria covered: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2377440"/>
            <a:ext cx="8229600" cy="34747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386584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2.1 — Assess expedition hazards and risks.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761488"/>
            <a:ext cx="8229600" cy="34747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770632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2.2 — Mitigate against any expedition hazards and risks.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2880" y="4818888"/>
            <a:ext cx="5486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MH12CY006  |  Participate in an Expedition</a:t>
            </a:r>
            <a:endParaRPr lang="en-US" sz="9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0" y="73152"/>
            <a:ext cx="685800" cy="484632"/>
          </a:xfrm>
          <a:prstGeom prst="rect">
            <a:avLst/>
          </a:prstGeom>
        </p:spPr>
      </p:pic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156448" y="128016"/>
            <a:ext cx="877824" cy="29260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4818888"/>
            <a:ext cx="5486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MH12CY006  |  Participate in an Expedition</a:t>
            </a:r>
            <a:endParaRPr lang="en-US" sz="9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0" y="73152"/>
            <a:ext cx="685800" cy="484632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156448" y="128016"/>
            <a:ext cx="877824" cy="29260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274320" y="64008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Hazard and Risk</a:t>
            </a:r>
            <a:endParaRPr lang="en-US" sz="2200" dirty="0"/>
          </a:p>
        </p:txBody>
      </p:sp>
      <p:sp>
        <p:nvSpPr>
          <p:cNvPr id="8" name="Shape 4"/>
          <p:cNvSpPr/>
          <p:nvPr/>
        </p:nvSpPr>
        <p:spPr>
          <a:xfrm>
            <a:off x="7315200" y="91440"/>
            <a:ext cx="914400" cy="256032"/>
          </a:xfrm>
          <a:prstGeom prst="rect">
            <a:avLst/>
          </a:prstGeom>
          <a:solidFill>
            <a:srgbClr val="C8A951"/>
          </a:solidFill>
          <a:ln w="12700">
            <a:solidFill>
              <a:srgbClr val="C8A951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315200" y="914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2 / AC 2.1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274320" y="914400"/>
            <a:ext cx="4206240" cy="374904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HAZARD: Anything with potential to cause harm.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steep ground, river crossings, bad weather, faulty equipment, fatigue.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Likelihood x Severity.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both as Low (1), Medium (2), or High (3).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Rating 1-3: Low | 4-6: Medium | 7-9: High/Critical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4663440" y="914400"/>
            <a:ext cx="4206240" cy="374904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Welsh upland specific hazards: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Boggy ground and peat hags — ankle injuries, kit damage.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weather deterioration — hypothermia, navigational failure.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location — no phone signal, long emergency response times.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Rivers rising after rain — crossing hazard can change within hours.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4526280" y="914400"/>
            <a:ext cx="0" cy="365760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4818888"/>
            <a:ext cx="5486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MH12CY006  |  Participate in an Expedition</a:t>
            </a:r>
            <a:endParaRPr lang="en-US" sz="9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0" y="73152"/>
            <a:ext cx="685800" cy="484632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156448" y="128016"/>
            <a:ext cx="877824" cy="29260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274320" y="64008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Measures and Dynamic Risk Assessment</a:t>
            </a:r>
            <a:endParaRPr lang="en-US" sz="2200" dirty="0"/>
          </a:p>
        </p:txBody>
      </p:sp>
      <p:sp>
        <p:nvSpPr>
          <p:cNvPr id="8" name="Shape 4"/>
          <p:cNvSpPr/>
          <p:nvPr/>
        </p:nvSpPr>
        <p:spPr>
          <a:xfrm>
            <a:off x="7315200" y="91440"/>
            <a:ext cx="914400" cy="256032"/>
          </a:xfrm>
          <a:prstGeom prst="rect">
            <a:avLst/>
          </a:prstGeom>
          <a:solidFill>
            <a:srgbClr val="C8A951"/>
          </a:solidFill>
          <a:ln w="12700">
            <a:solidFill>
              <a:srgbClr val="C8A951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315200" y="914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2 / AC 2.2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274320" y="914400"/>
            <a:ext cx="8595360" cy="374904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measures REDUCE likelihood or severity — or both.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group briefing before river crossing, emergency bivvy in every pack, designated turn-back conditions if weather deteriorates.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RISK ASSESSMENT: Reassess throughout the expedition — conditions change.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examples: choosing a wider, shallower crossing point; calling a rest stop when a group member shows signs of fatigue; altering the route to avoid exposed ground in deteriorating visibility.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any field adjustments in your expedition log — this is evidence for AC 2.2.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4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8A951"/>
          </a:solidFill>
          <a:ln w="12700">
            <a:solidFill>
              <a:srgbClr val="C8A9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5486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Outcome 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an Expedition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65760" y="20116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Criteria covered: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2377440"/>
            <a:ext cx="8229600" cy="34747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386584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3.1 — Plan a two-day expedition including: equipment, sundries, meals, route planners.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" y="4818888"/>
            <a:ext cx="5486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MH12CY006  |  Participate in an Expedition</a:t>
            </a:r>
            <a:endParaRPr lang="en-US" sz="9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0" y="73152"/>
            <a:ext cx="685800" cy="484632"/>
          </a:xfrm>
          <a:prstGeom prst="rect">
            <a:avLst/>
          </a:prstGeom>
        </p:spPr>
      </p:pic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156448" y="128016"/>
            <a:ext cx="877824" cy="29260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4818888"/>
            <a:ext cx="5486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MH12CY006  |  Participate in an Expedition</a:t>
            </a:r>
            <a:endParaRPr lang="en-US" sz="9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0" y="73152"/>
            <a:ext cx="685800" cy="484632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156448" y="128016"/>
            <a:ext cx="877824" cy="29260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274320" y="64008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and Sundries</a:t>
            </a:r>
            <a:endParaRPr lang="en-US" sz="2200" dirty="0"/>
          </a:p>
        </p:txBody>
      </p:sp>
      <p:sp>
        <p:nvSpPr>
          <p:cNvPr id="8" name="Shape 4"/>
          <p:cNvSpPr/>
          <p:nvPr/>
        </p:nvSpPr>
        <p:spPr>
          <a:xfrm>
            <a:off x="7315200" y="91440"/>
            <a:ext cx="914400" cy="256032"/>
          </a:xfrm>
          <a:prstGeom prst="rect">
            <a:avLst/>
          </a:prstGeom>
          <a:solidFill>
            <a:srgbClr val="C8A951"/>
          </a:solidFill>
          <a:ln w="12700">
            <a:solidFill>
              <a:srgbClr val="C8A951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315200" y="914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3 / AC 3.1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274320" y="914400"/>
            <a:ext cx="4206240" cy="374904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KIT: Clothing layers (base / mid / outer), waterproof trousers, walking boots, gaiters.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Navigation: 1:25,000 map, compass, whistle, head torch.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Safety: first aid kit, emergency bivvy, group shelter.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Other: sun cream, insect repellent, water bottles (2L+).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4663440" y="914400"/>
            <a:ext cx="4206240" cy="374904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KIT: Tent, sleeping bags, sleeping mats, stove, fuel.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first aid kit, trowels, rubbish bags.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SUNDRIES (small but essential): Repair tape, cable ties, spare bootlaces, lighter, toilet paper, notebook and pencil.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rations — separate from main food supply.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4526280" y="914400"/>
            <a:ext cx="0" cy="365760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4818888"/>
            <a:ext cx="5486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MH12CY006  |  Participate in an Expedition</a:t>
            </a:r>
            <a:endParaRPr lang="en-US" sz="9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0" y="73152"/>
            <a:ext cx="685800" cy="484632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156448" y="128016"/>
            <a:ext cx="877824" cy="29260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274320" y="64008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Meal Planning and Route Planning</a:t>
            </a:r>
            <a:endParaRPr lang="en-US" sz="2200" dirty="0"/>
          </a:p>
        </p:txBody>
      </p:sp>
      <p:sp>
        <p:nvSpPr>
          <p:cNvPr id="8" name="Shape 4"/>
          <p:cNvSpPr/>
          <p:nvPr/>
        </p:nvSpPr>
        <p:spPr>
          <a:xfrm>
            <a:off x="7315200" y="91440"/>
            <a:ext cx="914400" cy="256032"/>
          </a:xfrm>
          <a:prstGeom prst="rect">
            <a:avLst/>
          </a:prstGeom>
          <a:solidFill>
            <a:srgbClr val="C8A951"/>
          </a:solidFill>
          <a:ln w="12700">
            <a:solidFill>
              <a:srgbClr val="C8A951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315200" y="914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3 / AC 3.1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274320" y="914400"/>
            <a:ext cx="4206240" cy="374904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MEALS: Plan for approx. 2,500-3,500 kcal/day per person.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Consider: weight, preparation time, fuel required.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1: breakfast at home / en route; hot meal in camp; Day 2: hot breakfast; packed lunch; recovery meal.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emergency rations in each pack.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4663440" y="914400"/>
            <a:ext cx="4206240" cy="374904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PLAN: Use 1:25,000 OS map.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6-figure grid references for start, key waypoints, camp, finish.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Naismith's Rule: 1hr per 5km + 1hr per 600m ascent.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Welsh locations: Brecon Beacons, Cambrian Mountains, Rhinogydd range (Snowdonia), Coed y Brenin area.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escape routes and decision points — if X happens, we go to grid reference Y.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4526280" y="914400"/>
            <a:ext cx="0" cy="365760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4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8A951"/>
          </a:solidFill>
          <a:ln w="12700">
            <a:solidFill>
              <a:srgbClr val="C8A9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5486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Outcome 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 a Rucksack Effectively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65760" y="20116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Criteria covered: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2377440"/>
            <a:ext cx="8229600" cy="34747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386584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4.1 — Pack a rucksack effectively (weight distribution and frequently used items).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" y="4818888"/>
            <a:ext cx="5486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MH12CY006  |  Participate in an Expedition</a:t>
            </a:r>
            <a:endParaRPr lang="en-US" sz="9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0" y="73152"/>
            <a:ext cx="685800" cy="484632"/>
          </a:xfrm>
          <a:prstGeom prst="rect">
            <a:avLst/>
          </a:prstGeom>
        </p:spPr>
      </p:pic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156448" y="128016"/>
            <a:ext cx="877824" cy="29260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4818888"/>
            <a:ext cx="5486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MH12CY006  |  Participate in an Expedition</a:t>
            </a:r>
            <a:endParaRPr lang="en-US" sz="9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0" y="73152"/>
            <a:ext cx="685800" cy="484632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156448" y="128016"/>
            <a:ext cx="877824" cy="29260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274320" y="64008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Rucksack Packing Principles</a:t>
            </a:r>
            <a:endParaRPr lang="en-US" sz="2200" dirty="0"/>
          </a:p>
        </p:txBody>
      </p:sp>
      <p:sp>
        <p:nvSpPr>
          <p:cNvPr id="8" name="Shape 4"/>
          <p:cNvSpPr/>
          <p:nvPr/>
        </p:nvSpPr>
        <p:spPr>
          <a:xfrm>
            <a:off x="7315200" y="91440"/>
            <a:ext cx="914400" cy="256032"/>
          </a:xfrm>
          <a:prstGeom prst="rect">
            <a:avLst/>
          </a:prstGeom>
          <a:solidFill>
            <a:srgbClr val="C8A951"/>
          </a:solidFill>
          <a:ln w="12700">
            <a:solidFill>
              <a:srgbClr val="C8A951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315200" y="914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4 / AC 4.1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274320" y="914400"/>
            <a:ext cx="4206240" cy="374904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DISTRIBUTION: Heavy items closest to spine and high in pack (between shoulder blades).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centre of gravity close to body — reduces lower back strain.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Tent, food, and water: against the back.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Sleeping bag and mat: bottom of pack (least needed).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Clothing and lighter items: outer sections.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4663440" y="914400"/>
            <a:ext cx="4206240" cy="374904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FREQUENTLY USED ITEMS: Rain jacket, snacks, map, first aid kit, sun cream.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in top lid or outer pockets — no unpacking needed.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WATERPROOFING: Rucksack liner or dry bags for sleeping bag and electronics. External cover as backup.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FIT: Hip belt on iliac crest, taking 70-80% of load. Load lifters at 45 degrees.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note: Both weight distribution AND frequently used items must be addressed.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4526280" y="914400"/>
            <a:ext cx="0" cy="365760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4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8A951"/>
          </a:solidFill>
          <a:ln w="12700">
            <a:solidFill>
              <a:srgbClr val="C8A9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5486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Outcome 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an Expedition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65760" y="20116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Criteria covered: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2377440"/>
            <a:ext cx="8229600" cy="34747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386584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5.1 — Complete a two-day expedition (practical demonstration).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" y="4818888"/>
            <a:ext cx="5486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MH12CY006  |  Participate in an Expedition</a:t>
            </a:r>
            <a:endParaRPr lang="en-US" sz="9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0" y="73152"/>
            <a:ext cx="685800" cy="484632"/>
          </a:xfrm>
          <a:prstGeom prst="rect">
            <a:avLst/>
          </a:prstGeom>
        </p:spPr>
      </p:pic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156448" y="128016"/>
            <a:ext cx="877824" cy="29260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4818888"/>
            <a:ext cx="5486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MH12CY006  |  Participate in an Expedition</a:t>
            </a:r>
            <a:endParaRPr lang="en-US" sz="9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0" y="73152"/>
            <a:ext cx="685800" cy="484632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156448" y="128016"/>
            <a:ext cx="877824" cy="29260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274320" y="64008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Your Assessor Looks For</a:t>
            </a:r>
            <a:endParaRPr lang="en-US" sz="2200" dirty="0"/>
          </a:p>
        </p:txBody>
      </p:sp>
      <p:sp>
        <p:nvSpPr>
          <p:cNvPr id="8" name="Shape 4"/>
          <p:cNvSpPr/>
          <p:nvPr/>
        </p:nvSpPr>
        <p:spPr>
          <a:xfrm>
            <a:off x="7315200" y="91440"/>
            <a:ext cx="914400" cy="256032"/>
          </a:xfrm>
          <a:prstGeom prst="rect">
            <a:avLst/>
          </a:prstGeom>
          <a:solidFill>
            <a:srgbClr val="C8A951"/>
          </a:solidFill>
          <a:ln w="12700">
            <a:solidFill>
              <a:srgbClr val="C8A951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315200" y="914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5 / AC 5.1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274320" y="914400"/>
            <a:ext cx="8595360" cy="374904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5.1 is primarily assessed through PRACTICAL DEMONSTRATION — your assessor observes you in the field.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and techniques: navigation in varied terrain, safe campcraft, appropriate pace management.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use: correct and safe use of stove, tent pitching, waterproof clothing management.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checks: demonstrating appropriate checks at key points — river crossings, steep ground, poor visibility.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Teamwork: communication within the group, supporting other members, flagging concerns to the leader.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Expedition log: keep a daily record — distance, terrain, decisions, any incidents. This is supporting written evidence.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4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8A951"/>
          </a:solidFill>
          <a:ln w="12700">
            <a:solidFill>
              <a:srgbClr val="C8A9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5486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Outcome 6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Country Code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65760" y="20116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Criteria covered: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2377440"/>
            <a:ext cx="8229600" cy="34747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386584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6.1 — Comply with the Country Code during the expedition.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" y="4818888"/>
            <a:ext cx="5486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MH12CY006  |  Participate in an Expedition</a:t>
            </a:r>
            <a:endParaRPr lang="en-US" sz="9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0" y="73152"/>
            <a:ext cx="685800" cy="484632"/>
          </a:xfrm>
          <a:prstGeom prst="rect">
            <a:avLst/>
          </a:prstGeom>
        </p:spPr>
      </p:pic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156448" y="128016"/>
            <a:ext cx="877824" cy="29260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4818888"/>
            <a:ext cx="5486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MH12CY006  |  Participate in an Expedition</a:t>
            </a:r>
            <a:endParaRPr lang="en-US" sz="9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0" y="73152"/>
            <a:ext cx="685800" cy="484632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156448" y="128016"/>
            <a:ext cx="877824" cy="29260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274320" y="64008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Country Code in Wales</a:t>
            </a:r>
            <a:endParaRPr lang="en-US" sz="2200" dirty="0"/>
          </a:p>
        </p:txBody>
      </p:sp>
      <p:sp>
        <p:nvSpPr>
          <p:cNvPr id="8" name="Shape 4"/>
          <p:cNvSpPr/>
          <p:nvPr/>
        </p:nvSpPr>
        <p:spPr>
          <a:xfrm>
            <a:off x="7315200" y="91440"/>
            <a:ext cx="914400" cy="256032"/>
          </a:xfrm>
          <a:prstGeom prst="rect">
            <a:avLst/>
          </a:prstGeom>
          <a:solidFill>
            <a:srgbClr val="C8A951"/>
          </a:solidFill>
          <a:ln w="12700">
            <a:solidFill>
              <a:srgbClr val="C8A951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315200" y="914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6 / AC 6.1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274320" y="914400"/>
            <a:ext cx="4206240" cy="374904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RESPECT OTHER PEOPLE: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gates as you find them (open or closed).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to paths across farmland.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horses quietly — give them space.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noise levels appropriate — other visitors and local communities.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4663440" y="914400"/>
            <a:ext cx="4206240" cy="374904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THE ENVIRONMENT: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no trace — carry all litter out.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fires except in designated areas.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pick or damage plants.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disturbing nesting birds (March-August) and livestock.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SAFE: Plan ahead, follow local signs, know your access rights.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4526280" y="914400"/>
            <a:ext cx="0" cy="365760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4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8A951"/>
          </a:solidFill>
          <a:ln w="12700">
            <a:solidFill>
              <a:srgbClr val="C8A9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5486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Outcome 7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Navigation Techniques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65760" y="20116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Criteria covered: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2377440"/>
            <a:ext cx="8229600" cy="34747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386584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7.1 — Use navigation techniques during the expedition.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" y="4818888"/>
            <a:ext cx="5486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MH12CY006  |  Participate in an Expedition</a:t>
            </a:r>
            <a:endParaRPr lang="en-US" sz="9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0" y="73152"/>
            <a:ext cx="685800" cy="484632"/>
          </a:xfrm>
          <a:prstGeom prst="rect">
            <a:avLst/>
          </a:prstGeom>
        </p:spPr>
      </p:pic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156448" y="128016"/>
            <a:ext cx="877824" cy="292608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4818888"/>
            <a:ext cx="5486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MH12CY006  |  Participate in an Expedition</a:t>
            </a:r>
            <a:endParaRPr lang="en-US" sz="9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0" y="73152"/>
            <a:ext cx="685800" cy="484632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156448" y="128016"/>
            <a:ext cx="877824" cy="29260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274320" y="64008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Techniques — Part 1</a:t>
            </a:r>
            <a:endParaRPr lang="en-US" sz="2200" dirty="0"/>
          </a:p>
        </p:txBody>
      </p:sp>
      <p:sp>
        <p:nvSpPr>
          <p:cNvPr id="8" name="Shape 4"/>
          <p:cNvSpPr/>
          <p:nvPr/>
        </p:nvSpPr>
        <p:spPr>
          <a:xfrm>
            <a:off x="7315200" y="91440"/>
            <a:ext cx="914400" cy="256032"/>
          </a:xfrm>
          <a:prstGeom prst="rect">
            <a:avLst/>
          </a:prstGeom>
          <a:solidFill>
            <a:srgbClr val="C8A951"/>
          </a:solidFill>
          <a:ln w="12700">
            <a:solidFill>
              <a:srgbClr val="C8A951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315200" y="914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7 / AC 7.1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274320" y="914400"/>
            <a:ext cx="4206240" cy="374904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READING: Six-figure grid references, contour interpretation (shape, height, spacing), map symbols. Orienting the map to ground features.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COMPASS WORK: Taking a bearing from map, walking on bearing, accounting for magnetic declination (~1-2° west in Wales).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4663440" y="914400"/>
            <a:ext cx="4206240" cy="374904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ESTIMATION OF DISTANCE: Pacing (count steps per 100m on your terrain), timing (Naismith), terrain features as checkpoints.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MH12CY006 requires at least two techniques evidenced. MH12CY007 (3-day unit) requires a minimum of THREE named techniques.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4526280" y="914400"/>
            <a:ext cx="0" cy="365760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4818888"/>
            <a:ext cx="5486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MH12CY006  |  Participate in an Expedition</a:t>
            </a:r>
            <a:endParaRPr lang="en-US" sz="9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0" y="73152"/>
            <a:ext cx="685800" cy="484632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156448" y="128016"/>
            <a:ext cx="877824" cy="29260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274320" y="64008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Techniques — Part 2</a:t>
            </a:r>
            <a:endParaRPr lang="en-US" sz="2200" dirty="0"/>
          </a:p>
        </p:txBody>
      </p:sp>
      <p:sp>
        <p:nvSpPr>
          <p:cNvPr id="8" name="Shape 4"/>
          <p:cNvSpPr/>
          <p:nvPr/>
        </p:nvSpPr>
        <p:spPr>
          <a:xfrm>
            <a:off x="7315200" y="91440"/>
            <a:ext cx="914400" cy="256032"/>
          </a:xfrm>
          <a:prstGeom prst="rect">
            <a:avLst/>
          </a:prstGeom>
          <a:solidFill>
            <a:srgbClr val="C8A951"/>
          </a:solidFill>
          <a:ln w="12700">
            <a:solidFill>
              <a:srgbClr val="C8A951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315200" y="914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7 / AC 7.1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274320" y="914400"/>
            <a:ext cx="4206240" cy="374904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AIMING OFF (Intentional Error): Deliberately navigate to one side of a target. When you hit the linear feature (path/wall/stream) you know which way to turn. Removes uncertainty.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target is a bridge. Aim 200m left — when you hit the river you know to turn right.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4663440" y="914400"/>
            <a:ext cx="4206240" cy="374904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HANDRAILING: Use a linear feature alongside your route as a guide. Follow the wall / stream / fence. Reduces need for constant compass work.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POINTS: Navigate to a large obvious feature near your target. Use precise skills only for the final short approach. Reduces error accumulation.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4526280" y="914400"/>
            <a:ext cx="0" cy="365760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4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8A951"/>
          </a:solidFill>
          <a:ln w="12700">
            <a:solidFill>
              <a:srgbClr val="C8A9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5486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Outcome 8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Expedition Equipment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65760" y="20116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Criteria covered: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2377440"/>
            <a:ext cx="8229600" cy="34747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386584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8.1 — Maintain expedition equipment.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" y="4818888"/>
            <a:ext cx="5486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MH12CY006  |  Participate in an Expedition</a:t>
            </a:r>
            <a:endParaRPr lang="en-US" sz="9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0" y="73152"/>
            <a:ext cx="685800" cy="484632"/>
          </a:xfrm>
          <a:prstGeom prst="rect">
            <a:avLst/>
          </a:prstGeom>
        </p:spPr>
      </p:pic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156448" y="128016"/>
            <a:ext cx="877824" cy="292608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4818888"/>
            <a:ext cx="5486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MH12CY006  |  Participate in an Expedition</a:t>
            </a:r>
            <a:endParaRPr lang="en-US" sz="9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0" y="73152"/>
            <a:ext cx="685800" cy="484632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156448" y="128016"/>
            <a:ext cx="877824" cy="29260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274320" y="64008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Maintenance After the Expedition</a:t>
            </a:r>
            <a:endParaRPr lang="en-US" sz="2200" dirty="0"/>
          </a:p>
        </p:txBody>
      </p:sp>
      <p:sp>
        <p:nvSpPr>
          <p:cNvPr id="8" name="Shape 4"/>
          <p:cNvSpPr/>
          <p:nvPr/>
        </p:nvSpPr>
        <p:spPr>
          <a:xfrm>
            <a:off x="7315200" y="91440"/>
            <a:ext cx="914400" cy="256032"/>
          </a:xfrm>
          <a:prstGeom prst="rect">
            <a:avLst/>
          </a:prstGeom>
          <a:solidFill>
            <a:srgbClr val="C8A951"/>
          </a:solidFill>
          <a:ln w="12700">
            <a:solidFill>
              <a:srgbClr val="C8A951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315200" y="914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8 / AC 8.1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274320" y="914400"/>
            <a:ext cx="4206240" cy="374904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TENT: Dry fully before packing (prevents mould). Check poles for cracks. Check guy lines and pegs. Store loosely — never in compression sack long-term.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SLEEPING BAG: Air after each night. Wash per manufacturer instructions (down = specialist wash). Store uncompressed.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FOOTWEAR: Remove mud, dry naturally (not direct heat). Apply Nikwax or similar. Check sole separation.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4663440" y="914400"/>
            <a:ext cx="4206240" cy="374904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WATERPROOFS: Wash with tech wash to restore breathability. Tumble dry on low OR iron over damp cloth to reactivate DWR coating.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STOVE: Clean burner head. Check fuel canister seals. Store in ventilated space.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KIT: Check compass for air bubbles. Map — check condition, laminate if needed. GPS — battery check before next use.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4526280" y="914400"/>
            <a:ext cx="0" cy="365760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4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8A951"/>
          </a:solidFill>
          <a:ln w="12700">
            <a:solidFill>
              <a:srgbClr val="C8A9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5486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Outcome 9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the Expedition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65760" y="20116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Criteria covered: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2377440"/>
            <a:ext cx="8229600" cy="34747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386584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9.1 — Assess the expedition following its completion.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" y="4818888"/>
            <a:ext cx="5486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MH12CY006  |  Participate in an Expedition</a:t>
            </a:r>
            <a:endParaRPr lang="en-US" sz="9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0" y="73152"/>
            <a:ext cx="685800" cy="484632"/>
          </a:xfrm>
          <a:prstGeom prst="rect">
            <a:avLst/>
          </a:prstGeom>
        </p:spPr>
      </p:pic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156448" y="128016"/>
            <a:ext cx="877824" cy="292608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4818888"/>
            <a:ext cx="5486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MH12CY006  |  Participate in an Expedition</a:t>
            </a:r>
            <a:endParaRPr lang="en-US" sz="9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0" y="73152"/>
            <a:ext cx="685800" cy="484632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156448" y="128016"/>
            <a:ext cx="877824" cy="29260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274320" y="64008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Expedition Self-Assessment — Gibbs Reflective Cycle</a:t>
            </a:r>
            <a:endParaRPr lang="en-US" sz="2200" dirty="0"/>
          </a:p>
        </p:txBody>
      </p:sp>
      <p:sp>
        <p:nvSpPr>
          <p:cNvPr id="8" name="Shape 4"/>
          <p:cNvSpPr/>
          <p:nvPr/>
        </p:nvSpPr>
        <p:spPr>
          <a:xfrm>
            <a:off x="7315200" y="91440"/>
            <a:ext cx="914400" cy="256032"/>
          </a:xfrm>
          <a:prstGeom prst="rect">
            <a:avLst/>
          </a:prstGeom>
          <a:solidFill>
            <a:srgbClr val="C8A951"/>
          </a:solidFill>
          <a:ln w="12700">
            <a:solidFill>
              <a:srgbClr val="C8A951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315200" y="914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9 / AC 9.1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274320" y="914400"/>
            <a:ext cx="4206240" cy="374904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DESCRIPTION: What happened? (Cross-reference your expedition log.)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FEELINGS: How did you feel during key moments?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EVALUATION: What went well? What did not go well?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ANALYSIS: Why did things happen as they did?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4663440" y="914400"/>
            <a:ext cx="4206240" cy="374904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CONCLUSION: What have you learned from the experience?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PLAN: What will you do differently on your next expedition?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responses reference specific moments: 'On Day 2, approaching the summit in mist, I found my compass bearing accurate but struggled to maintain pace...'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identify at least two strengths AND at least two improvements.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4526280" y="914400"/>
            <a:ext cx="0" cy="365760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4818888"/>
            <a:ext cx="5486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MH12CY006  |  Participate in an Expedition</a:t>
            </a:r>
            <a:endParaRPr lang="en-US" sz="9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0" y="73152"/>
            <a:ext cx="685800" cy="484632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156448" y="128016"/>
            <a:ext cx="877824" cy="29260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4525"/>
          </a:solidFill>
          <a:ln w="12700">
            <a:solidFill>
              <a:srgbClr val="0F4525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274320" y="9144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Terms — Revision Summary</a:t>
            </a:r>
            <a:endParaRPr lang="en-US" sz="2400" dirty="0"/>
          </a:p>
        </p:txBody>
      </p:sp>
      <p:sp>
        <p:nvSpPr>
          <p:cNvPr id="8" name="Shape 4"/>
          <p:cNvSpPr/>
          <p:nvPr/>
        </p:nvSpPr>
        <p:spPr>
          <a:xfrm>
            <a:off x="137160" y="886968"/>
            <a:ext cx="4389120" cy="621792"/>
          </a:xfrm>
          <a:prstGeom prst="rect">
            <a:avLst/>
          </a:prstGeom>
          <a:solidFill>
            <a:srgbClr val="E8F5EE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137160" y="886968"/>
            <a:ext cx="1463040" cy="62179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137160" y="923544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Hazard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645920" y="923544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with potential to cause harm.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137160" y="1554480"/>
            <a:ext cx="4389120" cy="621792"/>
          </a:xfrm>
          <a:prstGeom prst="rect">
            <a:avLst/>
          </a:prstGeom>
          <a:solidFill>
            <a:srgbClr val="E8F5EE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137160" y="1554480"/>
            <a:ext cx="1463040" cy="62179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137160" y="1591056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645920" y="1591056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Likelihood x Severity of harm from a hazard.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137160" y="2221992"/>
            <a:ext cx="4389120" cy="621792"/>
          </a:xfrm>
          <a:prstGeom prst="rect">
            <a:avLst/>
          </a:prstGeom>
          <a:solidFill>
            <a:srgbClr val="E8F5EE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137160" y="2221992"/>
            <a:ext cx="1463040" cy="62179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137160" y="2258568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Measure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1645920" y="2258568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taken to reduce likelihood or severity of harm.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137160" y="2889504"/>
            <a:ext cx="4389120" cy="621792"/>
          </a:xfrm>
          <a:prstGeom prst="rect">
            <a:avLst/>
          </a:prstGeom>
          <a:solidFill>
            <a:srgbClr val="E8F5EE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137160" y="2889504"/>
            <a:ext cx="1463040" cy="62179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137160" y="29260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Risk Assessment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1645920" y="292608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 reassessment of hazards in the field.</a:t>
            </a:r>
            <a:endParaRPr lang="en-US" sz="900" dirty="0"/>
          </a:p>
        </p:txBody>
      </p:sp>
      <p:sp>
        <p:nvSpPr>
          <p:cNvPr id="24" name="Shape 20"/>
          <p:cNvSpPr/>
          <p:nvPr/>
        </p:nvSpPr>
        <p:spPr>
          <a:xfrm>
            <a:off x="137160" y="3557016"/>
            <a:ext cx="4389120" cy="621792"/>
          </a:xfrm>
          <a:prstGeom prst="rect">
            <a:avLst/>
          </a:prstGeom>
          <a:solidFill>
            <a:srgbClr val="E8F5EE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137160" y="3557016"/>
            <a:ext cx="1463040" cy="62179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137160" y="3593592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EAP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1645920" y="3593592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Action Plan — pre-agreed procedures for dealing with incidents.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137160" y="4224528"/>
            <a:ext cx="4389120" cy="621792"/>
          </a:xfrm>
          <a:prstGeom prst="rect">
            <a:avLst/>
          </a:prstGeom>
          <a:solidFill>
            <a:srgbClr val="E8F5EE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137160" y="4224528"/>
            <a:ext cx="1463040" cy="62179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137160" y="4261104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 ABC</a:t>
            </a:r>
            <a:endParaRPr lang="en-US" sz="900" dirty="0"/>
          </a:p>
        </p:txBody>
      </p:sp>
      <p:sp>
        <p:nvSpPr>
          <p:cNvPr id="31" name="Text 27"/>
          <p:cNvSpPr/>
          <p:nvPr/>
        </p:nvSpPr>
        <p:spPr>
          <a:xfrm>
            <a:off x="1645920" y="4261104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Danger, Response, Airway, Breathing, Circulation — casualty assessment order.</a:t>
            </a:r>
            <a:endParaRPr lang="en-US" sz="900" dirty="0"/>
          </a:p>
        </p:txBody>
      </p:sp>
      <p:sp>
        <p:nvSpPr>
          <p:cNvPr id="32" name="Shape 28"/>
          <p:cNvSpPr/>
          <p:nvPr/>
        </p:nvSpPr>
        <p:spPr>
          <a:xfrm>
            <a:off x="4663440" y="886968"/>
            <a:ext cx="43891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4663440" y="886968"/>
            <a:ext cx="1463040" cy="62179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4663440" y="923544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Naismith's Rule</a:t>
            </a:r>
            <a:endParaRPr lang="en-US" sz="900" dirty="0"/>
          </a:p>
        </p:txBody>
      </p:sp>
      <p:sp>
        <p:nvSpPr>
          <p:cNvPr id="35" name="Text 31"/>
          <p:cNvSpPr/>
          <p:nvPr/>
        </p:nvSpPr>
        <p:spPr>
          <a:xfrm>
            <a:off x="6172200" y="923544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1hr per 5km + 1hr per 600m ascent — walking time estimation.</a:t>
            </a:r>
            <a:endParaRPr lang="en-US" sz="900" dirty="0"/>
          </a:p>
        </p:txBody>
      </p:sp>
      <p:sp>
        <p:nvSpPr>
          <p:cNvPr id="36" name="Shape 32"/>
          <p:cNvSpPr/>
          <p:nvPr/>
        </p:nvSpPr>
        <p:spPr>
          <a:xfrm>
            <a:off x="4663440" y="1554480"/>
            <a:ext cx="43891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4663440" y="1554480"/>
            <a:ext cx="1463040" cy="62179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4663440" y="1591056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Aiming Off</a:t>
            </a:r>
            <a:endParaRPr lang="en-US" sz="900" dirty="0"/>
          </a:p>
        </p:txBody>
      </p:sp>
      <p:sp>
        <p:nvSpPr>
          <p:cNvPr id="39" name="Text 35"/>
          <p:cNvSpPr/>
          <p:nvPr/>
        </p:nvSpPr>
        <p:spPr>
          <a:xfrm>
            <a:off x="6172200" y="1591056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 error to one side of a target so you know which way to turn.</a:t>
            </a:r>
            <a:endParaRPr lang="en-US" sz="900" dirty="0"/>
          </a:p>
        </p:txBody>
      </p:sp>
      <p:sp>
        <p:nvSpPr>
          <p:cNvPr id="40" name="Shape 36"/>
          <p:cNvSpPr/>
          <p:nvPr/>
        </p:nvSpPr>
        <p:spPr>
          <a:xfrm>
            <a:off x="4663440" y="2221992"/>
            <a:ext cx="43891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4663440" y="2221992"/>
            <a:ext cx="1463040" cy="62179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4663440" y="2258568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Handrailing</a:t>
            </a:r>
            <a:endParaRPr lang="en-US" sz="900" dirty="0"/>
          </a:p>
        </p:txBody>
      </p:sp>
      <p:sp>
        <p:nvSpPr>
          <p:cNvPr id="43" name="Text 39"/>
          <p:cNvSpPr/>
          <p:nvPr/>
        </p:nvSpPr>
        <p:spPr>
          <a:xfrm>
            <a:off x="6172200" y="2258568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a linear feature (wall/stream/fence) as a navigational guide.</a:t>
            </a:r>
            <a:endParaRPr lang="en-US" sz="900" dirty="0"/>
          </a:p>
        </p:txBody>
      </p:sp>
      <p:sp>
        <p:nvSpPr>
          <p:cNvPr id="44" name="Shape 40"/>
          <p:cNvSpPr/>
          <p:nvPr/>
        </p:nvSpPr>
        <p:spPr>
          <a:xfrm>
            <a:off x="4663440" y="2889504"/>
            <a:ext cx="43891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5" name="Shape 41"/>
          <p:cNvSpPr/>
          <p:nvPr/>
        </p:nvSpPr>
        <p:spPr>
          <a:xfrm>
            <a:off x="4663440" y="2889504"/>
            <a:ext cx="1463040" cy="62179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46" name="Text 42"/>
          <p:cNvSpPr/>
          <p:nvPr/>
        </p:nvSpPr>
        <p:spPr>
          <a:xfrm>
            <a:off x="4663440" y="29260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Point</a:t>
            </a:r>
            <a:endParaRPr lang="en-US" sz="900" dirty="0"/>
          </a:p>
        </p:txBody>
      </p:sp>
      <p:sp>
        <p:nvSpPr>
          <p:cNvPr id="47" name="Text 43"/>
          <p:cNvSpPr/>
          <p:nvPr/>
        </p:nvSpPr>
        <p:spPr>
          <a:xfrm>
            <a:off x="6172200" y="292608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obvious feature used for the final precise approach to a target.</a:t>
            </a:r>
            <a:endParaRPr lang="en-US" sz="900" dirty="0"/>
          </a:p>
        </p:txBody>
      </p:sp>
      <p:sp>
        <p:nvSpPr>
          <p:cNvPr id="48" name="Shape 44"/>
          <p:cNvSpPr/>
          <p:nvPr/>
        </p:nvSpPr>
        <p:spPr>
          <a:xfrm>
            <a:off x="4663440" y="3557016"/>
            <a:ext cx="43891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9" name="Shape 45"/>
          <p:cNvSpPr/>
          <p:nvPr/>
        </p:nvSpPr>
        <p:spPr>
          <a:xfrm>
            <a:off x="4663440" y="3557016"/>
            <a:ext cx="1463040" cy="62179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4663440" y="3593592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Code</a:t>
            </a:r>
            <a:endParaRPr lang="en-US" sz="900" dirty="0"/>
          </a:p>
        </p:txBody>
      </p:sp>
      <p:sp>
        <p:nvSpPr>
          <p:cNvPr id="51" name="Text 47"/>
          <p:cNvSpPr/>
          <p:nvPr/>
        </p:nvSpPr>
        <p:spPr>
          <a:xfrm>
            <a:off x="6172200" y="3593592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Guidelines for responsible behaviour in the Welsh/English outdoors.</a:t>
            </a:r>
            <a:endParaRPr lang="en-US" sz="900" dirty="0"/>
          </a:p>
        </p:txBody>
      </p:sp>
      <p:sp>
        <p:nvSpPr>
          <p:cNvPr id="52" name="Shape 48"/>
          <p:cNvSpPr/>
          <p:nvPr/>
        </p:nvSpPr>
        <p:spPr>
          <a:xfrm>
            <a:off x="4663440" y="4224528"/>
            <a:ext cx="43891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3" name="Shape 49"/>
          <p:cNvSpPr/>
          <p:nvPr/>
        </p:nvSpPr>
        <p:spPr>
          <a:xfrm>
            <a:off x="4663440" y="4224528"/>
            <a:ext cx="1463040" cy="62179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54" name="Text 50"/>
          <p:cNvSpPr/>
          <p:nvPr/>
        </p:nvSpPr>
        <p:spPr>
          <a:xfrm>
            <a:off x="4663440" y="4261104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Reference</a:t>
            </a:r>
            <a:endParaRPr lang="en-US" sz="900" dirty="0"/>
          </a:p>
        </p:txBody>
      </p:sp>
      <p:sp>
        <p:nvSpPr>
          <p:cNvPr id="55" name="Text 51"/>
          <p:cNvSpPr/>
          <p:nvPr/>
        </p:nvSpPr>
        <p:spPr>
          <a:xfrm>
            <a:off x="6172200" y="4261104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6-figure reference identifying a 100m square on an OS map.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F4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8A951"/>
          </a:solidFill>
          <a:ln w="12700">
            <a:solidFill>
              <a:srgbClr val="C8A9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open your digital workbook.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65760" y="19202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workbook file is: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2286000"/>
            <a:ext cx="8229600" cy="50292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22860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MH12CY006ExpeditionDigital.html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29260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DD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your answers are saved automatically.  </a:t>
            </a:r>
            <a:pPr indent="0" marL="0">
              <a:buNone/>
            </a:pPr>
            <a:r>
              <a:rPr lang="en-US" sz="1300" dirty="0">
                <a:solidFill>
                  <a:srgbClr val="AADD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Save File to keep a backup.</a:t>
            </a:r>
            <a:endParaRPr lang="en-US" sz="13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931920"/>
            <a:ext cx="914400" cy="640080"/>
          </a:xfrm>
          <a:prstGeom prst="rect">
            <a:avLst/>
          </a:prstGeom>
        </p:spPr>
      </p:pic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508760" y="4059936"/>
            <a:ext cx="1280160" cy="4297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017520" y="411480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MH12CY006  |  Participate in an Expedition  |  Jonathan Jones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C8A951"/>
          </a:solidFill>
          <a:ln w="12700">
            <a:solidFill>
              <a:srgbClr val="C8A951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182880" y="4818888"/>
            <a:ext cx="8778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Bryn Llywarch Outdoor Education  |  Agored Cymru Level 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MH12CY006 Participate in an Expedition — Teaching Slides</dc:title>
  <dc:subject>PptxGenJS Presentation</dc:subject>
  <dc:creator>Jonathan Jones</dc:creator>
  <cp:lastModifiedBy>Jonathan Jones</cp:lastModifiedBy>
  <cp:revision>1</cp:revision>
  <dcterms:created xsi:type="dcterms:W3CDTF">2026-04-11T20:16:36Z</dcterms:created>
  <dcterms:modified xsi:type="dcterms:W3CDTF">2026-04-11T20:16:36Z</dcterms:modified>
</cp:coreProperties>
</file>