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e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e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e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e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e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e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e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e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e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e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e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e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e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e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jpe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jpe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525"/>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8A951"/>
          </a:solidFill>
          <a:ln w="12700">
            <a:solidFill>
              <a:srgbClr val="C8A951"/>
            </a:solidFill>
            <a:prstDash val="solid"/>
          </a:ln>
        </p:spPr>
      </p:sp>
      <p:sp>
        <p:nvSpPr>
          <p:cNvPr id="3" name="Shape 1"/>
          <p:cNvSpPr/>
          <p:nvPr/>
        </p:nvSpPr>
        <p:spPr>
          <a:xfrm>
            <a:off x="438912" y="347472"/>
            <a:ext cx="2560320" cy="237744"/>
          </a:xfrm>
          <a:prstGeom prst="rect">
            <a:avLst/>
          </a:prstGeom>
          <a:solidFill>
            <a:srgbClr val="1A6B3C"/>
          </a:solidFill>
          <a:ln w="12700">
            <a:solidFill>
              <a:srgbClr val="1A6B3C"/>
            </a:solidFill>
            <a:prstDash val="solid"/>
          </a:ln>
        </p:spPr>
      </p:sp>
      <p:sp>
        <p:nvSpPr>
          <p:cNvPr id="4" name="Text 2"/>
          <p:cNvSpPr/>
          <p:nvPr/>
        </p:nvSpPr>
        <p:spPr>
          <a:xfrm>
            <a:off x="438912" y="347472"/>
            <a:ext cx="256032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Agored Cymru Level 3  |  HB93CY003  |  3 Credits</a:t>
            </a:r>
            <a:endParaRPr lang="en-US" sz="800" dirty="0"/>
          </a:p>
        </p:txBody>
      </p:sp>
      <p:sp>
        <p:nvSpPr>
          <p:cNvPr id="5" name="Text 3"/>
          <p:cNvSpPr/>
          <p:nvPr/>
        </p:nvSpPr>
        <p:spPr>
          <a:xfrm>
            <a:off x="438912" y="713232"/>
            <a:ext cx="6583680" cy="1828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Risk Management</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when Learning in the Outdoors</a:t>
            </a:r>
            <a:endParaRPr lang="en-US" sz="3600" dirty="0"/>
          </a:p>
        </p:txBody>
      </p:sp>
      <p:sp>
        <p:nvSpPr>
          <p:cNvPr id="6" name="Text 4"/>
          <p:cNvSpPr/>
          <p:nvPr/>
        </p:nvSpPr>
        <p:spPr>
          <a:xfrm>
            <a:off x="438912" y="2633472"/>
            <a:ext cx="6583680" cy="310896"/>
          </a:xfrm>
          <a:prstGeom prst="rect">
            <a:avLst/>
          </a:prstGeom>
          <a:noFill/>
          <a:ln/>
        </p:spPr>
        <p:txBody>
          <a:bodyPr wrap="square" lIns="0" tIns="0" rIns="0" bIns="0" rtlCol="0" anchor="ctr"/>
          <a:lstStyle/>
          <a:p>
            <a:pPr indent="0" marL="0">
              <a:buNone/>
            </a:pPr>
            <a:r>
              <a:rPr lang="en-US" sz="1100" i="1" dirty="0">
                <a:solidFill>
                  <a:srgbClr val="E8F5EE"/>
                </a:solidFill>
                <a:latin typeface="Calibri" pitchFamily="34" charset="0"/>
                <a:ea typeface="Calibri" pitchFamily="34" charset="-122"/>
                <a:cs typeface="Calibri" pitchFamily="34" charset="-120"/>
              </a:rPr>
              <a:t>Teaching Resource  |  Jonathan Jones  |  Brynllywarch Outdoor Education</a:t>
            </a:r>
            <a:endParaRPr lang="en-US" sz="1100" dirty="0"/>
          </a:p>
        </p:txBody>
      </p:sp>
      <p:sp>
        <p:nvSpPr>
          <p:cNvPr id="7" name="Shape 5"/>
          <p:cNvSpPr/>
          <p:nvPr/>
        </p:nvSpPr>
        <p:spPr>
          <a:xfrm>
            <a:off x="438912" y="3090672"/>
            <a:ext cx="1572768" cy="621792"/>
          </a:xfrm>
          <a:prstGeom prst="rect">
            <a:avLst/>
          </a:prstGeom>
          <a:solidFill>
            <a:srgbClr val="1A6B3C"/>
          </a:solidFill>
          <a:ln w="19050">
            <a:solidFill>
              <a:srgbClr val="C8A951"/>
            </a:solidFill>
            <a:prstDash val="solid"/>
          </a:ln>
        </p:spPr>
      </p:sp>
      <p:sp>
        <p:nvSpPr>
          <p:cNvPr id="8" name="Text 6"/>
          <p:cNvSpPr/>
          <p:nvPr/>
        </p:nvSpPr>
        <p:spPr>
          <a:xfrm>
            <a:off x="438912" y="3090672"/>
            <a:ext cx="1572768" cy="274320"/>
          </a:xfrm>
          <a:prstGeom prst="rect">
            <a:avLst/>
          </a:prstGeom>
          <a:noFill/>
          <a:ln/>
        </p:spPr>
        <p:txBody>
          <a:bodyPr wrap="square" lIns="0" tIns="0" rIns="0" bIns="0" rtlCol="0" anchor="ctr"/>
          <a:lstStyle/>
          <a:p>
            <a:pPr algn="ctr" indent="0" marL="0">
              <a:buNone/>
            </a:pPr>
            <a:r>
              <a:rPr lang="en-US" sz="1100" b="1" dirty="0">
                <a:solidFill>
                  <a:srgbClr val="C8A951"/>
                </a:solidFill>
                <a:latin typeface="Calibri" pitchFamily="34" charset="0"/>
                <a:ea typeface="Calibri" pitchFamily="34" charset="-122"/>
                <a:cs typeface="Calibri" pitchFamily="34" charset="-120"/>
              </a:rPr>
              <a:t>LO 1</a:t>
            </a:r>
            <a:endParaRPr lang="en-US" sz="1100" dirty="0"/>
          </a:p>
        </p:txBody>
      </p:sp>
      <p:sp>
        <p:nvSpPr>
          <p:cNvPr id="9" name="Text 7"/>
          <p:cNvSpPr/>
          <p:nvPr/>
        </p:nvSpPr>
        <p:spPr>
          <a:xfrm>
            <a:off x="438912" y="3364992"/>
            <a:ext cx="1572768" cy="25603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Legislation &amp; Guidelines</a:t>
            </a:r>
            <a:endParaRPr lang="en-US" sz="900" dirty="0"/>
          </a:p>
        </p:txBody>
      </p:sp>
      <p:sp>
        <p:nvSpPr>
          <p:cNvPr id="10" name="Shape 8"/>
          <p:cNvSpPr/>
          <p:nvPr/>
        </p:nvSpPr>
        <p:spPr>
          <a:xfrm>
            <a:off x="2103120" y="3090672"/>
            <a:ext cx="1572768" cy="621792"/>
          </a:xfrm>
          <a:prstGeom prst="rect">
            <a:avLst/>
          </a:prstGeom>
          <a:solidFill>
            <a:srgbClr val="1A6B3C"/>
          </a:solidFill>
          <a:ln w="19050">
            <a:solidFill>
              <a:srgbClr val="C8A951"/>
            </a:solidFill>
            <a:prstDash val="solid"/>
          </a:ln>
        </p:spPr>
      </p:sp>
      <p:sp>
        <p:nvSpPr>
          <p:cNvPr id="11" name="Text 9"/>
          <p:cNvSpPr/>
          <p:nvPr/>
        </p:nvSpPr>
        <p:spPr>
          <a:xfrm>
            <a:off x="2103120" y="3090672"/>
            <a:ext cx="1572768" cy="274320"/>
          </a:xfrm>
          <a:prstGeom prst="rect">
            <a:avLst/>
          </a:prstGeom>
          <a:noFill/>
          <a:ln/>
        </p:spPr>
        <p:txBody>
          <a:bodyPr wrap="square" lIns="0" tIns="0" rIns="0" bIns="0" rtlCol="0" anchor="ctr"/>
          <a:lstStyle/>
          <a:p>
            <a:pPr algn="ctr" indent="0" marL="0">
              <a:buNone/>
            </a:pPr>
            <a:r>
              <a:rPr lang="en-US" sz="1100" b="1" dirty="0">
                <a:solidFill>
                  <a:srgbClr val="C8A951"/>
                </a:solidFill>
                <a:latin typeface="Calibri" pitchFamily="34" charset="0"/>
                <a:ea typeface="Calibri" pitchFamily="34" charset="-122"/>
                <a:cs typeface="Calibri" pitchFamily="34" charset="-120"/>
              </a:rPr>
              <a:t>LO 2</a:t>
            </a:r>
            <a:endParaRPr lang="en-US" sz="1100" dirty="0"/>
          </a:p>
        </p:txBody>
      </p:sp>
      <p:sp>
        <p:nvSpPr>
          <p:cNvPr id="12" name="Text 10"/>
          <p:cNvSpPr/>
          <p:nvPr/>
        </p:nvSpPr>
        <p:spPr>
          <a:xfrm>
            <a:off x="2103120" y="3364992"/>
            <a:ext cx="1572768" cy="25603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Risk Assessment Theory</a:t>
            </a:r>
            <a:endParaRPr lang="en-US" sz="900" dirty="0"/>
          </a:p>
        </p:txBody>
      </p:sp>
      <p:sp>
        <p:nvSpPr>
          <p:cNvPr id="13" name="Shape 11"/>
          <p:cNvSpPr/>
          <p:nvPr/>
        </p:nvSpPr>
        <p:spPr>
          <a:xfrm>
            <a:off x="3767328" y="3090672"/>
            <a:ext cx="1572768" cy="621792"/>
          </a:xfrm>
          <a:prstGeom prst="rect">
            <a:avLst/>
          </a:prstGeom>
          <a:solidFill>
            <a:srgbClr val="1A6B3C"/>
          </a:solidFill>
          <a:ln w="19050">
            <a:solidFill>
              <a:srgbClr val="C8A951"/>
            </a:solidFill>
            <a:prstDash val="solid"/>
          </a:ln>
        </p:spPr>
      </p:sp>
      <p:sp>
        <p:nvSpPr>
          <p:cNvPr id="14" name="Text 12"/>
          <p:cNvSpPr/>
          <p:nvPr/>
        </p:nvSpPr>
        <p:spPr>
          <a:xfrm>
            <a:off x="3767328" y="3090672"/>
            <a:ext cx="1572768" cy="274320"/>
          </a:xfrm>
          <a:prstGeom prst="rect">
            <a:avLst/>
          </a:prstGeom>
          <a:noFill/>
          <a:ln/>
        </p:spPr>
        <p:txBody>
          <a:bodyPr wrap="square" lIns="0" tIns="0" rIns="0" bIns="0" rtlCol="0" anchor="ctr"/>
          <a:lstStyle/>
          <a:p>
            <a:pPr algn="ctr" indent="0" marL="0">
              <a:buNone/>
            </a:pPr>
            <a:r>
              <a:rPr lang="en-US" sz="1100" b="1" dirty="0">
                <a:solidFill>
                  <a:srgbClr val="C8A951"/>
                </a:solidFill>
                <a:latin typeface="Calibri" pitchFamily="34" charset="0"/>
                <a:ea typeface="Calibri" pitchFamily="34" charset="-122"/>
                <a:cs typeface="Calibri" pitchFamily="34" charset="-120"/>
              </a:rPr>
              <a:t>LO 3</a:t>
            </a:r>
            <a:endParaRPr lang="en-US" sz="1100" dirty="0"/>
          </a:p>
        </p:txBody>
      </p:sp>
      <p:sp>
        <p:nvSpPr>
          <p:cNvPr id="15" name="Text 13"/>
          <p:cNvSpPr/>
          <p:nvPr/>
        </p:nvSpPr>
        <p:spPr>
          <a:xfrm>
            <a:off x="3767328" y="3364992"/>
            <a:ext cx="1572768" cy="25603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RA in Practice</a:t>
            </a:r>
            <a:endParaRPr lang="en-US" sz="900" dirty="0"/>
          </a:p>
        </p:txBody>
      </p:sp>
      <p:sp>
        <p:nvSpPr>
          <p:cNvPr id="16" name="Shape 14"/>
          <p:cNvSpPr/>
          <p:nvPr/>
        </p:nvSpPr>
        <p:spPr>
          <a:xfrm>
            <a:off x="5431536" y="3090672"/>
            <a:ext cx="1572768" cy="621792"/>
          </a:xfrm>
          <a:prstGeom prst="rect">
            <a:avLst/>
          </a:prstGeom>
          <a:solidFill>
            <a:srgbClr val="1A6B3C"/>
          </a:solidFill>
          <a:ln w="19050">
            <a:solidFill>
              <a:srgbClr val="C8A951"/>
            </a:solidFill>
            <a:prstDash val="solid"/>
          </a:ln>
        </p:spPr>
      </p:sp>
      <p:sp>
        <p:nvSpPr>
          <p:cNvPr id="17" name="Text 15"/>
          <p:cNvSpPr/>
          <p:nvPr/>
        </p:nvSpPr>
        <p:spPr>
          <a:xfrm>
            <a:off x="5431536" y="3090672"/>
            <a:ext cx="1572768" cy="274320"/>
          </a:xfrm>
          <a:prstGeom prst="rect">
            <a:avLst/>
          </a:prstGeom>
          <a:noFill/>
          <a:ln/>
        </p:spPr>
        <p:txBody>
          <a:bodyPr wrap="square" lIns="0" tIns="0" rIns="0" bIns="0" rtlCol="0" anchor="ctr"/>
          <a:lstStyle/>
          <a:p>
            <a:pPr algn="ctr" indent="0" marL="0">
              <a:buNone/>
            </a:pPr>
            <a:r>
              <a:rPr lang="en-US" sz="1100" b="1" dirty="0">
                <a:solidFill>
                  <a:srgbClr val="C8A951"/>
                </a:solidFill>
                <a:latin typeface="Calibri" pitchFamily="34" charset="0"/>
                <a:ea typeface="Calibri" pitchFamily="34" charset="-122"/>
                <a:cs typeface="Calibri" pitchFamily="34" charset="-120"/>
              </a:rPr>
              <a:t>LO 4</a:t>
            </a:r>
            <a:endParaRPr lang="en-US" sz="1100" dirty="0"/>
          </a:p>
        </p:txBody>
      </p:sp>
      <p:sp>
        <p:nvSpPr>
          <p:cNvPr id="18" name="Text 16"/>
          <p:cNvSpPr/>
          <p:nvPr/>
        </p:nvSpPr>
        <p:spPr>
          <a:xfrm>
            <a:off x="5431536" y="3364992"/>
            <a:ext cx="1572768" cy="25603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Clothing &amp; Equipment</a:t>
            </a:r>
            <a:endParaRPr lang="en-US" sz="900" dirty="0"/>
          </a:p>
        </p:txBody>
      </p:sp>
      <p:pic>
        <p:nvPicPr>
          <p:cNvPr id="19" name="Image 0" descr="preencoded.png">    </p:cNvPr>
          <p:cNvPicPr>
            <a:picLocks noChangeAspect="1"/>
          </p:cNvPicPr>
          <p:nvPr/>
        </p:nvPicPr>
        <p:blipFill>
          <a:blip r:embed="rId1"/>
          <a:stretch>
            <a:fillRect/>
          </a:stretch>
        </p:blipFill>
        <p:spPr>
          <a:xfrm>
            <a:off x="7269480" y="3977640"/>
            <a:ext cx="841248" cy="585216"/>
          </a:xfrm>
          <a:prstGeom prst="rect">
            <a:avLst/>
          </a:prstGeom>
        </p:spPr>
      </p:pic>
      <p:pic>
        <p:nvPicPr>
          <p:cNvPr id="20" name="Image 1" descr="preencoded.png">    </p:cNvPr>
          <p:cNvPicPr>
            <a:picLocks noChangeAspect="1"/>
          </p:cNvPicPr>
          <p:nvPr/>
        </p:nvPicPr>
        <p:blipFill>
          <a:blip r:embed="rId2"/>
          <a:stretch>
            <a:fillRect/>
          </a:stretch>
        </p:blipFill>
        <p:spPr>
          <a:xfrm>
            <a:off x="8183880" y="4023360"/>
            <a:ext cx="914400" cy="512064"/>
          </a:xfrm>
          <a:prstGeom prst="rect">
            <a:avLst/>
          </a:prstGeom>
        </p:spPr>
      </p:pic>
      <p:sp>
        <p:nvSpPr>
          <p:cNvPr id="21" name="Shape 17"/>
          <p:cNvSpPr/>
          <p:nvPr/>
        </p:nvSpPr>
        <p:spPr>
          <a:xfrm>
            <a:off x="0" y="4983480"/>
            <a:ext cx="9144000" cy="160020"/>
          </a:xfrm>
          <a:prstGeom prst="rect">
            <a:avLst/>
          </a:prstGeom>
          <a:solidFill>
            <a:srgbClr val="0A2E18"/>
          </a:solidFill>
          <a:ln w="12700">
            <a:solidFill>
              <a:srgbClr val="0A2E18"/>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69480" y="64008"/>
            <a:ext cx="694944" cy="484632"/>
          </a:xfrm>
          <a:prstGeom prst="rect">
            <a:avLst/>
          </a:prstGeom>
        </p:spPr>
      </p:pic>
      <p:pic>
        <p:nvPicPr>
          <p:cNvPr id="3" name="Image 1" descr="preencoded.png">    </p:cNvPr>
          <p:cNvPicPr>
            <a:picLocks noChangeAspect="1"/>
          </p:cNvPicPr>
          <p:nvPr/>
        </p:nvPicPr>
        <p:blipFill>
          <a:blip r:embed="rId2"/>
          <a:stretch>
            <a:fillRect/>
          </a:stretch>
        </p:blipFill>
        <p:spPr>
          <a:xfrm>
            <a:off x="8019288" y="91440"/>
            <a:ext cx="969264" cy="402336"/>
          </a:xfrm>
          <a:prstGeom prst="rect">
            <a:avLst/>
          </a:prstGeom>
        </p:spPr>
      </p:pic>
      <p:sp>
        <p:nvSpPr>
          <p:cNvPr id="4" name="Shape 0"/>
          <p:cNvSpPr/>
          <p:nvPr/>
        </p:nvSpPr>
        <p:spPr>
          <a:xfrm>
            <a:off x="0" y="4983480"/>
            <a:ext cx="9144000" cy="160020"/>
          </a:xfrm>
          <a:prstGeom prst="rect">
            <a:avLst/>
          </a:prstGeom>
          <a:solidFill>
            <a:srgbClr val="1A6B3C"/>
          </a:solidFill>
          <a:ln w="12700">
            <a:solidFill>
              <a:srgbClr val="1A6B3C"/>
            </a:solidFill>
            <a:prstDash val="solid"/>
          </a:ln>
        </p:spPr>
      </p:sp>
      <p:sp>
        <p:nvSpPr>
          <p:cNvPr id="5" name="Text 1"/>
          <p:cNvSpPr/>
          <p:nvPr/>
        </p:nvSpPr>
        <p:spPr>
          <a:xfrm>
            <a:off x="109728" y="4983480"/>
            <a:ext cx="2286000" cy="160020"/>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HB93CY003</a:t>
            </a:r>
            <a:endParaRPr lang="en-US" sz="800" dirty="0"/>
          </a:p>
        </p:txBody>
      </p:sp>
      <p:sp>
        <p:nvSpPr>
          <p:cNvPr id="6" name="Text 2"/>
          <p:cNvSpPr/>
          <p:nvPr/>
        </p:nvSpPr>
        <p:spPr>
          <a:xfrm>
            <a:off x="3200400" y="4983480"/>
            <a:ext cx="5833872" cy="160020"/>
          </a:xfrm>
          <a:prstGeom prst="rect">
            <a:avLst/>
          </a:prstGeom>
          <a:noFill/>
          <a:ln/>
        </p:spPr>
        <p:txBody>
          <a:bodyPr wrap="square" lIns="0" tIns="0" rIns="0" bIns="0" rtlCol="0" anchor="ctr"/>
          <a:lstStyle/>
          <a:p>
            <a:pPr algn="r" indent="0" marL="0">
              <a:buNone/>
            </a:pPr>
            <a:r>
              <a:rPr lang="en-US" sz="800" dirty="0">
                <a:solidFill>
                  <a:srgbClr val="FFFFFF"/>
                </a:solidFill>
                <a:latin typeface="Calibri" pitchFamily="34" charset="0"/>
                <a:ea typeface="Calibri" pitchFamily="34" charset="-122"/>
                <a:cs typeface="Calibri" pitchFamily="34" charset="-120"/>
              </a:rPr>
              <a:t>Risk Management when Learning in the Outdoors  |  Level 3</a:t>
            </a:r>
            <a:endParaRPr lang="en-US" sz="800" dirty="0"/>
          </a:p>
        </p:txBody>
      </p:sp>
      <p:sp>
        <p:nvSpPr>
          <p:cNvPr id="7" name="Text 3"/>
          <p:cNvSpPr/>
          <p:nvPr/>
        </p:nvSpPr>
        <p:spPr>
          <a:xfrm>
            <a:off x="365760" y="109728"/>
            <a:ext cx="6812280" cy="530352"/>
          </a:xfrm>
          <a:prstGeom prst="rect">
            <a:avLst/>
          </a:prstGeom>
          <a:noFill/>
          <a:ln/>
        </p:spPr>
        <p:txBody>
          <a:bodyPr wrap="square" lIns="0" tIns="0" rIns="0" bIns="0" rtlCol="0" anchor="ctr"/>
          <a:lstStyle/>
          <a:p>
            <a:pPr indent="0" marL="0">
              <a:buNone/>
            </a:pPr>
            <a:r>
              <a:rPr lang="en-US" sz="2200" b="1" dirty="0">
                <a:solidFill>
                  <a:srgbClr val="0F4525"/>
                </a:solidFill>
                <a:latin typeface="Calibri" pitchFamily="34" charset="0"/>
                <a:ea typeface="Calibri" pitchFamily="34" charset="-122"/>
                <a:cs typeface="Calibri" pitchFamily="34" charset="-120"/>
              </a:rPr>
              <a:t>Unit at a Glance</a:t>
            </a:r>
            <a:endParaRPr lang="en-US" sz="2200" dirty="0"/>
          </a:p>
        </p:txBody>
      </p:sp>
      <p:sp>
        <p:nvSpPr>
          <p:cNvPr id="8" name="Shape 4"/>
          <p:cNvSpPr/>
          <p:nvPr/>
        </p:nvSpPr>
        <p:spPr>
          <a:xfrm>
            <a:off x="365760" y="685800"/>
            <a:ext cx="8412480" cy="347472"/>
          </a:xfrm>
          <a:prstGeom prst="rect">
            <a:avLst/>
          </a:prstGeom>
          <a:solidFill>
            <a:srgbClr val="E8F5EE"/>
          </a:solidFill>
          <a:ln w="12700">
            <a:solidFill>
              <a:srgbClr val="1A6B3C"/>
            </a:solidFill>
            <a:prstDash val="solid"/>
          </a:ln>
        </p:spPr>
      </p:sp>
      <p:sp>
        <p:nvSpPr>
          <p:cNvPr id="9" name="Text 5"/>
          <p:cNvSpPr/>
          <p:nvPr/>
        </p:nvSpPr>
        <p:spPr>
          <a:xfrm>
            <a:off x="475488" y="685800"/>
            <a:ext cx="8229600" cy="347472"/>
          </a:xfrm>
          <a:prstGeom prst="rect">
            <a:avLst/>
          </a:prstGeom>
          <a:noFill/>
          <a:ln/>
        </p:spPr>
        <p:txBody>
          <a:bodyPr wrap="square" lIns="0" tIns="0" rIns="0" bIns="0" rtlCol="0" anchor="ctr"/>
          <a:lstStyle/>
          <a:p>
            <a:pPr indent="0" marL="0">
              <a:buNone/>
            </a:pPr>
            <a:r>
              <a:rPr lang="en-US" sz="1050" i="1" dirty="0">
                <a:solidFill>
                  <a:srgbClr val="0F4525"/>
                </a:solidFill>
                <a:latin typeface="Calibri" pitchFamily="34" charset="0"/>
                <a:ea typeface="Calibri" pitchFamily="34" charset="-122"/>
                <a:cs typeface="Calibri" pitchFamily="34" charset="-120"/>
              </a:rPr>
              <a:t>Purpose: To enable learners to adopt safe practices in the outdoors through understanding legislation, appropriate clothing/equipment and risk assessment.</a:t>
            </a:r>
            <a:endParaRPr lang="en-US" sz="1050" dirty="0"/>
          </a:p>
        </p:txBody>
      </p:sp>
      <p:sp>
        <p:nvSpPr>
          <p:cNvPr id="10" name="Shape 6"/>
          <p:cNvSpPr/>
          <p:nvPr/>
        </p:nvSpPr>
        <p:spPr>
          <a:xfrm>
            <a:off x="365760" y="1115568"/>
            <a:ext cx="2029968" cy="3246120"/>
          </a:xfrm>
          <a:prstGeom prst="rect">
            <a:avLst/>
          </a:prstGeom>
          <a:solidFill>
            <a:srgbClr val="FFFFFF"/>
          </a:solidFill>
          <a:ln w="9525">
            <a:solidFill>
              <a:srgbClr val="D4D4CC"/>
            </a:solidFill>
            <a:prstDash val="solid"/>
          </a:ln>
          <a:effectLst>
            <a:outerShdw sx="100000" sy="100000" kx="0" ky="0" algn="bl" rotWithShape="0" blurRad="63500" dist="25400" dir="8100000">
              <a:srgbClr val="000000">
                <a:alpha val="12000"/>
              </a:srgbClr>
            </a:outerShdw>
          </a:effectLst>
        </p:spPr>
      </p:sp>
      <p:sp>
        <p:nvSpPr>
          <p:cNvPr id="11" name="Shape 7"/>
          <p:cNvSpPr/>
          <p:nvPr/>
        </p:nvSpPr>
        <p:spPr>
          <a:xfrm>
            <a:off x="365760" y="1115568"/>
            <a:ext cx="2029968" cy="502920"/>
          </a:xfrm>
          <a:prstGeom prst="rect">
            <a:avLst/>
          </a:prstGeom>
          <a:solidFill>
            <a:srgbClr val="0F4525"/>
          </a:solidFill>
          <a:ln w="12700">
            <a:solidFill>
              <a:srgbClr val="0F4525"/>
            </a:solidFill>
            <a:prstDash val="solid"/>
          </a:ln>
        </p:spPr>
      </p:sp>
      <p:sp>
        <p:nvSpPr>
          <p:cNvPr id="12" name="Text 8"/>
          <p:cNvSpPr/>
          <p:nvPr/>
        </p:nvSpPr>
        <p:spPr>
          <a:xfrm>
            <a:off x="365760" y="1115568"/>
            <a:ext cx="493776" cy="502920"/>
          </a:xfrm>
          <a:prstGeom prst="rect">
            <a:avLst/>
          </a:prstGeom>
          <a:noFill/>
          <a:ln/>
        </p:spPr>
        <p:txBody>
          <a:bodyPr wrap="square" lIns="0" tIns="0" rIns="0" bIns="0" rtlCol="0" anchor="ctr"/>
          <a:lstStyle/>
          <a:p>
            <a:pPr algn="ctr" indent="0" marL="0">
              <a:buNone/>
            </a:pPr>
            <a:r>
              <a:rPr lang="en-US" sz="1600" b="1" dirty="0">
                <a:solidFill>
                  <a:srgbClr val="C8A951"/>
                </a:solidFill>
                <a:latin typeface="Calibri" pitchFamily="34" charset="0"/>
                <a:ea typeface="Calibri" pitchFamily="34" charset="-122"/>
                <a:cs typeface="Calibri" pitchFamily="34" charset="-120"/>
              </a:rPr>
              <a:t>LO 1</a:t>
            </a:r>
            <a:endParaRPr lang="en-US" sz="1600" dirty="0"/>
          </a:p>
        </p:txBody>
      </p:sp>
      <p:sp>
        <p:nvSpPr>
          <p:cNvPr id="13" name="Text 9"/>
          <p:cNvSpPr/>
          <p:nvPr/>
        </p:nvSpPr>
        <p:spPr>
          <a:xfrm>
            <a:off x="877824" y="1115568"/>
            <a:ext cx="1481328" cy="5029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Legislation &amp;</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Guidelines</a:t>
            </a:r>
            <a:endParaRPr lang="en-US" sz="950" dirty="0"/>
          </a:p>
        </p:txBody>
      </p:sp>
      <p:sp>
        <p:nvSpPr>
          <p:cNvPr id="14" name="Text 10"/>
          <p:cNvSpPr/>
          <p:nvPr/>
        </p:nvSpPr>
        <p:spPr>
          <a:xfrm>
            <a:off x="457200" y="1664208"/>
            <a:ext cx="1865376" cy="2651760"/>
          </a:xfrm>
          <a:prstGeom prst="rect">
            <a:avLst/>
          </a:prstGeom>
          <a:noFill/>
          <a:ln/>
        </p:spPr>
        <p:txBody>
          <a:bodyPr wrap="square" lIns="50800" tIns="76200" rIns="76200" bIns="50800" rtlCol="0" anchor="t"/>
          <a:lstStyle/>
          <a:p>
            <a:pPr indent="0" marL="0">
              <a:buNone/>
            </a:pPr>
            <a:r>
              <a:rPr lang="en-US" sz="900" dirty="0">
                <a:solidFill>
                  <a:srgbClr val="1A1A1A"/>
                </a:solidFill>
                <a:latin typeface="Calibri" pitchFamily="34" charset="0"/>
                <a:ea typeface="Calibri" pitchFamily="34" charset="-122"/>
                <a:cs typeface="Calibri" pitchFamily="34" charset="-120"/>
              </a:rPr>
              <a:t>1.1  Examples of legislation (min. 2)</a:t>
            </a:r>
            <a:endParaRPr lang="en-US" sz="900" dirty="0"/>
          </a:p>
          <a:p>
            <a:pPr indent="0" marL="0">
              <a:buNone/>
            </a:pPr>
            <a:r>
              <a:rPr lang="en-US" sz="900" dirty="0">
                <a:solidFill>
                  <a:srgbClr val="1A1A1A"/>
                </a:solidFill>
                <a:latin typeface="Calibri" pitchFamily="34" charset="0"/>
                <a:ea typeface="Calibri" pitchFamily="34" charset="-122"/>
                <a:cs typeface="Calibri" pitchFamily="34" charset="-120"/>
              </a:rPr>
              <a:t>1.2  NGB guidelines (min. 2)</a:t>
            </a:r>
            <a:endParaRPr lang="en-US" sz="900" dirty="0"/>
          </a:p>
        </p:txBody>
      </p:sp>
      <p:sp>
        <p:nvSpPr>
          <p:cNvPr id="15" name="Shape 11"/>
          <p:cNvSpPr/>
          <p:nvPr/>
        </p:nvSpPr>
        <p:spPr>
          <a:xfrm>
            <a:off x="2487168" y="1115568"/>
            <a:ext cx="2029968" cy="3246120"/>
          </a:xfrm>
          <a:prstGeom prst="rect">
            <a:avLst/>
          </a:prstGeom>
          <a:solidFill>
            <a:srgbClr val="FFFFFF"/>
          </a:solidFill>
          <a:ln w="9525">
            <a:solidFill>
              <a:srgbClr val="D4D4CC"/>
            </a:solidFill>
            <a:prstDash val="solid"/>
          </a:ln>
          <a:effectLst>
            <a:outerShdw sx="100000" sy="100000" kx="0" ky="0" algn="bl" rotWithShape="0" blurRad="63500" dist="25400" dir="8100000">
              <a:srgbClr val="000000">
                <a:alpha val="12000"/>
              </a:srgbClr>
            </a:outerShdw>
          </a:effectLst>
        </p:spPr>
      </p:sp>
      <p:sp>
        <p:nvSpPr>
          <p:cNvPr id="16" name="Shape 12"/>
          <p:cNvSpPr/>
          <p:nvPr/>
        </p:nvSpPr>
        <p:spPr>
          <a:xfrm>
            <a:off x="2487168" y="1115568"/>
            <a:ext cx="2029968" cy="502920"/>
          </a:xfrm>
          <a:prstGeom prst="rect">
            <a:avLst/>
          </a:prstGeom>
          <a:solidFill>
            <a:srgbClr val="0F4525"/>
          </a:solidFill>
          <a:ln w="12700">
            <a:solidFill>
              <a:srgbClr val="0F4525"/>
            </a:solidFill>
            <a:prstDash val="solid"/>
          </a:ln>
        </p:spPr>
      </p:sp>
      <p:sp>
        <p:nvSpPr>
          <p:cNvPr id="17" name="Text 13"/>
          <p:cNvSpPr/>
          <p:nvPr/>
        </p:nvSpPr>
        <p:spPr>
          <a:xfrm>
            <a:off x="2487168" y="1115568"/>
            <a:ext cx="493776" cy="502920"/>
          </a:xfrm>
          <a:prstGeom prst="rect">
            <a:avLst/>
          </a:prstGeom>
          <a:noFill/>
          <a:ln/>
        </p:spPr>
        <p:txBody>
          <a:bodyPr wrap="square" lIns="0" tIns="0" rIns="0" bIns="0" rtlCol="0" anchor="ctr"/>
          <a:lstStyle/>
          <a:p>
            <a:pPr algn="ctr" indent="0" marL="0">
              <a:buNone/>
            </a:pPr>
            <a:r>
              <a:rPr lang="en-US" sz="1600" b="1" dirty="0">
                <a:solidFill>
                  <a:srgbClr val="C8A951"/>
                </a:solidFill>
                <a:latin typeface="Calibri" pitchFamily="34" charset="0"/>
                <a:ea typeface="Calibri" pitchFamily="34" charset="-122"/>
                <a:cs typeface="Calibri" pitchFamily="34" charset="-120"/>
              </a:rPr>
              <a:t>LO 2</a:t>
            </a:r>
            <a:endParaRPr lang="en-US" sz="1600" dirty="0"/>
          </a:p>
        </p:txBody>
      </p:sp>
      <p:sp>
        <p:nvSpPr>
          <p:cNvPr id="18" name="Text 14"/>
          <p:cNvSpPr/>
          <p:nvPr/>
        </p:nvSpPr>
        <p:spPr>
          <a:xfrm>
            <a:off x="2999232" y="1115568"/>
            <a:ext cx="1481328" cy="5029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Role of Risk</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Assessment</a:t>
            </a:r>
            <a:endParaRPr lang="en-US" sz="950" dirty="0"/>
          </a:p>
        </p:txBody>
      </p:sp>
      <p:sp>
        <p:nvSpPr>
          <p:cNvPr id="19" name="Text 15"/>
          <p:cNvSpPr/>
          <p:nvPr/>
        </p:nvSpPr>
        <p:spPr>
          <a:xfrm>
            <a:off x="2578608" y="1664208"/>
            <a:ext cx="1865376" cy="2651760"/>
          </a:xfrm>
          <a:prstGeom prst="rect">
            <a:avLst/>
          </a:prstGeom>
          <a:noFill/>
          <a:ln/>
        </p:spPr>
        <p:txBody>
          <a:bodyPr wrap="square" lIns="50800" tIns="76200" rIns="76200" bIns="50800" rtlCol="0" anchor="t"/>
          <a:lstStyle/>
          <a:p>
            <a:pPr indent="0" marL="0">
              <a:buNone/>
            </a:pPr>
            <a:r>
              <a:rPr lang="en-US" sz="900" dirty="0">
                <a:solidFill>
                  <a:srgbClr val="1A1A1A"/>
                </a:solidFill>
                <a:latin typeface="Calibri" pitchFamily="34" charset="0"/>
                <a:ea typeface="Calibri" pitchFamily="34" charset="-122"/>
                <a:cs typeface="Calibri" pitchFamily="34" charset="-120"/>
              </a:rPr>
              <a:t>2.1  Describe hazards &amp; risks (min. 2 each)</a:t>
            </a:r>
            <a:endParaRPr lang="en-US" sz="900" dirty="0"/>
          </a:p>
          <a:p>
            <a:pPr indent="0" marL="0">
              <a:buNone/>
            </a:pPr>
            <a:r>
              <a:rPr lang="en-US" sz="900" dirty="0">
                <a:solidFill>
                  <a:srgbClr val="1A1A1A"/>
                </a:solidFill>
                <a:latin typeface="Calibri" pitchFamily="34" charset="0"/>
                <a:ea typeface="Calibri" pitchFamily="34" charset="-122"/>
                <a:cs typeface="Calibri" pitchFamily="34" charset="-120"/>
              </a:rPr>
              <a:t>2.2  Accident scenario + 2 responses</a:t>
            </a:r>
            <a:endParaRPr lang="en-US" sz="900" dirty="0"/>
          </a:p>
          <a:p>
            <a:pPr indent="0" marL="0">
              <a:buNone/>
            </a:pPr>
            <a:r>
              <a:rPr lang="en-US" sz="900" dirty="0">
                <a:solidFill>
                  <a:srgbClr val="1A1A1A"/>
                </a:solidFill>
                <a:latin typeface="Calibri" pitchFamily="34" charset="0"/>
                <a:ea typeface="Calibri" pitchFamily="34" charset="-122"/>
                <a:cs typeface="Calibri" pitchFamily="34" charset="-120"/>
              </a:rPr>
              <a:t>2.3  Importance of adhering to RA</a:t>
            </a:r>
            <a:endParaRPr lang="en-US" sz="900" dirty="0"/>
          </a:p>
          <a:p>
            <a:pPr indent="0" marL="0">
              <a:buNone/>
            </a:pPr>
            <a:r>
              <a:rPr lang="en-US" sz="900" dirty="0">
                <a:solidFill>
                  <a:srgbClr val="1A1A1A"/>
                </a:solidFill>
                <a:latin typeface="Calibri" pitchFamily="34" charset="0"/>
                <a:ea typeface="Calibri" pitchFamily="34" charset="-122"/>
                <a:cs typeface="Calibri" pitchFamily="34" charset="-120"/>
              </a:rPr>
              <a:t>2.4  Importance of dynamic RA</a:t>
            </a:r>
            <a:endParaRPr lang="en-US" sz="900" dirty="0"/>
          </a:p>
        </p:txBody>
      </p:sp>
      <p:sp>
        <p:nvSpPr>
          <p:cNvPr id="20" name="Shape 16"/>
          <p:cNvSpPr/>
          <p:nvPr/>
        </p:nvSpPr>
        <p:spPr>
          <a:xfrm>
            <a:off x="4608576" y="1115568"/>
            <a:ext cx="2029968" cy="3246120"/>
          </a:xfrm>
          <a:prstGeom prst="rect">
            <a:avLst/>
          </a:prstGeom>
          <a:solidFill>
            <a:srgbClr val="FFFFFF"/>
          </a:solidFill>
          <a:ln w="9525">
            <a:solidFill>
              <a:srgbClr val="D4D4CC"/>
            </a:solidFill>
            <a:prstDash val="solid"/>
          </a:ln>
          <a:effectLst>
            <a:outerShdw sx="100000" sy="100000" kx="0" ky="0" algn="bl" rotWithShape="0" blurRad="63500" dist="25400" dir="8100000">
              <a:srgbClr val="000000">
                <a:alpha val="12000"/>
              </a:srgbClr>
            </a:outerShdw>
          </a:effectLst>
        </p:spPr>
      </p:sp>
      <p:sp>
        <p:nvSpPr>
          <p:cNvPr id="21" name="Shape 17"/>
          <p:cNvSpPr/>
          <p:nvPr/>
        </p:nvSpPr>
        <p:spPr>
          <a:xfrm>
            <a:off x="4608576" y="1115568"/>
            <a:ext cx="2029968" cy="502920"/>
          </a:xfrm>
          <a:prstGeom prst="rect">
            <a:avLst/>
          </a:prstGeom>
          <a:solidFill>
            <a:srgbClr val="0F4525"/>
          </a:solidFill>
          <a:ln w="12700">
            <a:solidFill>
              <a:srgbClr val="0F4525"/>
            </a:solidFill>
            <a:prstDash val="solid"/>
          </a:ln>
        </p:spPr>
      </p:sp>
      <p:sp>
        <p:nvSpPr>
          <p:cNvPr id="22" name="Text 18"/>
          <p:cNvSpPr/>
          <p:nvPr/>
        </p:nvSpPr>
        <p:spPr>
          <a:xfrm>
            <a:off x="4608576" y="1115568"/>
            <a:ext cx="493776" cy="502920"/>
          </a:xfrm>
          <a:prstGeom prst="rect">
            <a:avLst/>
          </a:prstGeom>
          <a:noFill/>
          <a:ln/>
        </p:spPr>
        <p:txBody>
          <a:bodyPr wrap="square" lIns="0" tIns="0" rIns="0" bIns="0" rtlCol="0" anchor="ctr"/>
          <a:lstStyle/>
          <a:p>
            <a:pPr algn="ctr" indent="0" marL="0">
              <a:buNone/>
            </a:pPr>
            <a:r>
              <a:rPr lang="en-US" sz="1600" b="1" dirty="0">
                <a:solidFill>
                  <a:srgbClr val="C8A951"/>
                </a:solidFill>
                <a:latin typeface="Calibri" pitchFamily="34" charset="0"/>
                <a:ea typeface="Calibri" pitchFamily="34" charset="-122"/>
                <a:cs typeface="Calibri" pitchFamily="34" charset="-120"/>
              </a:rPr>
              <a:t>LO 3</a:t>
            </a:r>
            <a:endParaRPr lang="en-US" sz="1600" dirty="0"/>
          </a:p>
        </p:txBody>
      </p:sp>
      <p:sp>
        <p:nvSpPr>
          <p:cNvPr id="23" name="Text 19"/>
          <p:cNvSpPr/>
          <p:nvPr/>
        </p:nvSpPr>
        <p:spPr>
          <a:xfrm>
            <a:off x="5120640" y="1115568"/>
            <a:ext cx="1481328" cy="5029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Produce &amp; Adhere</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to a Risk Assessment</a:t>
            </a:r>
            <a:endParaRPr lang="en-US" sz="950" dirty="0"/>
          </a:p>
        </p:txBody>
      </p:sp>
      <p:sp>
        <p:nvSpPr>
          <p:cNvPr id="24" name="Text 20"/>
          <p:cNvSpPr/>
          <p:nvPr/>
        </p:nvSpPr>
        <p:spPr>
          <a:xfrm>
            <a:off x="4700016" y="1664208"/>
            <a:ext cx="1865376" cy="2651760"/>
          </a:xfrm>
          <a:prstGeom prst="rect">
            <a:avLst/>
          </a:prstGeom>
          <a:noFill/>
          <a:ln/>
        </p:spPr>
        <p:txBody>
          <a:bodyPr wrap="square" lIns="50800" tIns="76200" rIns="76200" bIns="50800" rtlCol="0" anchor="t"/>
          <a:lstStyle/>
          <a:p>
            <a:pPr indent="0" marL="0">
              <a:buNone/>
            </a:pPr>
            <a:r>
              <a:rPr lang="en-US" sz="900" dirty="0">
                <a:solidFill>
                  <a:srgbClr val="1A1A1A"/>
                </a:solidFill>
                <a:latin typeface="Calibri" pitchFamily="34" charset="0"/>
                <a:ea typeface="Calibri" pitchFamily="34" charset="-122"/>
                <a:cs typeface="Calibri" pitchFamily="34" charset="-120"/>
              </a:rPr>
              <a:t>3.1  Develop an RA for chosen activity</a:t>
            </a:r>
            <a:endParaRPr lang="en-US" sz="900" dirty="0"/>
          </a:p>
          <a:p>
            <a:pPr indent="0" marL="0">
              <a:buNone/>
            </a:pPr>
            <a:r>
              <a:rPr lang="en-US" sz="900" dirty="0">
                <a:solidFill>
                  <a:srgbClr val="1A1A1A"/>
                </a:solidFill>
                <a:latin typeface="Calibri" pitchFamily="34" charset="0"/>
                <a:ea typeface="Calibri" pitchFamily="34" charset="-122"/>
                <a:cs typeface="Calibri" pitchFamily="34" charset="-120"/>
              </a:rPr>
              <a:t>3.2  Equipment fit for purpose</a:t>
            </a:r>
            <a:endParaRPr lang="en-US" sz="900" dirty="0"/>
          </a:p>
          <a:p>
            <a:pPr indent="0" marL="0">
              <a:buNone/>
            </a:pPr>
            <a:r>
              <a:rPr lang="en-US" sz="900" dirty="0">
                <a:solidFill>
                  <a:srgbClr val="1A1A1A"/>
                </a:solidFill>
                <a:latin typeface="Calibri" pitchFamily="34" charset="0"/>
                <a:ea typeface="Calibri" pitchFamily="34" charset="-122"/>
                <a:cs typeface="Calibri" pitchFamily="34" charset="-120"/>
              </a:rPr>
              <a:t>3.3  Demonstrate adherence (OBSERVATION)</a:t>
            </a:r>
            <a:endParaRPr lang="en-US" sz="900" dirty="0"/>
          </a:p>
          <a:p>
            <a:pPr indent="0" marL="0">
              <a:buNone/>
            </a:pPr>
            <a:r>
              <a:rPr lang="en-US" sz="900" dirty="0">
                <a:solidFill>
                  <a:srgbClr val="1A1A1A"/>
                </a:solidFill>
                <a:latin typeface="Calibri" pitchFamily="34" charset="0"/>
                <a:ea typeface="Calibri" pitchFamily="34" charset="-122"/>
                <a:cs typeface="Calibri" pitchFamily="34" charset="-120"/>
              </a:rPr>
              <a:t>3.4  Review the RA post-activity</a:t>
            </a:r>
            <a:endParaRPr lang="en-US" sz="900" dirty="0"/>
          </a:p>
        </p:txBody>
      </p:sp>
      <p:sp>
        <p:nvSpPr>
          <p:cNvPr id="25" name="Shape 21"/>
          <p:cNvSpPr/>
          <p:nvPr/>
        </p:nvSpPr>
        <p:spPr>
          <a:xfrm>
            <a:off x="6729984" y="1115568"/>
            <a:ext cx="2029968" cy="3246120"/>
          </a:xfrm>
          <a:prstGeom prst="rect">
            <a:avLst/>
          </a:prstGeom>
          <a:solidFill>
            <a:srgbClr val="FFFFFF"/>
          </a:solidFill>
          <a:ln w="9525">
            <a:solidFill>
              <a:srgbClr val="D4D4CC"/>
            </a:solidFill>
            <a:prstDash val="solid"/>
          </a:ln>
          <a:effectLst>
            <a:outerShdw sx="100000" sy="100000" kx="0" ky="0" algn="bl" rotWithShape="0" blurRad="63500" dist="25400" dir="8100000">
              <a:srgbClr val="000000">
                <a:alpha val="12000"/>
              </a:srgbClr>
            </a:outerShdw>
          </a:effectLst>
        </p:spPr>
      </p:sp>
      <p:sp>
        <p:nvSpPr>
          <p:cNvPr id="26" name="Shape 22"/>
          <p:cNvSpPr/>
          <p:nvPr/>
        </p:nvSpPr>
        <p:spPr>
          <a:xfrm>
            <a:off x="6729984" y="1115568"/>
            <a:ext cx="2029968" cy="502920"/>
          </a:xfrm>
          <a:prstGeom prst="rect">
            <a:avLst/>
          </a:prstGeom>
          <a:solidFill>
            <a:srgbClr val="0F4525"/>
          </a:solidFill>
          <a:ln w="12700">
            <a:solidFill>
              <a:srgbClr val="0F4525"/>
            </a:solidFill>
            <a:prstDash val="solid"/>
          </a:ln>
        </p:spPr>
      </p:sp>
      <p:sp>
        <p:nvSpPr>
          <p:cNvPr id="27" name="Text 23"/>
          <p:cNvSpPr/>
          <p:nvPr/>
        </p:nvSpPr>
        <p:spPr>
          <a:xfrm>
            <a:off x="6729984" y="1115568"/>
            <a:ext cx="493776" cy="502920"/>
          </a:xfrm>
          <a:prstGeom prst="rect">
            <a:avLst/>
          </a:prstGeom>
          <a:noFill/>
          <a:ln/>
        </p:spPr>
        <p:txBody>
          <a:bodyPr wrap="square" lIns="0" tIns="0" rIns="0" bIns="0" rtlCol="0" anchor="ctr"/>
          <a:lstStyle/>
          <a:p>
            <a:pPr algn="ctr" indent="0" marL="0">
              <a:buNone/>
            </a:pPr>
            <a:r>
              <a:rPr lang="en-US" sz="1600" b="1" dirty="0">
                <a:solidFill>
                  <a:srgbClr val="C8A951"/>
                </a:solidFill>
                <a:latin typeface="Calibri" pitchFamily="34" charset="0"/>
                <a:ea typeface="Calibri" pitchFamily="34" charset="-122"/>
                <a:cs typeface="Calibri" pitchFamily="34" charset="-120"/>
              </a:rPr>
              <a:t>LO 4</a:t>
            </a:r>
            <a:endParaRPr lang="en-US" sz="1600" dirty="0"/>
          </a:p>
        </p:txBody>
      </p:sp>
      <p:sp>
        <p:nvSpPr>
          <p:cNvPr id="28" name="Text 24"/>
          <p:cNvSpPr/>
          <p:nvPr/>
        </p:nvSpPr>
        <p:spPr>
          <a:xfrm>
            <a:off x="7242048" y="1115568"/>
            <a:ext cx="1481328" cy="50292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Safety Clothing</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&amp; Equipment</a:t>
            </a:r>
            <a:endParaRPr lang="en-US" sz="950" dirty="0"/>
          </a:p>
        </p:txBody>
      </p:sp>
      <p:sp>
        <p:nvSpPr>
          <p:cNvPr id="29" name="Text 25"/>
          <p:cNvSpPr/>
          <p:nvPr/>
        </p:nvSpPr>
        <p:spPr>
          <a:xfrm>
            <a:off x="6821424" y="1664208"/>
            <a:ext cx="1865376" cy="2651760"/>
          </a:xfrm>
          <a:prstGeom prst="rect">
            <a:avLst/>
          </a:prstGeom>
          <a:noFill/>
          <a:ln/>
        </p:spPr>
        <p:txBody>
          <a:bodyPr wrap="square" lIns="50800" tIns="76200" rIns="76200" bIns="50800" rtlCol="0" anchor="t"/>
          <a:lstStyle/>
          <a:p>
            <a:pPr indent="0" marL="0">
              <a:buNone/>
            </a:pPr>
            <a:r>
              <a:rPr lang="en-US" sz="900" dirty="0">
                <a:solidFill>
                  <a:srgbClr val="1A1A1A"/>
                </a:solidFill>
                <a:latin typeface="Calibri" pitchFamily="34" charset="0"/>
                <a:ea typeface="Calibri" pitchFamily="34" charset="-122"/>
                <a:cs typeface="Calibri" pitchFamily="34" charset="-120"/>
              </a:rPr>
              <a:t>4.1  Demonstrate safe use (OBSERVATION)</a:t>
            </a:r>
            <a:endParaRPr lang="en-US" sz="900" dirty="0"/>
          </a:p>
          <a:p>
            <a:pPr indent="0" marL="0">
              <a:buNone/>
            </a:pPr>
            <a:r>
              <a:rPr lang="en-US" sz="900" dirty="0">
                <a:solidFill>
                  <a:srgbClr val="1A1A1A"/>
                </a:solidFill>
                <a:latin typeface="Calibri" pitchFamily="34" charset="0"/>
                <a:ea typeface="Calibri" pitchFamily="34" charset="-122"/>
                <a:cs typeface="Calibri" pitchFamily="34" charset="-120"/>
              </a:rPr>
              <a:t>4.2  Alternative equipment (min. 2 situations)</a:t>
            </a:r>
            <a:endParaRPr lang="en-US" sz="900" dirty="0"/>
          </a:p>
        </p:txBody>
      </p:sp>
      <p:sp>
        <p:nvSpPr>
          <p:cNvPr id="30" name="Shape 26"/>
          <p:cNvSpPr/>
          <p:nvPr/>
        </p:nvSpPr>
        <p:spPr>
          <a:xfrm>
            <a:off x="365760" y="4462272"/>
            <a:ext cx="8412480" cy="347472"/>
          </a:xfrm>
          <a:prstGeom prst="rect">
            <a:avLst/>
          </a:prstGeom>
          <a:solidFill>
            <a:srgbClr val="FFFBEB"/>
          </a:solidFill>
          <a:ln w="12700">
            <a:solidFill>
              <a:srgbClr val="F59E0B"/>
            </a:solidFill>
            <a:prstDash val="solid"/>
          </a:ln>
        </p:spPr>
      </p:sp>
      <p:sp>
        <p:nvSpPr>
          <p:cNvPr id="31" name="Text 27"/>
          <p:cNvSpPr/>
          <p:nvPr/>
        </p:nvSpPr>
        <p:spPr>
          <a:xfrm>
            <a:off x="475488" y="4462272"/>
            <a:ext cx="8229600" cy="347472"/>
          </a:xfrm>
          <a:prstGeom prst="rect">
            <a:avLst/>
          </a:prstGeom>
          <a:noFill/>
          <a:ln/>
        </p:spPr>
        <p:txBody>
          <a:bodyPr wrap="square" lIns="0" tIns="0" rIns="0" bIns="0" rtlCol="0" anchor="ctr"/>
          <a:lstStyle/>
          <a:p>
            <a:pPr indent="0" marL="0">
              <a:buNone/>
            </a:pPr>
            <a:r>
              <a:rPr lang="en-US" sz="1000" b="1" dirty="0">
                <a:solidFill>
                  <a:srgbClr val="92400E"/>
                </a:solidFill>
                <a:latin typeface="Calibri" pitchFamily="34" charset="0"/>
                <a:ea typeface="Calibri" pitchFamily="34" charset="-122"/>
                <a:cs typeface="Calibri" pitchFamily="34" charset="-120"/>
              </a:rPr>
              <a:t>AC 3.3 and AC 4.1 require practical observation by the assessor during the activity. AC 3.1 uses the workbook risk assessment template.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52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69480" y="64008"/>
            <a:ext cx="694944" cy="484632"/>
          </a:xfrm>
          <a:prstGeom prst="rect">
            <a:avLst/>
          </a:prstGeom>
        </p:spPr>
      </p:pic>
      <p:pic>
        <p:nvPicPr>
          <p:cNvPr id="3" name="Image 1" descr="preencoded.png">    </p:cNvPr>
          <p:cNvPicPr>
            <a:picLocks noChangeAspect="1"/>
          </p:cNvPicPr>
          <p:nvPr/>
        </p:nvPicPr>
        <p:blipFill>
          <a:blip r:embed="rId2"/>
          <a:stretch>
            <a:fillRect/>
          </a:stretch>
        </p:blipFill>
        <p:spPr>
          <a:xfrm>
            <a:off x="8019288" y="91440"/>
            <a:ext cx="969264" cy="402336"/>
          </a:xfrm>
          <a:prstGeom prst="rect">
            <a:avLst/>
          </a:prstGeom>
        </p:spPr>
      </p:pic>
      <p:sp>
        <p:nvSpPr>
          <p:cNvPr id="4" name="Text 0"/>
          <p:cNvSpPr/>
          <p:nvPr/>
        </p:nvSpPr>
        <p:spPr>
          <a:xfrm>
            <a:off x="5943600" y="-365760"/>
            <a:ext cx="2926080" cy="3657600"/>
          </a:xfrm>
          <a:prstGeom prst="rect">
            <a:avLst/>
          </a:prstGeom>
          <a:noFill/>
          <a:ln/>
        </p:spPr>
        <p:txBody>
          <a:bodyPr wrap="square" lIns="0" tIns="0" rIns="0" bIns="0" rtlCol="0" anchor="t"/>
          <a:lstStyle/>
          <a:p>
            <a:pPr algn="r" indent="0" marL="0">
              <a:buNone/>
            </a:pPr>
            <a:r>
              <a:rPr lang="en-US" sz="22000" b="1" dirty="0">
                <a:solidFill>
                  <a:srgbClr val="FFFFFF">
                    <a:alpha val="15000"/>
                  </a:srgbClr>
                </a:solidFill>
                <a:latin typeface="Calibri" pitchFamily="34" charset="0"/>
                <a:ea typeface="Calibri" pitchFamily="34" charset="-122"/>
                <a:cs typeface="Calibri" pitchFamily="34" charset="-120"/>
              </a:rPr>
              <a:t>1</a:t>
            </a:r>
            <a:endParaRPr lang="en-US" sz="22000" dirty="0"/>
          </a:p>
        </p:txBody>
      </p:sp>
      <p:sp>
        <p:nvSpPr>
          <p:cNvPr id="5" name="Shape 1"/>
          <p:cNvSpPr/>
          <p:nvPr/>
        </p:nvSpPr>
        <p:spPr>
          <a:xfrm>
            <a:off x="0" y="0"/>
            <a:ext cx="164592" cy="5143500"/>
          </a:xfrm>
          <a:prstGeom prst="rect">
            <a:avLst/>
          </a:prstGeom>
          <a:solidFill>
            <a:srgbClr val="C8A951"/>
          </a:solidFill>
          <a:ln w="12700">
            <a:solidFill>
              <a:srgbClr val="C8A951"/>
            </a:solidFill>
            <a:prstDash val="solid"/>
          </a:ln>
        </p:spPr>
      </p:sp>
      <p:sp>
        <p:nvSpPr>
          <p:cNvPr id="6" name="Text 2"/>
          <p:cNvSpPr/>
          <p:nvPr/>
        </p:nvSpPr>
        <p:spPr>
          <a:xfrm>
            <a:off x="347472" y="502920"/>
            <a:ext cx="6400800" cy="256032"/>
          </a:xfrm>
          <a:prstGeom prst="rect">
            <a:avLst/>
          </a:prstGeom>
          <a:noFill/>
          <a:ln/>
        </p:spPr>
        <p:txBody>
          <a:bodyPr wrap="square" lIns="0" tIns="0" rIns="0" bIns="0" rtlCol="0" anchor="ctr"/>
          <a:lstStyle/>
          <a:p>
            <a:pPr indent="0" marL="0">
              <a:buNone/>
            </a:pPr>
            <a:r>
              <a:rPr lang="en-US" sz="1100" b="1" spc="300" kern="0" dirty="0">
                <a:solidFill>
                  <a:srgbClr val="C8A951"/>
                </a:solidFill>
                <a:latin typeface="Calibri" pitchFamily="34" charset="0"/>
                <a:ea typeface="Calibri" pitchFamily="34" charset="-122"/>
                <a:cs typeface="Calibri" pitchFamily="34" charset="-120"/>
              </a:rPr>
              <a:t>LEARNING OUTCOME 1</a:t>
            </a:r>
            <a:endParaRPr lang="en-US" sz="1100" dirty="0"/>
          </a:p>
        </p:txBody>
      </p:sp>
      <p:sp>
        <p:nvSpPr>
          <p:cNvPr id="7" name="Text 3"/>
          <p:cNvSpPr/>
          <p:nvPr/>
        </p:nvSpPr>
        <p:spPr>
          <a:xfrm>
            <a:off x="347472" y="804672"/>
            <a:ext cx="6949440" cy="10058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Understand Legislation and Guidelines</a:t>
            </a:r>
            <a:endParaRPr lang="en-US" sz="3000" dirty="0"/>
          </a:p>
        </p:txBody>
      </p:sp>
      <p:sp>
        <p:nvSpPr>
          <p:cNvPr id="8" name="Text 4"/>
          <p:cNvSpPr/>
          <p:nvPr/>
        </p:nvSpPr>
        <p:spPr>
          <a:xfrm>
            <a:off x="347472" y="1901952"/>
            <a:ext cx="6217920" cy="384048"/>
          </a:xfrm>
          <a:prstGeom prst="rect">
            <a:avLst/>
          </a:prstGeom>
          <a:noFill/>
          <a:ln/>
        </p:spPr>
        <p:txBody>
          <a:bodyPr wrap="square" lIns="0" tIns="0" rIns="0" bIns="0" rtlCol="0" anchor="ctr"/>
          <a:lstStyle/>
          <a:p>
            <a:pPr indent="0" marL="0">
              <a:buNone/>
            </a:pPr>
            <a:r>
              <a:rPr lang="en-US" sz="1200" i="1" dirty="0">
                <a:solidFill>
                  <a:srgbClr val="E8F5EE"/>
                </a:solidFill>
                <a:latin typeface="Calibri" pitchFamily="34" charset="0"/>
                <a:ea typeface="Calibri" pitchFamily="34" charset="-122"/>
                <a:cs typeface="Calibri" pitchFamily="34" charset="-120"/>
              </a:rPr>
              <a:t>Know the legal framework that governs outdoor activities and the guidance that shapes professional practice.</a:t>
            </a:r>
            <a:endParaRPr lang="en-US" sz="1200" dirty="0"/>
          </a:p>
        </p:txBody>
      </p:sp>
      <p:sp>
        <p:nvSpPr>
          <p:cNvPr id="9" name="Shape 5"/>
          <p:cNvSpPr/>
          <p:nvPr/>
        </p:nvSpPr>
        <p:spPr>
          <a:xfrm>
            <a:off x="347472" y="2395728"/>
            <a:ext cx="5943600" cy="2377440"/>
          </a:xfrm>
          <a:prstGeom prst="rect">
            <a:avLst/>
          </a:prstGeom>
          <a:solidFill>
            <a:srgbClr val="0A2E18"/>
          </a:solidFill>
          <a:ln w="12700">
            <a:solidFill>
              <a:srgbClr val="1A6B3C"/>
            </a:solidFill>
            <a:prstDash val="solid"/>
          </a:ln>
        </p:spPr>
      </p:sp>
      <p:sp>
        <p:nvSpPr>
          <p:cNvPr id="10" name="Text 6"/>
          <p:cNvSpPr/>
          <p:nvPr/>
        </p:nvSpPr>
        <p:spPr>
          <a:xfrm>
            <a:off x="457200" y="2432304"/>
            <a:ext cx="5669280" cy="256032"/>
          </a:xfrm>
          <a:prstGeom prst="rect">
            <a:avLst/>
          </a:prstGeom>
          <a:noFill/>
          <a:ln/>
        </p:spPr>
        <p:txBody>
          <a:bodyPr wrap="square" lIns="0" tIns="0" rIns="0" bIns="0" rtlCol="0" anchor="ctr"/>
          <a:lstStyle/>
          <a:p>
            <a:pPr indent="0" marL="0">
              <a:buNone/>
            </a:pPr>
            <a:r>
              <a:rPr lang="en-US" sz="1000" b="1" dirty="0">
                <a:solidFill>
                  <a:srgbClr val="C8A951"/>
                </a:solidFill>
                <a:latin typeface="Calibri" pitchFamily="34" charset="0"/>
                <a:ea typeface="Calibri" pitchFamily="34" charset="-122"/>
                <a:cs typeface="Calibri" pitchFamily="34" charset="-120"/>
              </a:rPr>
              <a:t>Assessment Criteria</a:t>
            </a:r>
            <a:endParaRPr lang="en-US" sz="1000" dirty="0"/>
          </a:p>
        </p:txBody>
      </p:sp>
      <p:sp>
        <p:nvSpPr>
          <p:cNvPr id="11" name="Text 7"/>
          <p:cNvSpPr/>
          <p:nvPr/>
        </p:nvSpPr>
        <p:spPr>
          <a:xfrm>
            <a:off x="457200" y="2724912"/>
            <a:ext cx="5687568" cy="1993392"/>
          </a:xfrm>
          <a:prstGeom prst="rect">
            <a:avLst/>
          </a:prstGeom>
          <a:noFill/>
          <a:ln/>
        </p:spPr>
        <p:txBody>
          <a:bodyPr wrap="square" lIns="0" tIns="0" rIns="0" bIns="0" rtlCol="0" anchor="t"/>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1.1  Give examples of legislation related to health and safety in outdoor activities (min. 2)</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1.2  Give examples of guidelines for different outdoor activities (min. 2 — e.g. Canoe Wales, Mountain Training, OEAP, BMC)</a:t>
            </a:r>
            <a:endParaRPr lang="en-US" sz="1100" dirty="0"/>
          </a:p>
        </p:txBody>
      </p:sp>
      <p:sp>
        <p:nvSpPr>
          <p:cNvPr id="12" name="Shape 8"/>
          <p:cNvSpPr/>
          <p:nvPr/>
        </p:nvSpPr>
        <p:spPr>
          <a:xfrm>
            <a:off x="0" y="4983480"/>
            <a:ext cx="9144000" cy="160020"/>
          </a:xfrm>
          <a:prstGeom prst="rect">
            <a:avLst/>
          </a:prstGeom>
          <a:solidFill>
            <a:srgbClr val="0A2E18"/>
          </a:solidFill>
          <a:ln w="12700">
            <a:solidFill>
              <a:srgbClr val="0A2E18"/>
            </a:solidFill>
            <a:prstDash val="solid"/>
          </a:ln>
        </p:spPr>
      </p:sp>
      <p:sp>
        <p:nvSpPr>
          <p:cNvPr id="13" name="Text 9"/>
          <p:cNvSpPr/>
          <p:nvPr/>
        </p:nvSpPr>
        <p:spPr>
          <a:xfrm>
            <a:off x="274320" y="4983480"/>
            <a:ext cx="8595360" cy="160020"/>
          </a:xfrm>
          <a:prstGeom prst="rect">
            <a:avLst/>
          </a:prstGeom>
          <a:noFill/>
          <a:ln/>
        </p:spPr>
        <p:txBody>
          <a:bodyPr wrap="square" lIns="0" tIns="0" rIns="0" bIns="0" rtlCol="0" anchor="ctr"/>
          <a:lstStyle/>
          <a:p>
            <a:pPr algn="ctr" indent="0" marL="0">
              <a:buNone/>
            </a:pPr>
            <a:r>
              <a:rPr lang="en-US" sz="800" dirty="0">
                <a:solidFill>
                  <a:srgbClr val="E8F5EE"/>
                </a:solidFill>
                <a:latin typeface="Calibri" pitchFamily="34" charset="0"/>
                <a:ea typeface="Calibri" pitchFamily="34" charset="-122"/>
                <a:cs typeface="Calibri" pitchFamily="34" charset="-120"/>
              </a:rPr>
              <a:t>HB93CY003  |  Risk Management when Learning in the Outdoors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69480" y="64008"/>
            <a:ext cx="694944" cy="484632"/>
          </a:xfrm>
          <a:prstGeom prst="rect">
            <a:avLst/>
          </a:prstGeom>
        </p:spPr>
      </p:pic>
      <p:pic>
        <p:nvPicPr>
          <p:cNvPr id="3" name="Image 1" descr="preencoded.png">    </p:cNvPr>
          <p:cNvPicPr>
            <a:picLocks noChangeAspect="1"/>
          </p:cNvPicPr>
          <p:nvPr/>
        </p:nvPicPr>
        <p:blipFill>
          <a:blip r:embed="rId2"/>
          <a:stretch>
            <a:fillRect/>
          </a:stretch>
        </p:blipFill>
        <p:spPr>
          <a:xfrm>
            <a:off x="8019288" y="91440"/>
            <a:ext cx="969264" cy="402336"/>
          </a:xfrm>
          <a:prstGeom prst="rect">
            <a:avLst/>
          </a:prstGeom>
        </p:spPr>
      </p:pic>
      <p:sp>
        <p:nvSpPr>
          <p:cNvPr id="4" name="Shape 0"/>
          <p:cNvSpPr/>
          <p:nvPr/>
        </p:nvSpPr>
        <p:spPr>
          <a:xfrm>
            <a:off x="0" y="4983480"/>
            <a:ext cx="9144000" cy="160020"/>
          </a:xfrm>
          <a:prstGeom prst="rect">
            <a:avLst/>
          </a:prstGeom>
          <a:solidFill>
            <a:srgbClr val="1A6B3C"/>
          </a:solidFill>
          <a:ln w="12700">
            <a:solidFill>
              <a:srgbClr val="1A6B3C"/>
            </a:solidFill>
            <a:prstDash val="solid"/>
          </a:ln>
        </p:spPr>
      </p:sp>
      <p:sp>
        <p:nvSpPr>
          <p:cNvPr id="5" name="Text 1"/>
          <p:cNvSpPr/>
          <p:nvPr/>
        </p:nvSpPr>
        <p:spPr>
          <a:xfrm>
            <a:off x="109728" y="4983480"/>
            <a:ext cx="2286000" cy="160020"/>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HB93CY003</a:t>
            </a:r>
            <a:endParaRPr lang="en-US" sz="800" dirty="0"/>
          </a:p>
        </p:txBody>
      </p:sp>
      <p:sp>
        <p:nvSpPr>
          <p:cNvPr id="6" name="Text 2"/>
          <p:cNvSpPr/>
          <p:nvPr/>
        </p:nvSpPr>
        <p:spPr>
          <a:xfrm>
            <a:off x="3200400" y="4983480"/>
            <a:ext cx="5833872" cy="160020"/>
          </a:xfrm>
          <a:prstGeom prst="rect">
            <a:avLst/>
          </a:prstGeom>
          <a:noFill/>
          <a:ln/>
        </p:spPr>
        <p:txBody>
          <a:bodyPr wrap="square" lIns="0" tIns="0" rIns="0" bIns="0" rtlCol="0" anchor="ctr"/>
          <a:lstStyle/>
          <a:p>
            <a:pPr algn="r" indent="0" marL="0">
              <a:buNone/>
            </a:pPr>
            <a:r>
              <a:rPr lang="en-US" sz="800" dirty="0">
                <a:solidFill>
                  <a:srgbClr val="FFFFFF"/>
                </a:solidFill>
                <a:latin typeface="Calibri" pitchFamily="34" charset="0"/>
                <a:ea typeface="Calibri" pitchFamily="34" charset="-122"/>
                <a:cs typeface="Calibri" pitchFamily="34" charset="-120"/>
              </a:rPr>
              <a:t>Risk Management when Learning in the Outdoors  |  Level 3</a:t>
            </a:r>
            <a:endParaRPr lang="en-US" sz="800" dirty="0"/>
          </a:p>
        </p:txBody>
      </p:sp>
      <p:sp>
        <p:nvSpPr>
          <p:cNvPr id="7" name="Text 3"/>
          <p:cNvSpPr/>
          <p:nvPr/>
        </p:nvSpPr>
        <p:spPr>
          <a:xfrm>
            <a:off x="365760" y="109728"/>
            <a:ext cx="6812280" cy="530352"/>
          </a:xfrm>
          <a:prstGeom prst="rect">
            <a:avLst/>
          </a:prstGeom>
          <a:noFill/>
          <a:ln/>
        </p:spPr>
        <p:txBody>
          <a:bodyPr wrap="square" lIns="0" tIns="0" rIns="0" bIns="0" rtlCol="0" anchor="ctr"/>
          <a:lstStyle/>
          <a:p>
            <a:pPr indent="0" marL="0">
              <a:buNone/>
            </a:pPr>
            <a:r>
              <a:rPr lang="en-US" sz="2200" b="1" dirty="0">
                <a:solidFill>
                  <a:srgbClr val="0F4525"/>
                </a:solidFill>
                <a:latin typeface="Calibri" pitchFamily="34" charset="0"/>
                <a:ea typeface="Calibri" pitchFamily="34" charset="-122"/>
                <a:cs typeface="Calibri" pitchFamily="34" charset="-120"/>
              </a:rPr>
              <a:t>Key Legislation for Outdoor Activities</a:t>
            </a:r>
            <a:endParaRPr lang="en-US" sz="2200" dirty="0"/>
          </a:p>
        </p:txBody>
      </p:sp>
      <p:sp>
        <p:nvSpPr>
          <p:cNvPr id="8" name="Shape 4"/>
          <p:cNvSpPr/>
          <p:nvPr/>
        </p:nvSpPr>
        <p:spPr>
          <a:xfrm>
            <a:off x="365760" y="877824"/>
            <a:ext cx="1143000" cy="201168"/>
          </a:xfrm>
          <a:prstGeom prst="rect">
            <a:avLst/>
          </a:prstGeom>
          <a:solidFill>
            <a:srgbClr val="C8A951"/>
          </a:solidFill>
          <a:ln w="12700">
            <a:solidFill>
              <a:srgbClr val="C8A951"/>
            </a:solidFill>
            <a:prstDash val="solid"/>
          </a:ln>
        </p:spPr>
      </p:sp>
      <p:sp>
        <p:nvSpPr>
          <p:cNvPr id="9" name="Text 5"/>
          <p:cNvSpPr/>
          <p:nvPr/>
        </p:nvSpPr>
        <p:spPr>
          <a:xfrm>
            <a:off x="365760" y="877824"/>
            <a:ext cx="1143000" cy="201168"/>
          </a:xfrm>
          <a:prstGeom prst="rect">
            <a:avLst/>
          </a:prstGeom>
          <a:noFill/>
          <a:ln/>
        </p:spPr>
        <p:txBody>
          <a:bodyPr wrap="square" lIns="0" tIns="0" rIns="0" bIns="0" rtlCol="0" anchor="ctr"/>
          <a:lstStyle/>
          <a:p>
            <a:pPr algn="ctr" indent="0" marL="0">
              <a:buNone/>
            </a:pPr>
            <a:r>
              <a:rPr lang="en-US" sz="900" b="1" dirty="0">
                <a:solidFill>
                  <a:srgbClr val="3D2A00"/>
                </a:solidFill>
                <a:latin typeface="Calibri" pitchFamily="34" charset="0"/>
                <a:ea typeface="Calibri" pitchFamily="34" charset="-122"/>
                <a:cs typeface="Calibri" pitchFamily="34" charset="-120"/>
              </a:rPr>
              <a:t>AC 1.1</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078992"/>
          <a:ext cx="8412480" cy="3785616"/>
        </p:xfrm>
        <a:graphic>
          <a:graphicData uri="http://schemas.openxmlformats.org/drawingml/2006/table">
            <a:tbl>
              <a:tblPr/>
              <a:tblGrid>
                <a:gridCol w="2560320"/>
                <a:gridCol w="5303520"/>
                <a:gridCol w="548640"/>
              </a:tblGrid>
              <a:tr h="65836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Legislation</a:t>
                      </a:r>
                      <a:endParaRPr lang="en-US" sz="1000" dirty="0">
                        <a:latin typeface="Calibri" charset="0"/>
                        <a:ea typeface="Calibri" charset="0"/>
                        <a:cs typeface="Calibri" charset="0"/>
                      </a:endParaRPr>
                    </a:p>
                  </a:txBody>
                  <a:tcPr marL="91440" marR="91440" marT="45720" marB="45720" anchor="ctr">
                    <a:lnL w="9525" cap="flat" cmpd="sng" algn="ctr">
                      <a:solidFill>
                        <a:srgbClr val="D4D4CC"/>
                      </a:solidFill>
                      <a:prstDash val="solid"/>
                      <a:round/>
                      <a:headEnd type="none" w="med" len="med"/>
                      <a:tailEnd type="none" w="med" len="med"/>
                    </a:lnL>
                    <a:lnR w="9525" cap="flat" cmpd="sng" algn="ctr">
                      <a:solidFill>
                        <a:srgbClr val="D4D4CC"/>
                      </a:solidFill>
                      <a:prstDash val="solid"/>
                      <a:round/>
                      <a:headEnd type="none" w="med" len="med"/>
                      <a:tailEnd type="none" w="med" len="med"/>
                    </a:lnR>
                    <a:lnT w="9525" cap="flat" cmpd="sng" algn="ctr">
                      <a:solidFill>
                        <a:srgbClr val="D4D4CC"/>
                      </a:solidFill>
                      <a:prstDash val="solid"/>
                      <a:round/>
                      <a:headEnd type="none" w="med" len="med"/>
                      <a:tailEnd type="none" w="med" len="med"/>
                    </a:lnT>
                    <a:lnB w="9525" cap="flat" cmpd="sng" algn="ctr">
                      <a:solidFill>
                        <a:srgbClr val="D4D4CC"/>
                      </a:solidFill>
                      <a:prstDash val="solid"/>
                      <a:round/>
                      <a:headEnd type="none" w="med" len="med"/>
                      <a:tailEnd type="none" w="med" len="med"/>
                    </a:lnB>
                    <a:solidFill>
                      <a:srgbClr val="0F4525"/>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requires</a:t>
                      </a:r>
                      <a:endParaRPr lang="en-US" sz="1000" dirty="0">
                        <a:latin typeface="Calibri" charset="0"/>
                        <a:ea typeface="Calibri" charset="0"/>
                        <a:cs typeface="Calibri" charset="0"/>
                      </a:endParaRPr>
                    </a:p>
                  </a:txBody>
                  <a:tcPr marL="91440" marR="91440" marT="45720" marB="45720" anchor="ctr">
                    <a:lnL w="9525" cap="flat" cmpd="sng" algn="ctr">
                      <a:solidFill>
                        <a:srgbClr val="D4D4CC"/>
                      </a:solidFill>
                      <a:prstDash val="solid"/>
                      <a:round/>
                      <a:headEnd type="none" w="med" len="med"/>
                      <a:tailEnd type="none" w="med" len="med"/>
                    </a:lnL>
                    <a:lnR w="9525" cap="flat" cmpd="sng" algn="ctr">
                      <a:solidFill>
                        <a:srgbClr val="D4D4CC"/>
                      </a:solidFill>
                      <a:prstDash val="solid"/>
                      <a:round/>
                      <a:headEnd type="none" w="med" len="med"/>
                      <a:tailEnd type="none" w="med" len="med"/>
                    </a:lnR>
                    <a:lnT w="9525" cap="flat" cmpd="sng" algn="ctr">
                      <a:solidFill>
                        <a:srgbClr val="D4D4CC"/>
                      </a:solidFill>
                      <a:prstDash val="solid"/>
                      <a:round/>
                      <a:headEnd type="none" w="med" len="med"/>
                      <a:tailEnd type="none" w="med" len="med"/>
                    </a:lnT>
                    <a:lnB w="9525" cap="flat" cmpd="sng" algn="ctr">
                      <a:solidFill>
                        <a:srgbClr val="D4D4CC"/>
                      </a:solidFill>
                      <a:prstDash val="solid"/>
                      <a:round/>
                      <a:headEnd type="none" w="med" len="med"/>
                      <a:tailEnd type="none" w="med" len="med"/>
                    </a:lnB>
                    <a:solidFill>
                      <a:srgbClr val="0F4525"/>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Year</a:t>
                      </a:r>
                      <a:endParaRPr lang="en-US" sz="1000" dirty="0">
                        <a:latin typeface="Calibri" charset="0"/>
                        <a:ea typeface="Calibri" charset="0"/>
                        <a:cs typeface="Calibri" charset="0"/>
                      </a:endParaRPr>
                    </a:p>
                  </a:txBody>
                  <a:tcPr marL="91440" marR="91440" marT="45720" marB="45720" anchor="ctr">
                    <a:lnL w="9525" cap="flat" cmpd="sng" algn="ctr">
                      <a:solidFill>
                        <a:srgbClr val="D4D4CC"/>
                      </a:solidFill>
                      <a:prstDash val="solid"/>
                      <a:round/>
                      <a:headEnd type="none" w="med" len="med"/>
                      <a:tailEnd type="none" w="med" len="med"/>
                    </a:lnL>
                    <a:lnR w="9525" cap="flat" cmpd="sng" algn="ctr">
                      <a:solidFill>
                        <a:srgbClr val="D4D4CC"/>
                      </a:solidFill>
                      <a:prstDash val="solid"/>
                      <a:round/>
                      <a:headEnd type="none" w="med" len="med"/>
                      <a:tailEnd type="none" w="med" len="med"/>
                    </a:lnR>
                    <a:lnT w="9525" cap="flat" cmpd="sng" algn="ctr">
                      <a:solidFill>
                        <a:srgbClr val="D4D4CC"/>
                      </a:solidFill>
                      <a:prstDash val="solid"/>
                      <a:round/>
                      <a:headEnd type="none" w="med" len="med"/>
                      <a:tailEnd type="none" w="med" len="med"/>
                    </a:lnT>
                    <a:lnB w="9525" cap="flat" cmpd="sng" algn="ctr">
                      <a:solidFill>
                        <a:srgbClr val="D4D4CC"/>
                      </a:solidFill>
                      <a:prstDash val="solid"/>
                      <a:round/>
                      <a:headEnd type="none" w="med" len="med"/>
                      <a:tailEnd type="none" w="med" len="med"/>
                    </a:lnB>
                    <a:solidFill>
                      <a:srgbClr val="0F4525"/>
                    </a:solidFill>
                  </a:tcPr>
                </a:tc>
              </a:tr>
              <a:tr h="658368">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Health &amp; Safety at Work Act 1974</a:t>
                      </a:r>
                      <a:endParaRPr lang="en-US" sz="1000" dirty="0">
                        <a:latin typeface="Calibri" charset="0"/>
                        <a:ea typeface="Calibri" charset="0"/>
                        <a:cs typeface="Calibri" charset="0"/>
                      </a:endParaRPr>
                    </a:p>
                  </a:txBody>
                  <a:tcPr marL="91440" marR="91440" marT="45720" marB="45720" anchor="ctr">
                    <a:lnL w="9525" cap="flat" cmpd="sng" algn="ctr">
                      <a:solidFill>
                        <a:srgbClr val="D4D4CC"/>
                      </a:solidFill>
                      <a:prstDash val="solid"/>
                      <a:round/>
                      <a:headEnd type="none" w="med" len="med"/>
                      <a:tailEnd type="none" w="med" len="med"/>
                    </a:lnL>
                    <a:lnR w="9525" cap="flat" cmpd="sng" algn="ctr">
                      <a:solidFill>
                        <a:srgbClr val="D4D4CC"/>
                      </a:solidFill>
                      <a:prstDash val="solid"/>
                      <a:round/>
                      <a:headEnd type="none" w="med" len="med"/>
                      <a:tailEnd type="none" w="med" len="med"/>
                    </a:lnR>
                    <a:lnT w="9525" cap="flat" cmpd="sng" algn="ctr">
                      <a:solidFill>
                        <a:srgbClr val="D4D4CC"/>
                      </a:solidFill>
                      <a:prstDash val="solid"/>
                      <a:round/>
                      <a:headEnd type="none" w="med" len="med"/>
                      <a:tailEnd type="none" w="med" len="med"/>
                    </a:lnT>
                    <a:lnB w="9525" cap="flat" cmpd="sng" algn="ctr">
                      <a:solidFill>
                        <a:srgbClr val="D4D4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Requires employers to ensure H&amp;S of employees AND others (participants). Imposes duties on both employer and employees. Primary UK workplace safety legislation.</a:t>
                      </a:r>
                      <a:endParaRPr lang="en-US" sz="1000" dirty="0">
                        <a:latin typeface="Calibri" charset="0"/>
                        <a:ea typeface="Calibri" charset="0"/>
                        <a:cs typeface="Calibri" charset="0"/>
                      </a:endParaRPr>
                    </a:p>
                  </a:txBody>
                  <a:tcPr marL="91440" marR="91440" marT="45720" marB="45720" anchor="ctr">
                    <a:lnL w="9525" cap="flat" cmpd="sng" algn="ctr">
                      <a:solidFill>
                        <a:srgbClr val="D4D4CC"/>
                      </a:solidFill>
                      <a:prstDash val="solid"/>
                      <a:round/>
                      <a:headEnd type="none" w="med" len="med"/>
                      <a:tailEnd type="none" w="med" len="med"/>
                    </a:lnL>
                    <a:lnR w="9525" cap="flat" cmpd="sng" algn="ctr">
                      <a:solidFill>
                        <a:srgbClr val="D4D4CC"/>
                      </a:solidFill>
                      <a:prstDash val="solid"/>
                      <a:round/>
                      <a:headEnd type="none" w="med" len="med"/>
                      <a:tailEnd type="none" w="med" len="med"/>
                    </a:lnR>
                    <a:lnT w="9525" cap="flat" cmpd="sng" algn="ctr">
                      <a:solidFill>
                        <a:srgbClr val="D4D4CC"/>
                      </a:solidFill>
                      <a:prstDash val="solid"/>
                      <a:round/>
                      <a:headEnd type="none" w="med" len="med"/>
                      <a:tailEnd type="none" w="med" len="med"/>
                    </a:lnT>
                    <a:lnB w="9525" cap="flat" cmpd="sng" algn="ctr">
                      <a:solidFill>
                        <a:srgbClr val="D4D4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1974</a:t>
                      </a:r>
                      <a:endParaRPr lang="en-US" sz="1000" dirty="0">
                        <a:latin typeface="Calibri" charset="0"/>
                        <a:ea typeface="Calibri" charset="0"/>
                        <a:cs typeface="Calibri" charset="0"/>
                      </a:endParaRPr>
                    </a:p>
                  </a:txBody>
                  <a:tcPr marL="91440" marR="91440" marT="45720" marB="45720" anchor="ctr">
                    <a:lnL w="9525" cap="flat" cmpd="sng" algn="ctr">
                      <a:solidFill>
                        <a:srgbClr val="D4D4CC"/>
                      </a:solidFill>
                      <a:prstDash val="solid"/>
                      <a:round/>
                      <a:headEnd type="none" w="med" len="med"/>
                      <a:tailEnd type="none" w="med" len="med"/>
                    </a:lnL>
                    <a:lnR w="9525" cap="flat" cmpd="sng" algn="ctr">
                      <a:solidFill>
                        <a:srgbClr val="D4D4CC"/>
                      </a:solidFill>
                      <a:prstDash val="solid"/>
                      <a:round/>
                      <a:headEnd type="none" w="med" len="med"/>
                      <a:tailEnd type="none" w="med" len="med"/>
                    </a:lnR>
                    <a:lnT w="9525" cap="flat" cmpd="sng" algn="ctr">
                      <a:solidFill>
                        <a:srgbClr val="D4D4CC"/>
                      </a:solidFill>
                      <a:prstDash val="solid"/>
                      <a:round/>
                      <a:headEnd type="none" w="med" len="med"/>
                      <a:tailEnd type="none" w="med" len="med"/>
                    </a:lnT>
                    <a:lnB w="9525" cap="flat" cmpd="sng" algn="ctr">
                      <a:solidFill>
                        <a:srgbClr val="D4D4CC"/>
                      </a:solidFill>
                      <a:prstDash val="solid"/>
                      <a:round/>
                      <a:headEnd type="none" w="med" len="med"/>
                      <a:tailEnd type="none" w="med" len="med"/>
                    </a:lnB>
                    <a:solidFill>
                      <a:srgbClr val="FFFFFF"/>
                    </a:solidFill>
                  </a:tcPr>
                </a:tc>
              </a:tr>
              <a:tr h="658368">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Adventure Activities Licensing (AAL) Regulations</a:t>
                      </a:r>
                      <a:endParaRPr lang="en-US" sz="1000" dirty="0">
                        <a:latin typeface="Calibri" charset="0"/>
                        <a:ea typeface="Calibri" charset="0"/>
                        <a:cs typeface="Calibri" charset="0"/>
                      </a:endParaRPr>
                    </a:p>
                  </a:txBody>
                  <a:tcPr marL="91440" marR="91440" marT="45720" marB="45720" anchor="ctr">
                    <a:lnL w="9525" cap="flat" cmpd="sng" algn="ctr">
                      <a:solidFill>
                        <a:srgbClr val="D4D4CC"/>
                      </a:solidFill>
                      <a:prstDash val="solid"/>
                      <a:round/>
                      <a:headEnd type="none" w="med" len="med"/>
                      <a:tailEnd type="none" w="med" len="med"/>
                    </a:lnL>
                    <a:lnR w="9525" cap="flat" cmpd="sng" algn="ctr">
                      <a:solidFill>
                        <a:srgbClr val="D4D4CC"/>
                      </a:solidFill>
                      <a:prstDash val="solid"/>
                      <a:round/>
                      <a:headEnd type="none" w="med" len="med"/>
                      <a:tailEnd type="none" w="med" len="med"/>
                    </a:lnR>
                    <a:lnT w="9525" cap="flat" cmpd="sng" algn="ctr">
                      <a:solidFill>
                        <a:srgbClr val="D4D4CC"/>
                      </a:solidFill>
                      <a:prstDash val="solid"/>
                      <a:round/>
                      <a:headEnd type="none" w="med" len="med"/>
                      <a:tailEnd type="none" w="med" len="med"/>
                    </a:lnT>
                    <a:lnB w="9525" cap="flat" cmpd="sng" algn="ctr">
                      <a:solidFill>
                        <a:srgbClr val="D4D4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Providers selling adventure activities (caving, climbing, trekking, watersports) to under-18s must hold a licence. Does not apply to schools' own programmes.</a:t>
                      </a:r>
                      <a:endParaRPr lang="en-US" sz="1000" dirty="0">
                        <a:latin typeface="Calibri" charset="0"/>
                        <a:ea typeface="Calibri" charset="0"/>
                        <a:cs typeface="Calibri" charset="0"/>
                      </a:endParaRPr>
                    </a:p>
                  </a:txBody>
                  <a:tcPr marL="91440" marR="91440" marT="45720" marB="45720" anchor="ctr">
                    <a:lnL w="9525" cap="flat" cmpd="sng" algn="ctr">
                      <a:solidFill>
                        <a:srgbClr val="D4D4CC"/>
                      </a:solidFill>
                      <a:prstDash val="solid"/>
                      <a:round/>
                      <a:headEnd type="none" w="med" len="med"/>
                      <a:tailEnd type="none" w="med" len="med"/>
                    </a:lnL>
                    <a:lnR w="9525" cap="flat" cmpd="sng" algn="ctr">
                      <a:solidFill>
                        <a:srgbClr val="D4D4CC"/>
                      </a:solidFill>
                      <a:prstDash val="solid"/>
                      <a:round/>
                      <a:headEnd type="none" w="med" len="med"/>
                      <a:tailEnd type="none" w="med" len="med"/>
                    </a:lnR>
                    <a:lnT w="9525" cap="flat" cmpd="sng" algn="ctr">
                      <a:solidFill>
                        <a:srgbClr val="D4D4CC"/>
                      </a:solidFill>
                      <a:prstDash val="solid"/>
                      <a:round/>
                      <a:headEnd type="none" w="med" len="med"/>
                      <a:tailEnd type="none" w="med" len="med"/>
                    </a:lnT>
                    <a:lnB w="9525" cap="flat" cmpd="sng" algn="ctr">
                      <a:solidFill>
                        <a:srgbClr val="D4D4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2004</a:t>
                      </a:r>
                      <a:endParaRPr lang="en-US" sz="1000" dirty="0">
                        <a:latin typeface="Calibri" charset="0"/>
                        <a:ea typeface="Calibri" charset="0"/>
                        <a:cs typeface="Calibri" charset="0"/>
                      </a:endParaRPr>
                    </a:p>
                  </a:txBody>
                  <a:tcPr marL="91440" marR="91440" marT="45720" marB="45720" anchor="ctr">
                    <a:lnL w="9525" cap="flat" cmpd="sng" algn="ctr">
                      <a:solidFill>
                        <a:srgbClr val="D4D4CC"/>
                      </a:solidFill>
                      <a:prstDash val="solid"/>
                      <a:round/>
                      <a:headEnd type="none" w="med" len="med"/>
                      <a:tailEnd type="none" w="med" len="med"/>
                    </a:lnL>
                    <a:lnR w="9525" cap="flat" cmpd="sng" algn="ctr">
                      <a:solidFill>
                        <a:srgbClr val="D4D4CC"/>
                      </a:solidFill>
                      <a:prstDash val="solid"/>
                      <a:round/>
                      <a:headEnd type="none" w="med" len="med"/>
                      <a:tailEnd type="none" w="med" len="med"/>
                    </a:lnR>
                    <a:lnT w="9525" cap="flat" cmpd="sng" algn="ctr">
                      <a:solidFill>
                        <a:srgbClr val="D4D4CC"/>
                      </a:solidFill>
                      <a:prstDash val="solid"/>
                      <a:round/>
                      <a:headEnd type="none" w="med" len="med"/>
                      <a:tailEnd type="none" w="med" len="med"/>
                    </a:lnT>
                    <a:lnB w="9525" cap="flat" cmpd="sng" algn="ctr">
                      <a:solidFill>
                        <a:srgbClr val="D4D4CC"/>
                      </a:solidFill>
                      <a:prstDash val="solid"/>
                      <a:round/>
                      <a:headEnd type="none" w="med" len="med"/>
                      <a:tailEnd type="none" w="med" len="med"/>
                    </a:lnB>
                    <a:solidFill>
                      <a:srgbClr val="FFFFFF"/>
                    </a:solidFill>
                  </a:tcPr>
                </a:tc>
              </a:tr>
              <a:tr h="658368">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Young Persons Safety Act</a:t>
                      </a:r>
                      <a:endParaRPr lang="en-US" sz="1000" dirty="0">
                        <a:latin typeface="Calibri" charset="0"/>
                        <a:ea typeface="Calibri" charset="0"/>
                        <a:cs typeface="Calibri" charset="0"/>
                      </a:endParaRPr>
                    </a:p>
                  </a:txBody>
                  <a:tcPr marL="91440" marR="91440" marT="45720" marB="45720" anchor="ctr">
                    <a:lnL w="9525" cap="flat" cmpd="sng" algn="ctr">
                      <a:solidFill>
                        <a:srgbClr val="D4D4CC"/>
                      </a:solidFill>
                      <a:prstDash val="solid"/>
                      <a:round/>
                      <a:headEnd type="none" w="med" len="med"/>
                      <a:tailEnd type="none" w="med" len="med"/>
                    </a:lnL>
                    <a:lnR w="9525" cap="flat" cmpd="sng" algn="ctr">
                      <a:solidFill>
                        <a:srgbClr val="D4D4CC"/>
                      </a:solidFill>
                      <a:prstDash val="solid"/>
                      <a:round/>
                      <a:headEnd type="none" w="med" len="med"/>
                      <a:tailEnd type="none" w="med" len="med"/>
                    </a:lnR>
                    <a:lnT w="9525" cap="flat" cmpd="sng" algn="ctr">
                      <a:solidFill>
                        <a:srgbClr val="D4D4CC"/>
                      </a:solidFill>
                      <a:prstDash val="solid"/>
                      <a:round/>
                      <a:headEnd type="none" w="med" len="med"/>
                      <a:tailEnd type="none" w="med" len="med"/>
                    </a:lnT>
                    <a:lnB w="9525" cap="flat" cmpd="sng" algn="ctr">
                      <a:solidFill>
                        <a:srgbClr val="D4D4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Extends H&amp;S protections specifically to young people under 18 in supervised educational/activity settings.</a:t>
                      </a:r>
                      <a:endParaRPr lang="en-US" sz="1000" dirty="0">
                        <a:latin typeface="Calibri" charset="0"/>
                        <a:ea typeface="Calibri" charset="0"/>
                        <a:cs typeface="Calibri" charset="0"/>
                      </a:endParaRPr>
                    </a:p>
                  </a:txBody>
                  <a:tcPr marL="91440" marR="91440" marT="45720" marB="45720" anchor="ctr">
                    <a:lnL w="9525" cap="flat" cmpd="sng" algn="ctr">
                      <a:solidFill>
                        <a:srgbClr val="D4D4CC"/>
                      </a:solidFill>
                      <a:prstDash val="solid"/>
                      <a:round/>
                      <a:headEnd type="none" w="med" len="med"/>
                      <a:tailEnd type="none" w="med" len="med"/>
                    </a:lnL>
                    <a:lnR w="9525" cap="flat" cmpd="sng" algn="ctr">
                      <a:solidFill>
                        <a:srgbClr val="D4D4CC"/>
                      </a:solidFill>
                      <a:prstDash val="solid"/>
                      <a:round/>
                      <a:headEnd type="none" w="med" len="med"/>
                      <a:tailEnd type="none" w="med" len="med"/>
                    </a:lnR>
                    <a:lnT w="9525" cap="flat" cmpd="sng" algn="ctr">
                      <a:solidFill>
                        <a:srgbClr val="D4D4CC"/>
                      </a:solidFill>
                      <a:prstDash val="solid"/>
                      <a:round/>
                      <a:headEnd type="none" w="med" len="med"/>
                      <a:tailEnd type="none" w="med" len="med"/>
                    </a:lnT>
                    <a:lnB w="9525" cap="flat" cmpd="sng" algn="ctr">
                      <a:solidFill>
                        <a:srgbClr val="D4D4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1995</a:t>
                      </a:r>
                      <a:endParaRPr lang="en-US" sz="1000" dirty="0">
                        <a:latin typeface="Calibri" charset="0"/>
                        <a:ea typeface="Calibri" charset="0"/>
                        <a:cs typeface="Calibri" charset="0"/>
                      </a:endParaRPr>
                    </a:p>
                  </a:txBody>
                  <a:tcPr marL="91440" marR="91440" marT="45720" marB="45720" anchor="ctr">
                    <a:lnL w="9525" cap="flat" cmpd="sng" algn="ctr">
                      <a:solidFill>
                        <a:srgbClr val="D4D4CC"/>
                      </a:solidFill>
                      <a:prstDash val="solid"/>
                      <a:round/>
                      <a:headEnd type="none" w="med" len="med"/>
                      <a:tailEnd type="none" w="med" len="med"/>
                    </a:lnL>
                    <a:lnR w="9525" cap="flat" cmpd="sng" algn="ctr">
                      <a:solidFill>
                        <a:srgbClr val="D4D4CC"/>
                      </a:solidFill>
                      <a:prstDash val="solid"/>
                      <a:round/>
                      <a:headEnd type="none" w="med" len="med"/>
                      <a:tailEnd type="none" w="med" len="med"/>
                    </a:lnR>
                    <a:lnT w="9525" cap="flat" cmpd="sng" algn="ctr">
                      <a:solidFill>
                        <a:srgbClr val="D4D4CC"/>
                      </a:solidFill>
                      <a:prstDash val="solid"/>
                      <a:round/>
                      <a:headEnd type="none" w="med" len="med"/>
                      <a:tailEnd type="none" w="med" len="med"/>
                    </a:lnT>
                    <a:lnB w="9525" cap="flat" cmpd="sng" algn="ctr">
                      <a:solidFill>
                        <a:srgbClr val="D4D4CC"/>
                      </a:solidFill>
                      <a:prstDash val="solid"/>
                      <a:round/>
                      <a:headEnd type="none" w="med" len="med"/>
                      <a:tailEnd type="none" w="med" len="med"/>
                    </a:lnB>
                    <a:solidFill>
                      <a:srgbClr val="FFFFFF"/>
                    </a:solidFill>
                  </a:tcPr>
                </a:tc>
              </a:tr>
              <a:tr h="658368">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RIDDOR</a:t>
                      </a:r>
                      <a:endParaRPr lang="en-US" sz="1000" dirty="0">
                        <a:latin typeface="Calibri" charset="0"/>
                        <a:ea typeface="Calibri" charset="0"/>
                        <a:cs typeface="Calibri" charset="0"/>
                      </a:endParaRPr>
                    </a:p>
                  </a:txBody>
                  <a:tcPr marL="91440" marR="91440" marT="45720" marB="45720" anchor="ctr">
                    <a:lnL w="9525" cap="flat" cmpd="sng" algn="ctr">
                      <a:solidFill>
                        <a:srgbClr val="D4D4CC"/>
                      </a:solidFill>
                      <a:prstDash val="solid"/>
                      <a:round/>
                      <a:headEnd type="none" w="med" len="med"/>
                      <a:tailEnd type="none" w="med" len="med"/>
                    </a:lnL>
                    <a:lnR w="9525" cap="flat" cmpd="sng" algn="ctr">
                      <a:solidFill>
                        <a:srgbClr val="D4D4CC"/>
                      </a:solidFill>
                      <a:prstDash val="solid"/>
                      <a:round/>
                      <a:headEnd type="none" w="med" len="med"/>
                      <a:tailEnd type="none" w="med" len="med"/>
                    </a:lnR>
                    <a:lnT w="9525" cap="flat" cmpd="sng" algn="ctr">
                      <a:solidFill>
                        <a:srgbClr val="D4D4CC"/>
                      </a:solidFill>
                      <a:prstDash val="solid"/>
                      <a:round/>
                      <a:headEnd type="none" w="med" len="med"/>
                      <a:tailEnd type="none" w="med" len="med"/>
                    </a:lnT>
                    <a:lnB w="9525" cap="flat" cmpd="sng" algn="ctr">
                      <a:solidFill>
                        <a:srgbClr val="D4D4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Employers must report certain injuries, diseases and dangerous occurrences to the HSE. Fractures, hospitalisations &gt;24hrs, loss of consciousness must be reported.</a:t>
                      </a:r>
                      <a:endParaRPr lang="en-US" sz="1000" dirty="0">
                        <a:latin typeface="Calibri" charset="0"/>
                        <a:ea typeface="Calibri" charset="0"/>
                        <a:cs typeface="Calibri" charset="0"/>
                      </a:endParaRPr>
                    </a:p>
                  </a:txBody>
                  <a:tcPr marL="91440" marR="91440" marT="45720" marB="45720" anchor="ctr">
                    <a:lnL w="9525" cap="flat" cmpd="sng" algn="ctr">
                      <a:solidFill>
                        <a:srgbClr val="D4D4CC"/>
                      </a:solidFill>
                      <a:prstDash val="solid"/>
                      <a:round/>
                      <a:headEnd type="none" w="med" len="med"/>
                      <a:tailEnd type="none" w="med" len="med"/>
                    </a:lnL>
                    <a:lnR w="9525" cap="flat" cmpd="sng" algn="ctr">
                      <a:solidFill>
                        <a:srgbClr val="D4D4CC"/>
                      </a:solidFill>
                      <a:prstDash val="solid"/>
                      <a:round/>
                      <a:headEnd type="none" w="med" len="med"/>
                      <a:tailEnd type="none" w="med" len="med"/>
                    </a:lnR>
                    <a:lnT w="9525" cap="flat" cmpd="sng" algn="ctr">
                      <a:solidFill>
                        <a:srgbClr val="D4D4CC"/>
                      </a:solidFill>
                      <a:prstDash val="solid"/>
                      <a:round/>
                      <a:headEnd type="none" w="med" len="med"/>
                      <a:tailEnd type="none" w="med" len="med"/>
                    </a:lnT>
                    <a:lnB w="9525" cap="flat" cmpd="sng" algn="ctr">
                      <a:solidFill>
                        <a:srgbClr val="D4D4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2013</a:t>
                      </a:r>
                      <a:endParaRPr lang="en-US" sz="1000" dirty="0">
                        <a:latin typeface="Calibri" charset="0"/>
                        <a:ea typeface="Calibri" charset="0"/>
                        <a:cs typeface="Calibri" charset="0"/>
                      </a:endParaRPr>
                    </a:p>
                  </a:txBody>
                  <a:tcPr marL="91440" marR="91440" marT="45720" marB="45720" anchor="ctr">
                    <a:lnL w="9525" cap="flat" cmpd="sng" algn="ctr">
                      <a:solidFill>
                        <a:srgbClr val="D4D4CC"/>
                      </a:solidFill>
                      <a:prstDash val="solid"/>
                      <a:round/>
                      <a:headEnd type="none" w="med" len="med"/>
                      <a:tailEnd type="none" w="med" len="med"/>
                    </a:lnL>
                    <a:lnR w="9525" cap="flat" cmpd="sng" algn="ctr">
                      <a:solidFill>
                        <a:srgbClr val="D4D4CC"/>
                      </a:solidFill>
                      <a:prstDash val="solid"/>
                      <a:round/>
                      <a:headEnd type="none" w="med" len="med"/>
                      <a:tailEnd type="none" w="med" len="med"/>
                    </a:lnR>
                    <a:lnT w="9525" cap="flat" cmpd="sng" algn="ctr">
                      <a:solidFill>
                        <a:srgbClr val="D4D4CC"/>
                      </a:solidFill>
                      <a:prstDash val="solid"/>
                      <a:round/>
                      <a:headEnd type="none" w="med" len="med"/>
                      <a:tailEnd type="none" w="med" len="med"/>
                    </a:lnT>
                    <a:lnB w="9525" cap="flat" cmpd="sng" algn="ctr">
                      <a:solidFill>
                        <a:srgbClr val="D4D4CC"/>
                      </a:solidFill>
                      <a:prstDash val="solid"/>
                      <a:round/>
                      <a:headEnd type="none" w="med" len="med"/>
                      <a:tailEnd type="none" w="med" len="med"/>
                    </a:lnB>
                    <a:solidFill>
                      <a:srgbClr val="FFFFFF"/>
                    </a:solidFill>
                  </a:tcPr>
                </a:tc>
              </a:tr>
              <a:tr h="658368">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First Aid at Work Regulations</a:t>
                      </a:r>
                      <a:endParaRPr lang="en-US" sz="1000" dirty="0">
                        <a:latin typeface="Calibri" charset="0"/>
                        <a:ea typeface="Calibri" charset="0"/>
                        <a:cs typeface="Calibri" charset="0"/>
                      </a:endParaRPr>
                    </a:p>
                  </a:txBody>
                  <a:tcPr marL="91440" marR="91440" marT="45720" marB="45720" anchor="ctr">
                    <a:lnL w="9525" cap="flat" cmpd="sng" algn="ctr">
                      <a:solidFill>
                        <a:srgbClr val="D4D4CC"/>
                      </a:solidFill>
                      <a:prstDash val="solid"/>
                      <a:round/>
                      <a:headEnd type="none" w="med" len="med"/>
                      <a:tailEnd type="none" w="med" len="med"/>
                    </a:lnL>
                    <a:lnR w="9525" cap="flat" cmpd="sng" algn="ctr">
                      <a:solidFill>
                        <a:srgbClr val="D4D4CC"/>
                      </a:solidFill>
                      <a:prstDash val="solid"/>
                      <a:round/>
                      <a:headEnd type="none" w="med" len="med"/>
                      <a:tailEnd type="none" w="med" len="med"/>
                    </a:lnR>
                    <a:lnT w="9525" cap="flat" cmpd="sng" algn="ctr">
                      <a:solidFill>
                        <a:srgbClr val="D4D4CC"/>
                      </a:solidFill>
                      <a:prstDash val="solid"/>
                      <a:round/>
                      <a:headEnd type="none" w="med" len="med"/>
                      <a:tailEnd type="none" w="med" len="med"/>
                    </a:lnT>
                    <a:lnB w="9525" cap="flat" cmpd="sng" algn="ctr">
                      <a:solidFill>
                        <a:srgbClr val="D4D4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Employers must provide adequate FA equipment, facilities and personnel. Outdoor activities must have a qualified first aider; remote environments require Outdoor First Aid.</a:t>
                      </a:r>
                      <a:endParaRPr lang="en-US" sz="1000" dirty="0">
                        <a:latin typeface="Calibri" charset="0"/>
                        <a:ea typeface="Calibri" charset="0"/>
                        <a:cs typeface="Calibri" charset="0"/>
                      </a:endParaRPr>
                    </a:p>
                  </a:txBody>
                  <a:tcPr marL="91440" marR="91440" marT="45720" marB="45720" anchor="ctr">
                    <a:lnL w="9525" cap="flat" cmpd="sng" algn="ctr">
                      <a:solidFill>
                        <a:srgbClr val="D4D4CC"/>
                      </a:solidFill>
                      <a:prstDash val="solid"/>
                      <a:round/>
                      <a:headEnd type="none" w="med" len="med"/>
                      <a:tailEnd type="none" w="med" len="med"/>
                    </a:lnL>
                    <a:lnR w="9525" cap="flat" cmpd="sng" algn="ctr">
                      <a:solidFill>
                        <a:srgbClr val="D4D4CC"/>
                      </a:solidFill>
                      <a:prstDash val="solid"/>
                      <a:round/>
                      <a:headEnd type="none" w="med" len="med"/>
                      <a:tailEnd type="none" w="med" len="med"/>
                    </a:lnR>
                    <a:lnT w="9525" cap="flat" cmpd="sng" algn="ctr">
                      <a:solidFill>
                        <a:srgbClr val="D4D4CC"/>
                      </a:solidFill>
                      <a:prstDash val="solid"/>
                      <a:round/>
                      <a:headEnd type="none" w="med" len="med"/>
                      <a:tailEnd type="none" w="med" len="med"/>
                    </a:lnT>
                    <a:lnB w="9525" cap="flat" cmpd="sng" algn="ctr">
                      <a:solidFill>
                        <a:srgbClr val="D4D4C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1981 / 2013</a:t>
                      </a:r>
                      <a:endParaRPr lang="en-US" sz="1000" dirty="0">
                        <a:latin typeface="Calibri" charset="0"/>
                        <a:ea typeface="Calibri" charset="0"/>
                        <a:cs typeface="Calibri" charset="0"/>
                      </a:endParaRPr>
                    </a:p>
                  </a:txBody>
                  <a:tcPr marL="91440" marR="91440" marT="45720" marB="45720" anchor="ctr">
                    <a:lnL w="9525" cap="flat" cmpd="sng" algn="ctr">
                      <a:solidFill>
                        <a:srgbClr val="D4D4CC"/>
                      </a:solidFill>
                      <a:prstDash val="solid"/>
                      <a:round/>
                      <a:headEnd type="none" w="med" len="med"/>
                      <a:tailEnd type="none" w="med" len="med"/>
                    </a:lnL>
                    <a:lnR w="9525" cap="flat" cmpd="sng" algn="ctr">
                      <a:solidFill>
                        <a:srgbClr val="D4D4CC"/>
                      </a:solidFill>
                      <a:prstDash val="solid"/>
                      <a:round/>
                      <a:headEnd type="none" w="med" len="med"/>
                      <a:tailEnd type="none" w="med" len="med"/>
                    </a:lnR>
                    <a:lnT w="9525" cap="flat" cmpd="sng" algn="ctr">
                      <a:solidFill>
                        <a:srgbClr val="D4D4CC"/>
                      </a:solidFill>
                      <a:prstDash val="solid"/>
                      <a:round/>
                      <a:headEnd type="none" w="med" len="med"/>
                      <a:tailEnd type="none" w="med" len="med"/>
                    </a:lnT>
                    <a:lnB w="9525" cap="flat" cmpd="sng" algn="ctr">
                      <a:solidFill>
                        <a:srgbClr val="D4D4C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69480" y="64008"/>
            <a:ext cx="694944" cy="484632"/>
          </a:xfrm>
          <a:prstGeom prst="rect">
            <a:avLst/>
          </a:prstGeom>
        </p:spPr>
      </p:pic>
      <p:pic>
        <p:nvPicPr>
          <p:cNvPr id="3" name="Image 1" descr="preencoded.png">    </p:cNvPr>
          <p:cNvPicPr>
            <a:picLocks noChangeAspect="1"/>
          </p:cNvPicPr>
          <p:nvPr/>
        </p:nvPicPr>
        <p:blipFill>
          <a:blip r:embed="rId2"/>
          <a:stretch>
            <a:fillRect/>
          </a:stretch>
        </p:blipFill>
        <p:spPr>
          <a:xfrm>
            <a:off x="8019288" y="91440"/>
            <a:ext cx="969264" cy="402336"/>
          </a:xfrm>
          <a:prstGeom prst="rect">
            <a:avLst/>
          </a:prstGeom>
        </p:spPr>
      </p:pic>
      <p:sp>
        <p:nvSpPr>
          <p:cNvPr id="4" name="Shape 0"/>
          <p:cNvSpPr/>
          <p:nvPr/>
        </p:nvSpPr>
        <p:spPr>
          <a:xfrm>
            <a:off x="0" y="4983480"/>
            <a:ext cx="9144000" cy="160020"/>
          </a:xfrm>
          <a:prstGeom prst="rect">
            <a:avLst/>
          </a:prstGeom>
          <a:solidFill>
            <a:srgbClr val="1A6B3C"/>
          </a:solidFill>
          <a:ln w="12700">
            <a:solidFill>
              <a:srgbClr val="1A6B3C"/>
            </a:solidFill>
            <a:prstDash val="solid"/>
          </a:ln>
        </p:spPr>
      </p:sp>
      <p:sp>
        <p:nvSpPr>
          <p:cNvPr id="5" name="Text 1"/>
          <p:cNvSpPr/>
          <p:nvPr/>
        </p:nvSpPr>
        <p:spPr>
          <a:xfrm>
            <a:off x="109728" y="4983480"/>
            <a:ext cx="2286000" cy="160020"/>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HB93CY003</a:t>
            </a:r>
            <a:endParaRPr lang="en-US" sz="800" dirty="0"/>
          </a:p>
        </p:txBody>
      </p:sp>
      <p:sp>
        <p:nvSpPr>
          <p:cNvPr id="6" name="Text 2"/>
          <p:cNvSpPr/>
          <p:nvPr/>
        </p:nvSpPr>
        <p:spPr>
          <a:xfrm>
            <a:off x="3200400" y="4983480"/>
            <a:ext cx="5833872" cy="160020"/>
          </a:xfrm>
          <a:prstGeom prst="rect">
            <a:avLst/>
          </a:prstGeom>
          <a:noFill/>
          <a:ln/>
        </p:spPr>
        <p:txBody>
          <a:bodyPr wrap="square" lIns="0" tIns="0" rIns="0" bIns="0" rtlCol="0" anchor="ctr"/>
          <a:lstStyle/>
          <a:p>
            <a:pPr algn="r" indent="0" marL="0">
              <a:buNone/>
            </a:pPr>
            <a:r>
              <a:rPr lang="en-US" sz="800" dirty="0">
                <a:solidFill>
                  <a:srgbClr val="FFFFFF"/>
                </a:solidFill>
                <a:latin typeface="Calibri" pitchFamily="34" charset="0"/>
                <a:ea typeface="Calibri" pitchFamily="34" charset="-122"/>
                <a:cs typeface="Calibri" pitchFamily="34" charset="-120"/>
              </a:rPr>
              <a:t>Risk Management when Learning in the Outdoors  |  Level 3</a:t>
            </a:r>
            <a:endParaRPr lang="en-US" sz="800" dirty="0"/>
          </a:p>
        </p:txBody>
      </p:sp>
      <p:sp>
        <p:nvSpPr>
          <p:cNvPr id="7" name="Text 3"/>
          <p:cNvSpPr/>
          <p:nvPr/>
        </p:nvSpPr>
        <p:spPr>
          <a:xfrm>
            <a:off x="365760" y="109728"/>
            <a:ext cx="6812280" cy="530352"/>
          </a:xfrm>
          <a:prstGeom prst="rect">
            <a:avLst/>
          </a:prstGeom>
          <a:noFill/>
          <a:ln/>
        </p:spPr>
        <p:txBody>
          <a:bodyPr wrap="square" lIns="0" tIns="0" rIns="0" bIns="0" rtlCol="0" anchor="ctr"/>
          <a:lstStyle/>
          <a:p>
            <a:pPr indent="0" marL="0">
              <a:buNone/>
            </a:pPr>
            <a:r>
              <a:rPr lang="en-US" sz="2200" b="1" dirty="0">
                <a:solidFill>
                  <a:srgbClr val="0F4525"/>
                </a:solidFill>
                <a:latin typeface="Calibri" pitchFamily="34" charset="0"/>
                <a:ea typeface="Calibri" pitchFamily="34" charset="-122"/>
                <a:cs typeface="Calibri" pitchFamily="34" charset="-120"/>
              </a:rPr>
              <a:t>NGB Guidelines and Frameworks</a:t>
            </a:r>
            <a:endParaRPr lang="en-US" sz="2200" dirty="0"/>
          </a:p>
        </p:txBody>
      </p:sp>
      <p:sp>
        <p:nvSpPr>
          <p:cNvPr id="8" name="Shape 4"/>
          <p:cNvSpPr/>
          <p:nvPr/>
        </p:nvSpPr>
        <p:spPr>
          <a:xfrm>
            <a:off x="365760" y="877824"/>
            <a:ext cx="1143000" cy="201168"/>
          </a:xfrm>
          <a:prstGeom prst="rect">
            <a:avLst/>
          </a:prstGeom>
          <a:solidFill>
            <a:srgbClr val="C8A951"/>
          </a:solidFill>
          <a:ln w="12700">
            <a:solidFill>
              <a:srgbClr val="C8A951"/>
            </a:solidFill>
            <a:prstDash val="solid"/>
          </a:ln>
        </p:spPr>
      </p:sp>
      <p:sp>
        <p:nvSpPr>
          <p:cNvPr id="9" name="Text 5"/>
          <p:cNvSpPr/>
          <p:nvPr/>
        </p:nvSpPr>
        <p:spPr>
          <a:xfrm>
            <a:off x="365760" y="877824"/>
            <a:ext cx="1143000" cy="201168"/>
          </a:xfrm>
          <a:prstGeom prst="rect">
            <a:avLst/>
          </a:prstGeom>
          <a:noFill/>
          <a:ln/>
        </p:spPr>
        <p:txBody>
          <a:bodyPr wrap="square" lIns="0" tIns="0" rIns="0" bIns="0" rtlCol="0" anchor="ctr"/>
          <a:lstStyle/>
          <a:p>
            <a:pPr algn="ctr" indent="0" marL="0">
              <a:buNone/>
            </a:pPr>
            <a:r>
              <a:rPr lang="en-US" sz="900" b="1" dirty="0">
                <a:solidFill>
                  <a:srgbClr val="3D2A00"/>
                </a:solidFill>
                <a:latin typeface="Calibri" pitchFamily="34" charset="0"/>
                <a:ea typeface="Calibri" pitchFamily="34" charset="-122"/>
                <a:cs typeface="Calibri" pitchFamily="34" charset="-120"/>
              </a:rPr>
              <a:t>AC 1.2</a:t>
            </a:r>
            <a:endParaRPr lang="en-US" sz="900" dirty="0"/>
          </a:p>
        </p:txBody>
      </p:sp>
      <p:sp>
        <p:nvSpPr>
          <p:cNvPr id="10" name="Shape 6"/>
          <p:cNvSpPr/>
          <p:nvPr/>
        </p:nvSpPr>
        <p:spPr>
          <a:xfrm>
            <a:off x="365760" y="1078992"/>
            <a:ext cx="2706624" cy="1609344"/>
          </a:xfrm>
          <a:prstGeom prst="rect">
            <a:avLst/>
          </a:prstGeom>
          <a:solidFill>
            <a:srgbClr val="FFFFFF"/>
          </a:solidFill>
          <a:ln w="19050">
            <a:solidFill>
              <a:srgbClr val="1E40AF"/>
            </a:solidFill>
            <a:prstDash val="solid"/>
          </a:ln>
          <a:effectLst>
            <a:outerShdw sx="100000" sy="100000" kx="0" ky="0" algn="bl" rotWithShape="0" blurRad="63500" dist="25400" dir="8100000">
              <a:srgbClr val="000000">
                <a:alpha val="12000"/>
              </a:srgbClr>
            </a:outerShdw>
          </a:effectLst>
        </p:spPr>
      </p:sp>
      <p:sp>
        <p:nvSpPr>
          <p:cNvPr id="11" name="Shape 7"/>
          <p:cNvSpPr/>
          <p:nvPr/>
        </p:nvSpPr>
        <p:spPr>
          <a:xfrm>
            <a:off x="365760" y="1078992"/>
            <a:ext cx="50292" cy="1609344"/>
          </a:xfrm>
          <a:prstGeom prst="rect">
            <a:avLst/>
          </a:prstGeom>
          <a:solidFill>
            <a:srgbClr val="1E40AF"/>
          </a:solidFill>
          <a:ln w="12700">
            <a:solidFill>
              <a:srgbClr val="1E40AF"/>
            </a:solidFill>
            <a:prstDash val="solid"/>
          </a:ln>
        </p:spPr>
      </p:sp>
      <p:sp>
        <p:nvSpPr>
          <p:cNvPr id="12" name="Text 8"/>
          <p:cNvSpPr/>
          <p:nvPr/>
        </p:nvSpPr>
        <p:spPr>
          <a:xfrm>
            <a:off x="457200" y="1115568"/>
            <a:ext cx="2560320" cy="310896"/>
          </a:xfrm>
          <a:prstGeom prst="rect">
            <a:avLst/>
          </a:prstGeom>
          <a:noFill/>
          <a:ln/>
        </p:spPr>
        <p:txBody>
          <a:bodyPr wrap="square" lIns="0" tIns="0" rIns="0" bIns="0" rtlCol="0" anchor="ctr"/>
          <a:lstStyle/>
          <a:p>
            <a:pPr indent="0" marL="0">
              <a:buNone/>
            </a:pPr>
            <a:r>
              <a:rPr lang="en-US" sz="1050" b="1" dirty="0">
                <a:solidFill>
                  <a:srgbClr val="1E40AF"/>
                </a:solidFill>
                <a:latin typeface="Calibri" pitchFamily="34" charset="0"/>
                <a:ea typeface="Calibri" pitchFamily="34" charset="-122"/>
                <a:cs typeface="Calibri" pitchFamily="34" charset="-120"/>
              </a:rPr>
              <a:t>Canoe Wales / British Canoeing</a:t>
            </a:r>
            <a:endParaRPr lang="en-US" sz="1050" dirty="0"/>
          </a:p>
        </p:txBody>
      </p:sp>
      <p:sp>
        <p:nvSpPr>
          <p:cNvPr id="13" name="Text 9"/>
          <p:cNvSpPr/>
          <p:nvPr/>
        </p:nvSpPr>
        <p:spPr>
          <a:xfrm>
            <a:off x="457200" y="1463040"/>
            <a:ext cx="2560320" cy="1170432"/>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Star award schemes, paddler development pathway, minimum leader qualifications per water grade, equipment requirements (PFD, helmets), water level guidance.</a:t>
            </a:r>
            <a:endParaRPr lang="en-US" sz="950" dirty="0"/>
          </a:p>
        </p:txBody>
      </p:sp>
      <p:sp>
        <p:nvSpPr>
          <p:cNvPr id="14" name="Shape 10"/>
          <p:cNvSpPr/>
          <p:nvPr/>
        </p:nvSpPr>
        <p:spPr>
          <a:xfrm>
            <a:off x="3182112" y="1078992"/>
            <a:ext cx="2706624" cy="1609344"/>
          </a:xfrm>
          <a:prstGeom prst="rect">
            <a:avLst/>
          </a:prstGeom>
          <a:solidFill>
            <a:srgbClr val="FFFFFF"/>
          </a:solidFill>
          <a:ln w="19050">
            <a:solidFill>
              <a:srgbClr val="0F4525"/>
            </a:solidFill>
            <a:prstDash val="solid"/>
          </a:ln>
          <a:effectLst>
            <a:outerShdw sx="100000" sy="100000" kx="0" ky="0" algn="bl" rotWithShape="0" blurRad="63500" dist="25400" dir="8100000">
              <a:srgbClr val="000000">
                <a:alpha val="12000"/>
              </a:srgbClr>
            </a:outerShdw>
          </a:effectLst>
        </p:spPr>
      </p:sp>
      <p:sp>
        <p:nvSpPr>
          <p:cNvPr id="15" name="Shape 11"/>
          <p:cNvSpPr/>
          <p:nvPr/>
        </p:nvSpPr>
        <p:spPr>
          <a:xfrm>
            <a:off x="3182112" y="1078992"/>
            <a:ext cx="50292" cy="1609344"/>
          </a:xfrm>
          <a:prstGeom prst="rect">
            <a:avLst/>
          </a:prstGeom>
          <a:solidFill>
            <a:srgbClr val="0F4525"/>
          </a:solidFill>
          <a:ln w="12700">
            <a:solidFill>
              <a:srgbClr val="0F4525"/>
            </a:solidFill>
            <a:prstDash val="solid"/>
          </a:ln>
        </p:spPr>
      </p:sp>
      <p:sp>
        <p:nvSpPr>
          <p:cNvPr id="16" name="Text 12"/>
          <p:cNvSpPr/>
          <p:nvPr/>
        </p:nvSpPr>
        <p:spPr>
          <a:xfrm>
            <a:off x="3273552" y="1115568"/>
            <a:ext cx="2560320" cy="310896"/>
          </a:xfrm>
          <a:prstGeom prst="rect">
            <a:avLst/>
          </a:prstGeom>
          <a:noFill/>
          <a:ln/>
        </p:spPr>
        <p:txBody>
          <a:bodyPr wrap="square" lIns="0" tIns="0" rIns="0" bIns="0" rtlCol="0" anchor="ctr"/>
          <a:lstStyle/>
          <a:p>
            <a:pPr indent="0" marL="0">
              <a:buNone/>
            </a:pPr>
            <a:r>
              <a:rPr lang="en-US" sz="1050" b="1" dirty="0">
                <a:solidFill>
                  <a:srgbClr val="0F4525"/>
                </a:solidFill>
                <a:latin typeface="Calibri" pitchFamily="34" charset="0"/>
                <a:ea typeface="Calibri" pitchFamily="34" charset="-122"/>
                <a:cs typeface="Calibri" pitchFamily="34" charset="-120"/>
              </a:rPr>
              <a:t>Mountain Training UK</a:t>
            </a:r>
            <a:endParaRPr lang="en-US" sz="1050" dirty="0"/>
          </a:p>
        </p:txBody>
      </p:sp>
      <p:sp>
        <p:nvSpPr>
          <p:cNvPr id="17" name="Text 13"/>
          <p:cNvSpPr/>
          <p:nvPr/>
        </p:nvSpPr>
        <p:spPr>
          <a:xfrm>
            <a:off x="3273552" y="1463040"/>
            <a:ext cx="2560320" cy="1170432"/>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Lowland Leader → Hill &amp; Moorland Leader → Mountain Leader → Mountain Instructor. Specifies minimum qualifications for leading groups in different terrain. Mandatory for NCS and DofE activities.</a:t>
            </a:r>
            <a:endParaRPr lang="en-US" sz="950" dirty="0"/>
          </a:p>
        </p:txBody>
      </p:sp>
      <p:sp>
        <p:nvSpPr>
          <p:cNvPr id="18" name="Shape 14"/>
          <p:cNvSpPr/>
          <p:nvPr/>
        </p:nvSpPr>
        <p:spPr>
          <a:xfrm>
            <a:off x="5998464" y="1078992"/>
            <a:ext cx="2706624" cy="1609344"/>
          </a:xfrm>
          <a:prstGeom prst="rect">
            <a:avLst/>
          </a:prstGeom>
          <a:solidFill>
            <a:srgbClr val="FFFFFF"/>
          </a:solidFill>
          <a:ln w="19050">
            <a:solidFill>
              <a:srgbClr val="1A6B3C"/>
            </a:solidFill>
            <a:prstDash val="solid"/>
          </a:ln>
          <a:effectLst>
            <a:outerShdw sx="100000" sy="100000" kx="0" ky="0" algn="bl" rotWithShape="0" blurRad="63500" dist="25400" dir="8100000">
              <a:srgbClr val="000000">
                <a:alpha val="12000"/>
              </a:srgbClr>
            </a:outerShdw>
          </a:effectLst>
        </p:spPr>
      </p:sp>
      <p:sp>
        <p:nvSpPr>
          <p:cNvPr id="19" name="Shape 15"/>
          <p:cNvSpPr/>
          <p:nvPr/>
        </p:nvSpPr>
        <p:spPr>
          <a:xfrm>
            <a:off x="5998464" y="1078992"/>
            <a:ext cx="50292" cy="1609344"/>
          </a:xfrm>
          <a:prstGeom prst="rect">
            <a:avLst/>
          </a:prstGeom>
          <a:solidFill>
            <a:srgbClr val="1A6B3C"/>
          </a:solidFill>
          <a:ln w="12700">
            <a:solidFill>
              <a:srgbClr val="1A6B3C"/>
            </a:solidFill>
            <a:prstDash val="solid"/>
          </a:ln>
        </p:spPr>
      </p:sp>
      <p:sp>
        <p:nvSpPr>
          <p:cNvPr id="20" name="Text 16"/>
          <p:cNvSpPr/>
          <p:nvPr/>
        </p:nvSpPr>
        <p:spPr>
          <a:xfrm>
            <a:off x="6089904" y="1115568"/>
            <a:ext cx="2560320" cy="310896"/>
          </a:xfrm>
          <a:prstGeom prst="rect">
            <a:avLst/>
          </a:prstGeom>
          <a:noFill/>
          <a:ln/>
        </p:spPr>
        <p:txBody>
          <a:bodyPr wrap="square" lIns="0" tIns="0" rIns="0" bIns="0" rtlCol="0" anchor="ctr"/>
          <a:lstStyle/>
          <a:p>
            <a:pPr indent="0" marL="0">
              <a:buNone/>
            </a:pPr>
            <a:r>
              <a:rPr lang="en-US" sz="1050" b="1" dirty="0">
                <a:solidFill>
                  <a:srgbClr val="1A6B3C"/>
                </a:solidFill>
                <a:latin typeface="Calibri" pitchFamily="34" charset="0"/>
                <a:ea typeface="Calibri" pitchFamily="34" charset="-122"/>
                <a:cs typeface="Calibri" pitchFamily="34" charset="-120"/>
              </a:rPr>
              <a:t>Outdoor Education Advisers Panel (OEAP)</a:t>
            </a:r>
            <a:endParaRPr lang="en-US" sz="1050" dirty="0"/>
          </a:p>
        </p:txBody>
      </p:sp>
      <p:sp>
        <p:nvSpPr>
          <p:cNvPr id="21" name="Text 17"/>
          <p:cNvSpPr/>
          <p:nvPr/>
        </p:nvSpPr>
        <p:spPr>
          <a:xfrm>
            <a:off x="6089904" y="1463040"/>
            <a:ext cx="2560320" cy="1170432"/>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National Guidance for educational visits. Covers approval procedures, leader ratios, parental consent, emergency procedures. Primary reference for schools.</a:t>
            </a:r>
            <a:endParaRPr lang="en-US" sz="950" dirty="0"/>
          </a:p>
        </p:txBody>
      </p:sp>
      <p:sp>
        <p:nvSpPr>
          <p:cNvPr id="22" name="Shape 18"/>
          <p:cNvSpPr/>
          <p:nvPr/>
        </p:nvSpPr>
        <p:spPr>
          <a:xfrm>
            <a:off x="365760" y="2798064"/>
            <a:ext cx="2706624" cy="1609344"/>
          </a:xfrm>
          <a:prstGeom prst="rect">
            <a:avLst/>
          </a:prstGeom>
          <a:solidFill>
            <a:srgbClr val="FFFFFF"/>
          </a:solidFill>
          <a:ln w="19050">
            <a:solidFill>
              <a:srgbClr val="991B1B"/>
            </a:solidFill>
            <a:prstDash val="solid"/>
          </a:ln>
          <a:effectLst>
            <a:outerShdw sx="100000" sy="100000" kx="0" ky="0" algn="bl" rotWithShape="0" blurRad="63500" dist="25400" dir="8100000">
              <a:srgbClr val="000000">
                <a:alpha val="12000"/>
              </a:srgbClr>
            </a:outerShdw>
          </a:effectLst>
        </p:spPr>
      </p:sp>
      <p:sp>
        <p:nvSpPr>
          <p:cNvPr id="23" name="Shape 19"/>
          <p:cNvSpPr/>
          <p:nvPr/>
        </p:nvSpPr>
        <p:spPr>
          <a:xfrm>
            <a:off x="365760" y="2798064"/>
            <a:ext cx="50292" cy="1609344"/>
          </a:xfrm>
          <a:prstGeom prst="rect">
            <a:avLst/>
          </a:prstGeom>
          <a:solidFill>
            <a:srgbClr val="991B1B"/>
          </a:solidFill>
          <a:ln w="12700">
            <a:solidFill>
              <a:srgbClr val="991B1B"/>
            </a:solidFill>
            <a:prstDash val="solid"/>
          </a:ln>
        </p:spPr>
      </p:sp>
      <p:sp>
        <p:nvSpPr>
          <p:cNvPr id="24" name="Text 20"/>
          <p:cNvSpPr/>
          <p:nvPr/>
        </p:nvSpPr>
        <p:spPr>
          <a:xfrm>
            <a:off x="457200" y="2834640"/>
            <a:ext cx="2560320" cy="310896"/>
          </a:xfrm>
          <a:prstGeom prst="rect">
            <a:avLst/>
          </a:prstGeom>
          <a:noFill/>
          <a:ln/>
        </p:spPr>
        <p:txBody>
          <a:bodyPr wrap="square" lIns="0" tIns="0" rIns="0" bIns="0" rtlCol="0" anchor="ctr"/>
          <a:lstStyle/>
          <a:p>
            <a:pPr indent="0" marL="0">
              <a:buNone/>
            </a:pPr>
            <a:r>
              <a:rPr lang="en-US" sz="1050" b="1" dirty="0">
                <a:solidFill>
                  <a:srgbClr val="991B1B"/>
                </a:solidFill>
                <a:latin typeface="Calibri" pitchFamily="34" charset="0"/>
                <a:ea typeface="Calibri" pitchFamily="34" charset="-122"/>
                <a:cs typeface="Calibri" pitchFamily="34" charset="-120"/>
              </a:rPr>
              <a:t>British Mountaineering Council (BMC)</a:t>
            </a:r>
            <a:endParaRPr lang="en-US" sz="1050" dirty="0"/>
          </a:p>
        </p:txBody>
      </p:sp>
      <p:sp>
        <p:nvSpPr>
          <p:cNvPr id="25" name="Text 21"/>
          <p:cNvSpPr/>
          <p:nvPr/>
        </p:nvSpPr>
        <p:spPr>
          <a:xfrm>
            <a:off x="457200" y="3182112"/>
            <a:ext cx="2560320" cy="1170432"/>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Participation Statement (inherent risk philosophy), insurance, training resources for climbing and mountaineering. BMC Guidance Notes cover specific hazards.</a:t>
            </a:r>
            <a:endParaRPr lang="en-US" sz="950" dirty="0"/>
          </a:p>
        </p:txBody>
      </p:sp>
      <p:sp>
        <p:nvSpPr>
          <p:cNvPr id="26" name="Shape 22"/>
          <p:cNvSpPr/>
          <p:nvPr/>
        </p:nvSpPr>
        <p:spPr>
          <a:xfrm>
            <a:off x="3182112" y="2798064"/>
            <a:ext cx="2706624" cy="1609344"/>
          </a:xfrm>
          <a:prstGeom prst="rect">
            <a:avLst/>
          </a:prstGeom>
          <a:solidFill>
            <a:srgbClr val="FFFFFF"/>
          </a:solidFill>
          <a:ln w="19050">
            <a:solidFill>
              <a:srgbClr val="D97706"/>
            </a:solidFill>
            <a:prstDash val="solid"/>
          </a:ln>
          <a:effectLst>
            <a:outerShdw sx="100000" sy="100000" kx="0" ky="0" algn="bl" rotWithShape="0" blurRad="63500" dist="25400" dir="8100000">
              <a:srgbClr val="000000">
                <a:alpha val="12000"/>
              </a:srgbClr>
            </a:outerShdw>
          </a:effectLst>
        </p:spPr>
      </p:sp>
      <p:sp>
        <p:nvSpPr>
          <p:cNvPr id="27" name="Shape 23"/>
          <p:cNvSpPr/>
          <p:nvPr/>
        </p:nvSpPr>
        <p:spPr>
          <a:xfrm>
            <a:off x="3182112" y="2798064"/>
            <a:ext cx="50292" cy="1609344"/>
          </a:xfrm>
          <a:prstGeom prst="rect">
            <a:avLst/>
          </a:prstGeom>
          <a:solidFill>
            <a:srgbClr val="D97706"/>
          </a:solidFill>
          <a:ln w="12700">
            <a:solidFill>
              <a:srgbClr val="D97706"/>
            </a:solidFill>
            <a:prstDash val="solid"/>
          </a:ln>
        </p:spPr>
      </p:sp>
      <p:sp>
        <p:nvSpPr>
          <p:cNvPr id="28" name="Text 24"/>
          <p:cNvSpPr/>
          <p:nvPr/>
        </p:nvSpPr>
        <p:spPr>
          <a:xfrm>
            <a:off x="3273552" y="2834640"/>
            <a:ext cx="2560320" cy="310896"/>
          </a:xfrm>
          <a:prstGeom prst="rect">
            <a:avLst/>
          </a:prstGeom>
          <a:noFill/>
          <a:ln/>
        </p:spPr>
        <p:txBody>
          <a:bodyPr wrap="square" lIns="0" tIns="0" rIns="0" bIns="0" rtlCol="0" anchor="ctr"/>
          <a:lstStyle/>
          <a:p>
            <a:pPr indent="0" marL="0">
              <a:buNone/>
            </a:pPr>
            <a:r>
              <a:rPr lang="en-US" sz="1050" b="1" dirty="0">
                <a:solidFill>
                  <a:srgbClr val="D97706"/>
                </a:solidFill>
                <a:latin typeface="Calibri" pitchFamily="34" charset="0"/>
                <a:ea typeface="Calibri" pitchFamily="34" charset="-122"/>
                <a:cs typeface="Calibri" pitchFamily="34" charset="-120"/>
              </a:rPr>
              <a:t>British Cycling / Cycling UK</a:t>
            </a:r>
            <a:endParaRPr lang="en-US" sz="1050" dirty="0"/>
          </a:p>
        </p:txBody>
      </p:sp>
      <p:sp>
        <p:nvSpPr>
          <p:cNvPr id="29" name="Text 25"/>
          <p:cNvSpPr/>
          <p:nvPr/>
        </p:nvSpPr>
        <p:spPr>
          <a:xfrm>
            <a:off x="3273552" y="3182112"/>
            <a:ext cx="2560320" cy="1170432"/>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Leader award schemes for off-road and mountain biking. Route guidance, risk management frameworks, mandatory equipment lists for different trail grades.</a:t>
            </a:r>
            <a:endParaRPr lang="en-US" sz="950" dirty="0"/>
          </a:p>
        </p:txBody>
      </p:sp>
      <p:sp>
        <p:nvSpPr>
          <p:cNvPr id="30" name="Shape 26"/>
          <p:cNvSpPr/>
          <p:nvPr/>
        </p:nvSpPr>
        <p:spPr>
          <a:xfrm>
            <a:off x="5998464" y="2798064"/>
            <a:ext cx="2706624" cy="1609344"/>
          </a:xfrm>
          <a:prstGeom prst="rect">
            <a:avLst/>
          </a:prstGeom>
          <a:solidFill>
            <a:srgbClr val="FFFFFF"/>
          </a:solidFill>
          <a:ln w="19050">
            <a:solidFill>
              <a:srgbClr val="065F46"/>
            </a:solidFill>
            <a:prstDash val="solid"/>
          </a:ln>
          <a:effectLst>
            <a:outerShdw sx="100000" sy="100000" kx="0" ky="0" algn="bl" rotWithShape="0" blurRad="63500" dist="25400" dir="8100000">
              <a:srgbClr val="000000">
                <a:alpha val="12000"/>
              </a:srgbClr>
            </a:outerShdw>
          </a:effectLst>
        </p:spPr>
      </p:sp>
      <p:sp>
        <p:nvSpPr>
          <p:cNvPr id="31" name="Shape 27"/>
          <p:cNvSpPr/>
          <p:nvPr/>
        </p:nvSpPr>
        <p:spPr>
          <a:xfrm>
            <a:off x="5998464" y="2798064"/>
            <a:ext cx="50292" cy="1609344"/>
          </a:xfrm>
          <a:prstGeom prst="rect">
            <a:avLst/>
          </a:prstGeom>
          <a:solidFill>
            <a:srgbClr val="065F46"/>
          </a:solidFill>
          <a:ln w="12700">
            <a:solidFill>
              <a:srgbClr val="065F46"/>
            </a:solidFill>
            <a:prstDash val="solid"/>
          </a:ln>
        </p:spPr>
      </p:sp>
      <p:sp>
        <p:nvSpPr>
          <p:cNvPr id="32" name="Text 28"/>
          <p:cNvSpPr/>
          <p:nvPr/>
        </p:nvSpPr>
        <p:spPr>
          <a:xfrm>
            <a:off x="6089904" y="2834640"/>
            <a:ext cx="2560320" cy="310896"/>
          </a:xfrm>
          <a:prstGeom prst="rect">
            <a:avLst/>
          </a:prstGeom>
          <a:noFill/>
          <a:ln/>
        </p:spPr>
        <p:txBody>
          <a:bodyPr wrap="square" lIns="0" tIns="0" rIns="0" bIns="0" rtlCol="0" anchor="ctr"/>
          <a:lstStyle/>
          <a:p>
            <a:pPr indent="0" marL="0">
              <a:buNone/>
            </a:pPr>
            <a:r>
              <a:rPr lang="en-US" sz="1050" b="1" dirty="0">
                <a:solidFill>
                  <a:srgbClr val="065F46"/>
                </a:solidFill>
                <a:latin typeface="Calibri" pitchFamily="34" charset="0"/>
                <a:ea typeface="Calibri" pitchFamily="34" charset="-122"/>
                <a:cs typeface="Calibri" pitchFamily="34" charset="-120"/>
              </a:rPr>
              <a:t>RLSS / RNLI / Surf Life Saving GB</a:t>
            </a:r>
            <a:endParaRPr lang="en-US" sz="1050" dirty="0"/>
          </a:p>
        </p:txBody>
      </p:sp>
      <p:sp>
        <p:nvSpPr>
          <p:cNvPr id="33" name="Text 29"/>
          <p:cNvSpPr/>
          <p:nvPr/>
        </p:nvSpPr>
        <p:spPr>
          <a:xfrm>
            <a:off x="6089904" y="3182112"/>
            <a:ext cx="2560320" cy="1170432"/>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Safety guidance for water-based and coastal activities. 'Respect the Water' campaign. Lifesaving qualifications and beach/river rescue protocols.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452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69480" y="64008"/>
            <a:ext cx="694944" cy="484632"/>
          </a:xfrm>
          <a:prstGeom prst="rect">
            <a:avLst/>
          </a:prstGeom>
        </p:spPr>
      </p:pic>
      <p:pic>
        <p:nvPicPr>
          <p:cNvPr id="3" name="Image 1" descr="preencoded.png">    </p:cNvPr>
          <p:cNvPicPr>
            <a:picLocks noChangeAspect="1"/>
          </p:cNvPicPr>
          <p:nvPr/>
        </p:nvPicPr>
        <p:blipFill>
          <a:blip r:embed="rId2"/>
          <a:stretch>
            <a:fillRect/>
          </a:stretch>
        </p:blipFill>
        <p:spPr>
          <a:xfrm>
            <a:off x="8019288" y="91440"/>
            <a:ext cx="969264" cy="402336"/>
          </a:xfrm>
          <a:prstGeom prst="rect">
            <a:avLst/>
          </a:prstGeom>
        </p:spPr>
      </p:pic>
      <p:sp>
        <p:nvSpPr>
          <p:cNvPr id="4" name="Text 0"/>
          <p:cNvSpPr/>
          <p:nvPr/>
        </p:nvSpPr>
        <p:spPr>
          <a:xfrm>
            <a:off x="5943600" y="-365760"/>
            <a:ext cx="2926080" cy="3657600"/>
          </a:xfrm>
          <a:prstGeom prst="rect">
            <a:avLst/>
          </a:prstGeom>
          <a:noFill/>
          <a:ln/>
        </p:spPr>
        <p:txBody>
          <a:bodyPr wrap="square" lIns="0" tIns="0" rIns="0" bIns="0" rtlCol="0" anchor="t"/>
          <a:lstStyle/>
          <a:p>
            <a:pPr algn="r" indent="0" marL="0">
              <a:buNone/>
            </a:pPr>
            <a:r>
              <a:rPr lang="en-US" sz="22000" b="1" dirty="0">
                <a:solidFill>
                  <a:srgbClr val="FFFFFF">
                    <a:alpha val="15000"/>
                  </a:srgbClr>
                </a:solidFill>
                <a:latin typeface="Calibri" pitchFamily="34" charset="0"/>
                <a:ea typeface="Calibri" pitchFamily="34" charset="-122"/>
                <a:cs typeface="Calibri" pitchFamily="34" charset="-120"/>
              </a:rPr>
              <a:t>2</a:t>
            </a:r>
            <a:endParaRPr lang="en-US" sz="22000" dirty="0"/>
          </a:p>
        </p:txBody>
      </p:sp>
      <p:sp>
        <p:nvSpPr>
          <p:cNvPr id="5" name="Shape 1"/>
          <p:cNvSpPr/>
          <p:nvPr/>
        </p:nvSpPr>
        <p:spPr>
          <a:xfrm>
            <a:off x="0" y="0"/>
            <a:ext cx="164592" cy="5143500"/>
          </a:xfrm>
          <a:prstGeom prst="rect">
            <a:avLst/>
          </a:prstGeom>
          <a:solidFill>
            <a:srgbClr val="C8A951"/>
          </a:solidFill>
          <a:ln w="12700">
            <a:solidFill>
              <a:srgbClr val="C8A951"/>
            </a:solidFill>
            <a:prstDash val="solid"/>
          </a:ln>
        </p:spPr>
      </p:sp>
      <p:sp>
        <p:nvSpPr>
          <p:cNvPr id="6" name="Text 2"/>
          <p:cNvSpPr/>
          <p:nvPr/>
        </p:nvSpPr>
        <p:spPr>
          <a:xfrm>
            <a:off x="347472" y="502920"/>
            <a:ext cx="6400800" cy="256032"/>
          </a:xfrm>
          <a:prstGeom prst="rect">
            <a:avLst/>
          </a:prstGeom>
          <a:noFill/>
          <a:ln/>
        </p:spPr>
        <p:txBody>
          <a:bodyPr wrap="square" lIns="0" tIns="0" rIns="0" bIns="0" rtlCol="0" anchor="ctr"/>
          <a:lstStyle/>
          <a:p>
            <a:pPr indent="0" marL="0">
              <a:buNone/>
            </a:pPr>
            <a:r>
              <a:rPr lang="en-US" sz="1100" b="1" spc="300" kern="0" dirty="0">
                <a:solidFill>
                  <a:srgbClr val="C8A951"/>
                </a:solidFill>
                <a:latin typeface="Calibri" pitchFamily="34" charset="0"/>
                <a:ea typeface="Calibri" pitchFamily="34" charset="-122"/>
                <a:cs typeface="Calibri" pitchFamily="34" charset="-120"/>
              </a:rPr>
              <a:t>LEARNING OUTCOME 2</a:t>
            </a:r>
            <a:endParaRPr lang="en-US" sz="1100" dirty="0"/>
          </a:p>
        </p:txBody>
      </p:sp>
      <p:sp>
        <p:nvSpPr>
          <p:cNvPr id="7" name="Text 3"/>
          <p:cNvSpPr/>
          <p:nvPr/>
        </p:nvSpPr>
        <p:spPr>
          <a:xfrm>
            <a:off x="347472" y="804672"/>
            <a:ext cx="6949440" cy="10058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Understand the Role of Risk Assessment</a:t>
            </a:r>
            <a:endParaRPr lang="en-US" sz="3000" dirty="0"/>
          </a:p>
        </p:txBody>
      </p:sp>
      <p:sp>
        <p:nvSpPr>
          <p:cNvPr id="8" name="Text 4"/>
          <p:cNvSpPr/>
          <p:nvPr/>
        </p:nvSpPr>
        <p:spPr>
          <a:xfrm>
            <a:off x="347472" y="1901952"/>
            <a:ext cx="6217920" cy="384048"/>
          </a:xfrm>
          <a:prstGeom prst="rect">
            <a:avLst/>
          </a:prstGeom>
          <a:noFill/>
          <a:ln/>
        </p:spPr>
        <p:txBody>
          <a:bodyPr wrap="square" lIns="0" tIns="0" rIns="0" bIns="0" rtlCol="0" anchor="ctr"/>
          <a:lstStyle/>
          <a:p>
            <a:pPr indent="0" marL="0">
              <a:buNone/>
            </a:pPr>
            <a:r>
              <a:rPr lang="en-US" sz="1200" i="1" dirty="0">
                <a:solidFill>
                  <a:srgbClr val="E8F5EE"/>
                </a:solidFill>
                <a:latin typeface="Calibri" pitchFamily="34" charset="0"/>
                <a:ea typeface="Calibri" pitchFamily="34" charset="-122"/>
                <a:cs typeface="Calibri" pitchFamily="34" charset="-120"/>
              </a:rPr>
              <a:t>Understand what could go wrong, why it matters, and how leaders respond when conditions change.</a:t>
            </a:r>
            <a:endParaRPr lang="en-US" sz="1200" dirty="0"/>
          </a:p>
        </p:txBody>
      </p:sp>
      <p:sp>
        <p:nvSpPr>
          <p:cNvPr id="9" name="Shape 5"/>
          <p:cNvSpPr/>
          <p:nvPr/>
        </p:nvSpPr>
        <p:spPr>
          <a:xfrm>
            <a:off x="347472" y="2395728"/>
            <a:ext cx="5943600" cy="2377440"/>
          </a:xfrm>
          <a:prstGeom prst="rect">
            <a:avLst/>
          </a:prstGeom>
          <a:solidFill>
            <a:srgbClr val="0A2E18"/>
          </a:solidFill>
          <a:ln w="12700">
            <a:solidFill>
              <a:srgbClr val="1A6B3C"/>
            </a:solidFill>
            <a:prstDash val="solid"/>
          </a:ln>
        </p:spPr>
      </p:sp>
      <p:sp>
        <p:nvSpPr>
          <p:cNvPr id="10" name="Text 6"/>
          <p:cNvSpPr/>
          <p:nvPr/>
        </p:nvSpPr>
        <p:spPr>
          <a:xfrm>
            <a:off x="457200" y="2432304"/>
            <a:ext cx="5669280" cy="256032"/>
          </a:xfrm>
          <a:prstGeom prst="rect">
            <a:avLst/>
          </a:prstGeom>
          <a:noFill/>
          <a:ln/>
        </p:spPr>
        <p:txBody>
          <a:bodyPr wrap="square" lIns="0" tIns="0" rIns="0" bIns="0" rtlCol="0" anchor="ctr"/>
          <a:lstStyle/>
          <a:p>
            <a:pPr indent="0" marL="0">
              <a:buNone/>
            </a:pPr>
            <a:r>
              <a:rPr lang="en-US" sz="1000" b="1" dirty="0">
                <a:solidFill>
                  <a:srgbClr val="C8A951"/>
                </a:solidFill>
                <a:latin typeface="Calibri" pitchFamily="34" charset="0"/>
                <a:ea typeface="Calibri" pitchFamily="34" charset="-122"/>
                <a:cs typeface="Calibri" pitchFamily="34" charset="-120"/>
              </a:rPr>
              <a:t>Assessment Criteria</a:t>
            </a:r>
            <a:endParaRPr lang="en-US" sz="1000" dirty="0"/>
          </a:p>
        </p:txBody>
      </p:sp>
      <p:sp>
        <p:nvSpPr>
          <p:cNvPr id="11" name="Text 7"/>
          <p:cNvSpPr/>
          <p:nvPr/>
        </p:nvSpPr>
        <p:spPr>
          <a:xfrm>
            <a:off x="457200" y="2724912"/>
            <a:ext cx="5687568" cy="1993392"/>
          </a:xfrm>
          <a:prstGeom prst="rect">
            <a:avLst/>
          </a:prstGeom>
          <a:noFill/>
          <a:ln/>
        </p:spPr>
        <p:txBody>
          <a:bodyPr wrap="square" lIns="0" tIns="0" rIns="0" bIns="0" rtlCol="0" anchor="t"/>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2.1  Describe potential hazards and risks in a chosen activity (min. 2 hazards, 2 risks)</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2.2  Give an example of an accident/emergency + at least 2 appropriate responses</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2.3  Explain why it is important to adhere to RA measures</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2.4  Explain the importance of dynamic risk assessments</a:t>
            </a:r>
            <a:endParaRPr lang="en-US" sz="1100" dirty="0"/>
          </a:p>
        </p:txBody>
      </p:sp>
      <p:sp>
        <p:nvSpPr>
          <p:cNvPr id="12" name="Shape 8"/>
          <p:cNvSpPr/>
          <p:nvPr/>
        </p:nvSpPr>
        <p:spPr>
          <a:xfrm>
            <a:off x="0" y="4983480"/>
            <a:ext cx="9144000" cy="160020"/>
          </a:xfrm>
          <a:prstGeom prst="rect">
            <a:avLst/>
          </a:prstGeom>
          <a:solidFill>
            <a:srgbClr val="0A2E18"/>
          </a:solidFill>
          <a:ln w="12700">
            <a:solidFill>
              <a:srgbClr val="0A2E18"/>
            </a:solidFill>
            <a:prstDash val="solid"/>
          </a:ln>
        </p:spPr>
      </p:sp>
      <p:sp>
        <p:nvSpPr>
          <p:cNvPr id="13" name="Text 9"/>
          <p:cNvSpPr/>
          <p:nvPr/>
        </p:nvSpPr>
        <p:spPr>
          <a:xfrm>
            <a:off x="274320" y="4983480"/>
            <a:ext cx="8595360" cy="160020"/>
          </a:xfrm>
          <a:prstGeom prst="rect">
            <a:avLst/>
          </a:prstGeom>
          <a:noFill/>
          <a:ln/>
        </p:spPr>
        <p:txBody>
          <a:bodyPr wrap="square" lIns="0" tIns="0" rIns="0" bIns="0" rtlCol="0" anchor="ctr"/>
          <a:lstStyle/>
          <a:p>
            <a:pPr algn="ctr" indent="0" marL="0">
              <a:buNone/>
            </a:pPr>
            <a:r>
              <a:rPr lang="en-US" sz="800" dirty="0">
                <a:solidFill>
                  <a:srgbClr val="E8F5EE"/>
                </a:solidFill>
                <a:latin typeface="Calibri" pitchFamily="34" charset="0"/>
                <a:ea typeface="Calibri" pitchFamily="34" charset="-122"/>
                <a:cs typeface="Calibri" pitchFamily="34" charset="-120"/>
              </a:rPr>
              <a:t>HB93CY003  |  Risk Management when Learning in the Outdoors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69480" y="64008"/>
            <a:ext cx="694944" cy="484632"/>
          </a:xfrm>
          <a:prstGeom prst="rect">
            <a:avLst/>
          </a:prstGeom>
        </p:spPr>
      </p:pic>
      <p:pic>
        <p:nvPicPr>
          <p:cNvPr id="3" name="Image 1" descr="preencoded.png">    </p:cNvPr>
          <p:cNvPicPr>
            <a:picLocks noChangeAspect="1"/>
          </p:cNvPicPr>
          <p:nvPr/>
        </p:nvPicPr>
        <p:blipFill>
          <a:blip r:embed="rId2"/>
          <a:stretch>
            <a:fillRect/>
          </a:stretch>
        </p:blipFill>
        <p:spPr>
          <a:xfrm>
            <a:off x="8019288" y="91440"/>
            <a:ext cx="969264" cy="402336"/>
          </a:xfrm>
          <a:prstGeom prst="rect">
            <a:avLst/>
          </a:prstGeom>
        </p:spPr>
      </p:pic>
      <p:sp>
        <p:nvSpPr>
          <p:cNvPr id="4" name="Shape 0"/>
          <p:cNvSpPr/>
          <p:nvPr/>
        </p:nvSpPr>
        <p:spPr>
          <a:xfrm>
            <a:off x="0" y="4983480"/>
            <a:ext cx="9144000" cy="160020"/>
          </a:xfrm>
          <a:prstGeom prst="rect">
            <a:avLst/>
          </a:prstGeom>
          <a:solidFill>
            <a:srgbClr val="1A6B3C"/>
          </a:solidFill>
          <a:ln w="12700">
            <a:solidFill>
              <a:srgbClr val="1A6B3C"/>
            </a:solidFill>
            <a:prstDash val="solid"/>
          </a:ln>
        </p:spPr>
      </p:sp>
      <p:sp>
        <p:nvSpPr>
          <p:cNvPr id="5" name="Text 1"/>
          <p:cNvSpPr/>
          <p:nvPr/>
        </p:nvSpPr>
        <p:spPr>
          <a:xfrm>
            <a:off x="109728" y="4983480"/>
            <a:ext cx="2286000" cy="160020"/>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HB93CY003</a:t>
            </a:r>
            <a:endParaRPr lang="en-US" sz="800" dirty="0"/>
          </a:p>
        </p:txBody>
      </p:sp>
      <p:sp>
        <p:nvSpPr>
          <p:cNvPr id="6" name="Text 2"/>
          <p:cNvSpPr/>
          <p:nvPr/>
        </p:nvSpPr>
        <p:spPr>
          <a:xfrm>
            <a:off x="3200400" y="4983480"/>
            <a:ext cx="5833872" cy="160020"/>
          </a:xfrm>
          <a:prstGeom prst="rect">
            <a:avLst/>
          </a:prstGeom>
          <a:noFill/>
          <a:ln/>
        </p:spPr>
        <p:txBody>
          <a:bodyPr wrap="square" lIns="0" tIns="0" rIns="0" bIns="0" rtlCol="0" anchor="ctr"/>
          <a:lstStyle/>
          <a:p>
            <a:pPr algn="r" indent="0" marL="0">
              <a:buNone/>
            </a:pPr>
            <a:r>
              <a:rPr lang="en-US" sz="800" dirty="0">
                <a:solidFill>
                  <a:srgbClr val="FFFFFF"/>
                </a:solidFill>
                <a:latin typeface="Calibri" pitchFamily="34" charset="0"/>
                <a:ea typeface="Calibri" pitchFamily="34" charset="-122"/>
                <a:cs typeface="Calibri" pitchFamily="34" charset="-120"/>
              </a:rPr>
              <a:t>Risk Management when Learning in the Outdoors  |  Level 3</a:t>
            </a:r>
            <a:endParaRPr lang="en-US" sz="800" dirty="0"/>
          </a:p>
        </p:txBody>
      </p:sp>
      <p:sp>
        <p:nvSpPr>
          <p:cNvPr id="7" name="Text 3"/>
          <p:cNvSpPr/>
          <p:nvPr/>
        </p:nvSpPr>
        <p:spPr>
          <a:xfrm>
            <a:off x="365760" y="109728"/>
            <a:ext cx="6812280" cy="530352"/>
          </a:xfrm>
          <a:prstGeom prst="rect">
            <a:avLst/>
          </a:prstGeom>
          <a:noFill/>
          <a:ln/>
        </p:spPr>
        <p:txBody>
          <a:bodyPr wrap="square" lIns="0" tIns="0" rIns="0" bIns="0" rtlCol="0" anchor="ctr"/>
          <a:lstStyle/>
          <a:p>
            <a:pPr indent="0" marL="0">
              <a:buNone/>
            </a:pPr>
            <a:r>
              <a:rPr lang="en-US" sz="2200" b="1" dirty="0">
                <a:solidFill>
                  <a:srgbClr val="0F4525"/>
                </a:solidFill>
                <a:latin typeface="Calibri" pitchFamily="34" charset="0"/>
                <a:ea typeface="Calibri" pitchFamily="34" charset="-122"/>
                <a:cs typeface="Calibri" pitchFamily="34" charset="-120"/>
              </a:rPr>
              <a:t>Hazards, Risks and Control Measures</a:t>
            </a:r>
            <a:endParaRPr lang="en-US" sz="2200" dirty="0"/>
          </a:p>
        </p:txBody>
      </p:sp>
      <p:sp>
        <p:nvSpPr>
          <p:cNvPr id="8" name="Shape 4"/>
          <p:cNvSpPr/>
          <p:nvPr/>
        </p:nvSpPr>
        <p:spPr>
          <a:xfrm>
            <a:off x="365760" y="877824"/>
            <a:ext cx="1143000" cy="201168"/>
          </a:xfrm>
          <a:prstGeom prst="rect">
            <a:avLst/>
          </a:prstGeom>
          <a:solidFill>
            <a:srgbClr val="C8A951"/>
          </a:solidFill>
          <a:ln w="12700">
            <a:solidFill>
              <a:srgbClr val="C8A951"/>
            </a:solidFill>
            <a:prstDash val="solid"/>
          </a:ln>
        </p:spPr>
      </p:sp>
      <p:sp>
        <p:nvSpPr>
          <p:cNvPr id="9" name="Text 5"/>
          <p:cNvSpPr/>
          <p:nvPr/>
        </p:nvSpPr>
        <p:spPr>
          <a:xfrm>
            <a:off x="365760" y="877824"/>
            <a:ext cx="1143000" cy="201168"/>
          </a:xfrm>
          <a:prstGeom prst="rect">
            <a:avLst/>
          </a:prstGeom>
          <a:noFill/>
          <a:ln/>
        </p:spPr>
        <p:txBody>
          <a:bodyPr wrap="square" lIns="0" tIns="0" rIns="0" bIns="0" rtlCol="0" anchor="ctr"/>
          <a:lstStyle/>
          <a:p>
            <a:pPr algn="ctr" indent="0" marL="0">
              <a:buNone/>
            </a:pPr>
            <a:r>
              <a:rPr lang="en-US" sz="900" b="1" dirty="0">
                <a:solidFill>
                  <a:srgbClr val="3D2A00"/>
                </a:solidFill>
                <a:latin typeface="Calibri" pitchFamily="34" charset="0"/>
                <a:ea typeface="Calibri" pitchFamily="34" charset="-122"/>
                <a:cs typeface="Calibri" pitchFamily="34" charset="-120"/>
              </a:rPr>
              <a:t>AC 2.1</a:t>
            </a:r>
            <a:endParaRPr lang="en-US" sz="900" dirty="0"/>
          </a:p>
        </p:txBody>
      </p:sp>
      <p:sp>
        <p:nvSpPr>
          <p:cNvPr id="10" name="Shape 6"/>
          <p:cNvSpPr/>
          <p:nvPr/>
        </p:nvSpPr>
        <p:spPr>
          <a:xfrm>
            <a:off x="365760" y="1060704"/>
            <a:ext cx="2706624" cy="3200400"/>
          </a:xfrm>
          <a:prstGeom prst="rect">
            <a:avLst/>
          </a:prstGeom>
          <a:solidFill>
            <a:srgbClr val="FFFFFF"/>
          </a:solidFill>
          <a:ln w="25400">
            <a:solidFill>
              <a:srgbClr val="991B1B"/>
            </a:solidFill>
            <a:prstDash val="solid"/>
          </a:ln>
          <a:effectLst>
            <a:outerShdw sx="100000" sy="100000" kx="0" ky="0" algn="bl" rotWithShape="0" blurRad="63500" dist="25400" dir="8100000">
              <a:srgbClr val="000000">
                <a:alpha val="12000"/>
              </a:srgbClr>
            </a:outerShdw>
          </a:effectLst>
        </p:spPr>
      </p:sp>
      <p:sp>
        <p:nvSpPr>
          <p:cNvPr id="11" name="Shape 7"/>
          <p:cNvSpPr/>
          <p:nvPr/>
        </p:nvSpPr>
        <p:spPr>
          <a:xfrm>
            <a:off x="365760" y="1060704"/>
            <a:ext cx="2706624" cy="402336"/>
          </a:xfrm>
          <a:prstGeom prst="rect">
            <a:avLst/>
          </a:prstGeom>
          <a:solidFill>
            <a:srgbClr val="991B1B"/>
          </a:solidFill>
          <a:ln w="12700">
            <a:solidFill>
              <a:srgbClr val="991B1B"/>
            </a:solidFill>
            <a:prstDash val="solid"/>
          </a:ln>
        </p:spPr>
      </p:sp>
      <p:sp>
        <p:nvSpPr>
          <p:cNvPr id="12" name="Text 8"/>
          <p:cNvSpPr/>
          <p:nvPr/>
        </p:nvSpPr>
        <p:spPr>
          <a:xfrm>
            <a:off x="365760" y="1060704"/>
            <a:ext cx="2706624"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HAZARD</a:t>
            </a:r>
            <a:endParaRPr lang="en-US" sz="1300" dirty="0"/>
          </a:p>
        </p:txBody>
      </p:sp>
      <p:sp>
        <p:nvSpPr>
          <p:cNvPr id="13" name="Text 9"/>
          <p:cNvSpPr/>
          <p:nvPr/>
        </p:nvSpPr>
        <p:spPr>
          <a:xfrm>
            <a:off x="457200" y="1499616"/>
            <a:ext cx="2523744" cy="658368"/>
          </a:xfrm>
          <a:prstGeom prst="rect">
            <a:avLst/>
          </a:prstGeom>
          <a:noFill/>
          <a:ln/>
        </p:spPr>
        <p:txBody>
          <a:bodyPr wrap="square" lIns="0" tIns="0" rIns="0" bIns="0" rtlCol="0" anchor="t"/>
          <a:lstStyle/>
          <a:p>
            <a:pPr indent="0" marL="0">
              <a:buNone/>
            </a:pPr>
            <a:r>
              <a:rPr lang="en-US" sz="1100" b="1" dirty="0">
                <a:solidFill>
                  <a:srgbClr val="991B1B"/>
                </a:solidFill>
                <a:latin typeface="Calibri" pitchFamily="34" charset="0"/>
                <a:ea typeface="Calibri" pitchFamily="34" charset="-122"/>
                <a:cs typeface="Calibri" pitchFamily="34" charset="-120"/>
              </a:rPr>
              <a:t>Definition: </a:t>
            </a:r>
            <a:pPr indent="0" marL="0">
              <a:buNone/>
            </a:pPr>
            <a:r>
              <a:rPr lang="en-US" sz="1100" dirty="0">
                <a:solidFill>
                  <a:srgbClr val="1A1A1A"/>
                </a:solidFill>
                <a:latin typeface="Calibri" pitchFamily="34" charset="0"/>
                <a:ea typeface="Calibri" pitchFamily="34" charset="-122"/>
                <a:cs typeface="Calibri" pitchFamily="34" charset="-120"/>
              </a:rPr>
              <a:t>Anything with the POTENTIAL to cause harm.</a:t>
            </a:r>
            <a:endParaRPr lang="en-US" sz="1100" dirty="0"/>
          </a:p>
        </p:txBody>
      </p:sp>
      <p:sp>
        <p:nvSpPr>
          <p:cNvPr id="14" name="Text 10"/>
          <p:cNvSpPr/>
          <p:nvPr/>
        </p:nvSpPr>
        <p:spPr>
          <a:xfrm>
            <a:off x="457200" y="2194560"/>
            <a:ext cx="2523744" cy="1097280"/>
          </a:xfrm>
          <a:prstGeom prst="rect">
            <a:avLst/>
          </a:prstGeom>
          <a:noFill/>
          <a:ln/>
        </p:spPr>
        <p:txBody>
          <a:bodyPr wrap="square" lIns="0" tIns="0" rIns="0" bIns="0" rtlCol="0" anchor="t"/>
          <a:lstStyle/>
          <a:p>
            <a:pPr indent="0" marL="0">
              <a:buNone/>
            </a:pPr>
            <a:r>
              <a:rPr lang="en-US" sz="1100" b="1" dirty="0">
                <a:solidFill>
                  <a:srgbClr val="991B1B"/>
                </a:solidFill>
                <a:latin typeface="Calibri" pitchFamily="34" charset="0"/>
                <a:ea typeface="Calibri" pitchFamily="34" charset="-122"/>
                <a:cs typeface="Calibri" pitchFamily="34" charset="-120"/>
              </a:rPr>
              <a:t>Example: </a:t>
            </a:r>
            <a:pPr indent="0" marL="0">
              <a:buNone/>
            </a:pPr>
            <a:r>
              <a:rPr lang="en-US" sz="1100" i="1" dirty="0">
                <a:solidFill>
                  <a:srgbClr val="1A1A1A"/>
                </a:solidFill>
                <a:latin typeface="Calibri" pitchFamily="34" charset="0"/>
                <a:ea typeface="Calibri" pitchFamily="34" charset="-122"/>
                <a:cs typeface="Calibri" pitchFamily="34" charset="-120"/>
              </a:rPr>
              <a:t>Steep slope, deep water, unstable rock, cold weather, a tree root on a path.</a:t>
            </a:r>
            <a:endParaRPr lang="en-US" sz="1100" dirty="0"/>
          </a:p>
        </p:txBody>
      </p:sp>
      <p:sp>
        <p:nvSpPr>
          <p:cNvPr id="15" name="Shape 11"/>
          <p:cNvSpPr/>
          <p:nvPr/>
        </p:nvSpPr>
        <p:spPr>
          <a:xfrm>
            <a:off x="3182112" y="1060704"/>
            <a:ext cx="2706624" cy="3200400"/>
          </a:xfrm>
          <a:prstGeom prst="rect">
            <a:avLst/>
          </a:prstGeom>
          <a:solidFill>
            <a:srgbClr val="FFFFFF"/>
          </a:solidFill>
          <a:ln w="25400">
            <a:solidFill>
              <a:srgbClr val="D97706"/>
            </a:solidFill>
            <a:prstDash val="solid"/>
          </a:ln>
          <a:effectLst>
            <a:outerShdw sx="100000" sy="100000" kx="0" ky="0" algn="bl" rotWithShape="0" blurRad="63500" dist="25400" dir="8100000">
              <a:srgbClr val="000000">
                <a:alpha val="12000"/>
              </a:srgbClr>
            </a:outerShdw>
          </a:effectLst>
        </p:spPr>
      </p:sp>
      <p:sp>
        <p:nvSpPr>
          <p:cNvPr id="16" name="Shape 12"/>
          <p:cNvSpPr/>
          <p:nvPr/>
        </p:nvSpPr>
        <p:spPr>
          <a:xfrm>
            <a:off x="3182112" y="1060704"/>
            <a:ext cx="2706624" cy="402336"/>
          </a:xfrm>
          <a:prstGeom prst="rect">
            <a:avLst/>
          </a:prstGeom>
          <a:solidFill>
            <a:srgbClr val="D97706"/>
          </a:solidFill>
          <a:ln w="12700">
            <a:solidFill>
              <a:srgbClr val="D97706"/>
            </a:solidFill>
            <a:prstDash val="solid"/>
          </a:ln>
        </p:spPr>
      </p:sp>
      <p:sp>
        <p:nvSpPr>
          <p:cNvPr id="17" name="Text 13"/>
          <p:cNvSpPr/>
          <p:nvPr/>
        </p:nvSpPr>
        <p:spPr>
          <a:xfrm>
            <a:off x="3182112" y="1060704"/>
            <a:ext cx="2706624"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RISK</a:t>
            </a:r>
            <a:endParaRPr lang="en-US" sz="1300" dirty="0"/>
          </a:p>
        </p:txBody>
      </p:sp>
      <p:sp>
        <p:nvSpPr>
          <p:cNvPr id="18" name="Text 14"/>
          <p:cNvSpPr/>
          <p:nvPr/>
        </p:nvSpPr>
        <p:spPr>
          <a:xfrm>
            <a:off x="3273552" y="1499616"/>
            <a:ext cx="2523744" cy="658368"/>
          </a:xfrm>
          <a:prstGeom prst="rect">
            <a:avLst/>
          </a:prstGeom>
          <a:noFill/>
          <a:ln/>
        </p:spPr>
        <p:txBody>
          <a:bodyPr wrap="square" lIns="0" tIns="0" rIns="0" bIns="0" rtlCol="0" anchor="t"/>
          <a:lstStyle/>
          <a:p>
            <a:pPr indent="0" marL="0">
              <a:buNone/>
            </a:pPr>
            <a:r>
              <a:rPr lang="en-US" sz="1100" b="1" dirty="0">
                <a:solidFill>
                  <a:srgbClr val="D97706"/>
                </a:solidFill>
                <a:latin typeface="Calibri" pitchFamily="34" charset="0"/>
                <a:ea typeface="Calibri" pitchFamily="34" charset="-122"/>
                <a:cs typeface="Calibri" pitchFamily="34" charset="-120"/>
              </a:rPr>
              <a:t>Definition: </a:t>
            </a:r>
            <a:pPr indent="0" marL="0">
              <a:buNone/>
            </a:pPr>
            <a:r>
              <a:rPr lang="en-US" sz="1100" dirty="0">
                <a:solidFill>
                  <a:srgbClr val="1A1A1A"/>
                </a:solidFill>
                <a:latin typeface="Calibri" pitchFamily="34" charset="0"/>
                <a:ea typeface="Calibri" pitchFamily="34" charset="-122"/>
                <a:cs typeface="Calibri" pitchFamily="34" charset="-120"/>
              </a:rPr>
              <a:t>The LIKELIHOOD that harm will occur × the SEVERITY of that harm.</a:t>
            </a:r>
            <a:endParaRPr lang="en-US" sz="1100" dirty="0"/>
          </a:p>
        </p:txBody>
      </p:sp>
      <p:sp>
        <p:nvSpPr>
          <p:cNvPr id="19" name="Text 15"/>
          <p:cNvSpPr/>
          <p:nvPr/>
        </p:nvSpPr>
        <p:spPr>
          <a:xfrm>
            <a:off x="3273552" y="2194560"/>
            <a:ext cx="2523744" cy="1097280"/>
          </a:xfrm>
          <a:prstGeom prst="rect">
            <a:avLst/>
          </a:prstGeom>
          <a:noFill/>
          <a:ln/>
        </p:spPr>
        <p:txBody>
          <a:bodyPr wrap="square" lIns="0" tIns="0" rIns="0" bIns="0" rtlCol="0" anchor="t"/>
          <a:lstStyle/>
          <a:p>
            <a:pPr indent="0" marL="0">
              <a:buNone/>
            </a:pPr>
            <a:r>
              <a:rPr lang="en-US" sz="1100" b="1" dirty="0">
                <a:solidFill>
                  <a:srgbClr val="D97706"/>
                </a:solidFill>
                <a:latin typeface="Calibri" pitchFamily="34" charset="0"/>
                <a:ea typeface="Calibri" pitchFamily="34" charset="-122"/>
                <a:cs typeface="Calibri" pitchFamily="34" charset="-120"/>
              </a:rPr>
              <a:t>Example: </a:t>
            </a:r>
            <a:pPr indent="0" marL="0">
              <a:buNone/>
            </a:pPr>
            <a:r>
              <a:rPr lang="en-US" sz="1100" i="1" dirty="0">
                <a:solidFill>
                  <a:srgbClr val="1A1A1A"/>
                </a:solidFill>
                <a:latin typeface="Calibri" pitchFamily="34" charset="0"/>
                <a:ea typeface="Calibri" pitchFamily="34" charset="-122"/>
                <a:cs typeface="Calibri" pitchFamily="34" charset="-120"/>
              </a:rPr>
              <a:t>A walker slips on wet rock on a steep slope and sustains a lower leg fracture.</a:t>
            </a:r>
            <a:endParaRPr lang="en-US" sz="1100" dirty="0"/>
          </a:p>
        </p:txBody>
      </p:sp>
      <p:sp>
        <p:nvSpPr>
          <p:cNvPr id="20" name="Shape 16"/>
          <p:cNvSpPr/>
          <p:nvPr/>
        </p:nvSpPr>
        <p:spPr>
          <a:xfrm>
            <a:off x="5998464" y="1060704"/>
            <a:ext cx="2706624" cy="3200400"/>
          </a:xfrm>
          <a:prstGeom prst="rect">
            <a:avLst/>
          </a:prstGeom>
          <a:solidFill>
            <a:srgbClr val="FFFFFF"/>
          </a:solidFill>
          <a:ln w="25400">
            <a:solidFill>
              <a:srgbClr val="1A6B3C"/>
            </a:solidFill>
            <a:prstDash val="solid"/>
          </a:ln>
          <a:effectLst>
            <a:outerShdw sx="100000" sy="100000" kx="0" ky="0" algn="bl" rotWithShape="0" blurRad="63500" dist="25400" dir="8100000">
              <a:srgbClr val="000000">
                <a:alpha val="12000"/>
              </a:srgbClr>
            </a:outerShdw>
          </a:effectLst>
        </p:spPr>
      </p:sp>
      <p:sp>
        <p:nvSpPr>
          <p:cNvPr id="21" name="Shape 17"/>
          <p:cNvSpPr/>
          <p:nvPr/>
        </p:nvSpPr>
        <p:spPr>
          <a:xfrm>
            <a:off x="5998464" y="1060704"/>
            <a:ext cx="2706624" cy="402336"/>
          </a:xfrm>
          <a:prstGeom prst="rect">
            <a:avLst/>
          </a:prstGeom>
          <a:solidFill>
            <a:srgbClr val="1A6B3C"/>
          </a:solidFill>
          <a:ln w="12700">
            <a:solidFill>
              <a:srgbClr val="1A6B3C"/>
            </a:solidFill>
            <a:prstDash val="solid"/>
          </a:ln>
        </p:spPr>
      </p:sp>
      <p:sp>
        <p:nvSpPr>
          <p:cNvPr id="22" name="Text 18"/>
          <p:cNvSpPr/>
          <p:nvPr/>
        </p:nvSpPr>
        <p:spPr>
          <a:xfrm>
            <a:off x="5998464" y="1060704"/>
            <a:ext cx="2706624"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CONTROL MEASURE</a:t>
            </a:r>
            <a:endParaRPr lang="en-US" sz="1300" dirty="0"/>
          </a:p>
        </p:txBody>
      </p:sp>
      <p:sp>
        <p:nvSpPr>
          <p:cNvPr id="23" name="Text 19"/>
          <p:cNvSpPr/>
          <p:nvPr/>
        </p:nvSpPr>
        <p:spPr>
          <a:xfrm>
            <a:off x="6089904" y="1499616"/>
            <a:ext cx="2523744" cy="658368"/>
          </a:xfrm>
          <a:prstGeom prst="rect">
            <a:avLst/>
          </a:prstGeom>
          <a:noFill/>
          <a:ln/>
        </p:spPr>
        <p:txBody>
          <a:bodyPr wrap="square" lIns="0" tIns="0" rIns="0" bIns="0" rtlCol="0" anchor="t"/>
          <a:lstStyle/>
          <a:p>
            <a:pPr indent="0" marL="0">
              <a:buNone/>
            </a:pPr>
            <a:r>
              <a:rPr lang="en-US" sz="1100" b="1" dirty="0">
                <a:solidFill>
                  <a:srgbClr val="1A6B3C"/>
                </a:solidFill>
                <a:latin typeface="Calibri" pitchFamily="34" charset="0"/>
                <a:ea typeface="Calibri" pitchFamily="34" charset="-122"/>
                <a:cs typeface="Calibri" pitchFamily="34" charset="-120"/>
              </a:rPr>
              <a:t>Definition: </a:t>
            </a:r>
            <a:pPr indent="0" marL="0">
              <a:buNone/>
            </a:pPr>
            <a:r>
              <a:rPr lang="en-US" sz="1100" dirty="0">
                <a:solidFill>
                  <a:srgbClr val="1A1A1A"/>
                </a:solidFill>
                <a:latin typeface="Calibri" pitchFamily="34" charset="0"/>
                <a:ea typeface="Calibri" pitchFamily="34" charset="-122"/>
                <a:cs typeface="Calibri" pitchFamily="34" charset="-120"/>
              </a:rPr>
              <a:t>An action that reduces the LIKELIHOOD or SEVERITY of the risk.</a:t>
            </a:r>
            <a:endParaRPr lang="en-US" sz="1100" dirty="0"/>
          </a:p>
        </p:txBody>
      </p:sp>
      <p:sp>
        <p:nvSpPr>
          <p:cNvPr id="24" name="Text 20"/>
          <p:cNvSpPr/>
          <p:nvPr/>
        </p:nvSpPr>
        <p:spPr>
          <a:xfrm>
            <a:off x="6089904" y="2194560"/>
            <a:ext cx="2523744" cy="1097280"/>
          </a:xfrm>
          <a:prstGeom prst="rect">
            <a:avLst/>
          </a:prstGeom>
          <a:noFill/>
          <a:ln/>
        </p:spPr>
        <p:txBody>
          <a:bodyPr wrap="square" lIns="0" tIns="0" rIns="0" bIns="0" rtlCol="0" anchor="t"/>
          <a:lstStyle/>
          <a:p>
            <a:pPr indent="0" marL="0">
              <a:buNone/>
            </a:pPr>
            <a:r>
              <a:rPr lang="en-US" sz="1100" b="1" dirty="0">
                <a:solidFill>
                  <a:srgbClr val="1A6B3C"/>
                </a:solidFill>
                <a:latin typeface="Calibri" pitchFamily="34" charset="0"/>
                <a:ea typeface="Calibri" pitchFamily="34" charset="-122"/>
                <a:cs typeface="Calibri" pitchFamily="34" charset="-120"/>
              </a:rPr>
              <a:t>Example: </a:t>
            </a:r>
            <a:pPr indent="0" marL="0">
              <a:buNone/>
            </a:pPr>
            <a:r>
              <a:rPr lang="en-US" sz="1100" i="1" dirty="0">
                <a:solidFill>
                  <a:srgbClr val="1A1A1A"/>
                </a:solidFill>
                <a:latin typeface="Calibri" pitchFamily="34" charset="0"/>
                <a:ea typeface="Calibri" pitchFamily="34" charset="-122"/>
                <a:cs typeface="Calibri" pitchFamily="34" charset="-120"/>
              </a:rPr>
              <a:t>Brief participants on safe descent technique; carry first aid kit; choose route in dry conditions.</a:t>
            </a:r>
            <a:endParaRPr lang="en-US" sz="1100" dirty="0"/>
          </a:p>
        </p:txBody>
      </p:sp>
      <p:sp>
        <p:nvSpPr>
          <p:cNvPr id="25" name="Shape 21"/>
          <p:cNvSpPr/>
          <p:nvPr/>
        </p:nvSpPr>
        <p:spPr>
          <a:xfrm>
            <a:off x="365760" y="4334256"/>
            <a:ext cx="8412480" cy="530352"/>
          </a:xfrm>
          <a:prstGeom prst="rect">
            <a:avLst/>
          </a:prstGeom>
          <a:solidFill>
            <a:srgbClr val="E8F5EE"/>
          </a:solidFill>
          <a:ln w="12700">
            <a:solidFill>
              <a:srgbClr val="1A6B3C"/>
            </a:solidFill>
            <a:prstDash val="solid"/>
          </a:ln>
        </p:spPr>
      </p:sp>
      <p:sp>
        <p:nvSpPr>
          <p:cNvPr id="26" name="Text 22"/>
          <p:cNvSpPr/>
          <p:nvPr/>
        </p:nvSpPr>
        <p:spPr>
          <a:xfrm>
            <a:off x="475488" y="4352544"/>
            <a:ext cx="8229600" cy="475488"/>
          </a:xfrm>
          <a:prstGeom prst="rect">
            <a:avLst/>
          </a:prstGeom>
          <a:noFill/>
          <a:ln/>
        </p:spPr>
        <p:txBody>
          <a:bodyPr wrap="square" lIns="0" tIns="0" rIns="0" bIns="0" rtlCol="0" anchor="ctr"/>
          <a:lstStyle/>
          <a:p>
            <a:pPr indent="0" marL="0">
              <a:buNone/>
            </a:pPr>
            <a:r>
              <a:rPr lang="en-US" sz="1100" b="1" dirty="0">
                <a:solidFill>
                  <a:srgbClr val="0F4525"/>
                </a:solidFill>
                <a:latin typeface="Calibri" pitchFamily="34" charset="0"/>
                <a:ea typeface="Calibri" pitchFamily="34" charset="-122"/>
                <a:cs typeface="Calibri" pitchFamily="34" charset="-120"/>
              </a:rPr>
              <a:t>Risk Rating = Likelihood × Severity    </a:t>
            </a:r>
            <a:pPr indent="0" marL="0">
              <a:buNone/>
            </a:pPr>
            <a:r>
              <a:rPr lang="en-US" sz="1050" dirty="0">
                <a:solidFill>
                  <a:srgbClr val="0F4525"/>
                </a:solidFill>
                <a:latin typeface="Calibri" pitchFamily="34" charset="0"/>
                <a:ea typeface="Calibri" pitchFamily="34" charset="-122"/>
                <a:cs typeface="Calibri" pitchFamily="34" charset="-120"/>
              </a:rPr>
              <a:t>  1–4: </a:t>
            </a:r>
            <a:pPr indent="0" marL="0">
              <a:buNone/>
            </a:pPr>
            <a:r>
              <a:rPr lang="en-US" sz="1100" b="1" dirty="0">
                <a:solidFill>
                  <a:srgbClr val="16A34A"/>
                </a:solidFill>
                <a:latin typeface="Calibri" pitchFamily="34" charset="0"/>
                <a:ea typeface="Calibri" pitchFamily="34" charset="-122"/>
                <a:cs typeface="Calibri" pitchFamily="34" charset="-120"/>
              </a:rPr>
              <a:t>LOW  </a:t>
            </a:r>
            <a:pPr indent="0" marL="0">
              <a:buNone/>
            </a:pPr>
            <a:r>
              <a:rPr lang="en-US" sz="1050" dirty="0">
                <a:solidFill>
                  <a:srgbClr val="0F4525"/>
                </a:solidFill>
                <a:latin typeface="Calibri" pitchFamily="34" charset="0"/>
                <a:ea typeface="Calibri" pitchFamily="34" charset="-122"/>
                <a:cs typeface="Calibri" pitchFamily="34" charset="-120"/>
              </a:rPr>
              <a:t>  5–9: </a:t>
            </a:r>
            <a:pPr indent="0" marL="0">
              <a:buNone/>
            </a:pPr>
            <a:r>
              <a:rPr lang="en-US" sz="1100" b="1" dirty="0">
                <a:solidFill>
                  <a:srgbClr val="D97706"/>
                </a:solidFill>
                <a:latin typeface="Calibri" pitchFamily="34" charset="0"/>
                <a:ea typeface="Calibri" pitchFamily="34" charset="-122"/>
                <a:cs typeface="Calibri" pitchFamily="34" charset="-120"/>
              </a:rPr>
              <a:t>MEDIUM  </a:t>
            </a:r>
            <a:pPr indent="0" marL="0">
              <a:buNone/>
            </a:pPr>
            <a:r>
              <a:rPr lang="en-US" sz="1050" dirty="0">
                <a:solidFill>
                  <a:srgbClr val="0F4525"/>
                </a:solidFill>
                <a:latin typeface="Calibri" pitchFamily="34" charset="0"/>
                <a:ea typeface="Calibri" pitchFamily="34" charset="-122"/>
                <a:cs typeface="Calibri" pitchFamily="34" charset="-120"/>
              </a:rPr>
              <a:t>  10–15: </a:t>
            </a:r>
            <a:pPr indent="0" marL="0">
              <a:buNone/>
            </a:pPr>
            <a:r>
              <a:rPr lang="en-US" sz="1100" b="1" dirty="0">
                <a:solidFill>
                  <a:srgbClr val="991B1B"/>
                </a:solidFill>
                <a:latin typeface="Calibri" pitchFamily="34" charset="0"/>
                <a:ea typeface="Calibri" pitchFamily="34" charset="-122"/>
                <a:cs typeface="Calibri" pitchFamily="34" charset="-120"/>
              </a:rPr>
              <a:t>HIGH  </a:t>
            </a:r>
            <a:pPr indent="0" marL="0">
              <a:buNone/>
            </a:pPr>
            <a:r>
              <a:rPr lang="en-US" sz="1050" dirty="0">
                <a:solidFill>
                  <a:srgbClr val="0F4525"/>
                </a:solidFill>
                <a:latin typeface="Calibri" pitchFamily="34" charset="0"/>
                <a:ea typeface="Calibri" pitchFamily="34" charset="-122"/>
                <a:cs typeface="Calibri" pitchFamily="34" charset="-120"/>
              </a:rPr>
              <a:t>  16–25: </a:t>
            </a:r>
            <a:pPr indent="0" marL="0">
              <a:buNone/>
            </a:pPr>
            <a:r>
              <a:rPr lang="en-US" sz="1100" b="1" dirty="0">
                <a:solidFill>
                  <a:srgbClr val="7C3AED"/>
                </a:solidFill>
                <a:latin typeface="Calibri" pitchFamily="34" charset="0"/>
                <a:ea typeface="Calibri" pitchFamily="34" charset="-122"/>
                <a:cs typeface="Calibri" pitchFamily="34" charset="-120"/>
              </a:rPr>
              <a:t>VERY HIGH</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69480" y="64008"/>
            <a:ext cx="694944" cy="484632"/>
          </a:xfrm>
          <a:prstGeom prst="rect">
            <a:avLst/>
          </a:prstGeom>
        </p:spPr>
      </p:pic>
      <p:pic>
        <p:nvPicPr>
          <p:cNvPr id="3" name="Image 1" descr="preencoded.png">    </p:cNvPr>
          <p:cNvPicPr>
            <a:picLocks noChangeAspect="1"/>
          </p:cNvPicPr>
          <p:nvPr/>
        </p:nvPicPr>
        <p:blipFill>
          <a:blip r:embed="rId2"/>
          <a:stretch>
            <a:fillRect/>
          </a:stretch>
        </p:blipFill>
        <p:spPr>
          <a:xfrm>
            <a:off x="8019288" y="91440"/>
            <a:ext cx="969264" cy="402336"/>
          </a:xfrm>
          <a:prstGeom prst="rect">
            <a:avLst/>
          </a:prstGeom>
        </p:spPr>
      </p:pic>
      <p:sp>
        <p:nvSpPr>
          <p:cNvPr id="4" name="Shape 0"/>
          <p:cNvSpPr/>
          <p:nvPr/>
        </p:nvSpPr>
        <p:spPr>
          <a:xfrm>
            <a:off x="0" y="4983480"/>
            <a:ext cx="9144000" cy="160020"/>
          </a:xfrm>
          <a:prstGeom prst="rect">
            <a:avLst/>
          </a:prstGeom>
          <a:solidFill>
            <a:srgbClr val="1A6B3C"/>
          </a:solidFill>
          <a:ln w="12700">
            <a:solidFill>
              <a:srgbClr val="1A6B3C"/>
            </a:solidFill>
            <a:prstDash val="solid"/>
          </a:ln>
        </p:spPr>
      </p:sp>
      <p:sp>
        <p:nvSpPr>
          <p:cNvPr id="5" name="Text 1"/>
          <p:cNvSpPr/>
          <p:nvPr/>
        </p:nvSpPr>
        <p:spPr>
          <a:xfrm>
            <a:off x="109728" y="4983480"/>
            <a:ext cx="2286000" cy="160020"/>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HB93CY003</a:t>
            </a:r>
            <a:endParaRPr lang="en-US" sz="800" dirty="0"/>
          </a:p>
        </p:txBody>
      </p:sp>
      <p:sp>
        <p:nvSpPr>
          <p:cNvPr id="6" name="Text 2"/>
          <p:cNvSpPr/>
          <p:nvPr/>
        </p:nvSpPr>
        <p:spPr>
          <a:xfrm>
            <a:off x="3200400" y="4983480"/>
            <a:ext cx="5833872" cy="160020"/>
          </a:xfrm>
          <a:prstGeom prst="rect">
            <a:avLst/>
          </a:prstGeom>
          <a:noFill/>
          <a:ln/>
        </p:spPr>
        <p:txBody>
          <a:bodyPr wrap="square" lIns="0" tIns="0" rIns="0" bIns="0" rtlCol="0" anchor="ctr"/>
          <a:lstStyle/>
          <a:p>
            <a:pPr algn="r" indent="0" marL="0">
              <a:buNone/>
            </a:pPr>
            <a:r>
              <a:rPr lang="en-US" sz="800" dirty="0">
                <a:solidFill>
                  <a:srgbClr val="FFFFFF"/>
                </a:solidFill>
                <a:latin typeface="Calibri" pitchFamily="34" charset="0"/>
                <a:ea typeface="Calibri" pitchFamily="34" charset="-122"/>
                <a:cs typeface="Calibri" pitchFamily="34" charset="-120"/>
              </a:rPr>
              <a:t>Risk Management when Learning in the Outdoors  |  Level 3</a:t>
            </a:r>
            <a:endParaRPr lang="en-US" sz="800" dirty="0"/>
          </a:p>
        </p:txBody>
      </p:sp>
      <p:sp>
        <p:nvSpPr>
          <p:cNvPr id="7" name="Text 3"/>
          <p:cNvSpPr/>
          <p:nvPr/>
        </p:nvSpPr>
        <p:spPr>
          <a:xfrm>
            <a:off x="365760" y="109728"/>
            <a:ext cx="6812280" cy="530352"/>
          </a:xfrm>
          <a:prstGeom prst="rect">
            <a:avLst/>
          </a:prstGeom>
          <a:noFill/>
          <a:ln/>
        </p:spPr>
        <p:txBody>
          <a:bodyPr wrap="square" lIns="0" tIns="0" rIns="0" bIns="0" rtlCol="0" anchor="ctr"/>
          <a:lstStyle/>
          <a:p>
            <a:pPr indent="0" marL="0">
              <a:buNone/>
            </a:pPr>
            <a:r>
              <a:rPr lang="en-US" sz="2200" b="1" dirty="0">
                <a:solidFill>
                  <a:srgbClr val="0F4525"/>
                </a:solidFill>
                <a:latin typeface="Calibri" pitchFamily="34" charset="0"/>
                <a:ea typeface="Calibri" pitchFamily="34" charset="-122"/>
                <a:cs typeface="Calibri" pitchFamily="34" charset="-120"/>
              </a:rPr>
              <a:t>The Risk Assessment Matrix — 5×5</a:t>
            </a:r>
            <a:endParaRPr lang="en-US" sz="2200" dirty="0"/>
          </a:p>
        </p:txBody>
      </p:sp>
      <p:sp>
        <p:nvSpPr>
          <p:cNvPr id="8" name="Shape 4"/>
          <p:cNvSpPr/>
          <p:nvPr/>
        </p:nvSpPr>
        <p:spPr>
          <a:xfrm>
            <a:off x="365760" y="877824"/>
            <a:ext cx="1143000" cy="201168"/>
          </a:xfrm>
          <a:prstGeom prst="rect">
            <a:avLst/>
          </a:prstGeom>
          <a:solidFill>
            <a:srgbClr val="C8A951"/>
          </a:solidFill>
          <a:ln w="12700">
            <a:solidFill>
              <a:srgbClr val="C8A951"/>
            </a:solidFill>
            <a:prstDash val="solid"/>
          </a:ln>
        </p:spPr>
      </p:sp>
      <p:sp>
        <p:nvSpPr>
          <p:cNvPr id="9" name="Text 5"/>
          <p:cNvSpPr/>
          <p:nvPr/>
        </p:nvSpPr>
        <p:spPr>
          <a:xfrm>
            <a:off x="365760" y="877824"/>
            <a:ext cx="1143000" cy="201168"/>
          </a:xfrm>
          <a:prstGeom prst="rect">
            <a:avLst/>
          </a:prstGeom>
          <a:noFill/>
          <a:ln/>
        </p:spPr>
        <p:txBody>
          <a:bodyPr wrap="square" lIns="0" tIns="0" rIns="0" bIns="0" rtlCol="0" anchor="ctr"/>
          <a:lstStyle/>
          <a:p>
            <a:pPr algn="ctr" indent="0" marL="0">
              <a:buNone/>
            </a:pPr>
            <a:r>
              <a:rPr lang="en-US" sz="900" b="1" dirty="0">
                <a:solidFill>
                  <a:srgbClr val="3D2A00"/>
                </a:solidFill>
                <a:latin typeface="Calibri" pitchFamily="34" charset="0"/>
                <a:ea typeface="Calibri" pitchFamily="34" charset="-122"/>
                <a:cs typeface="Calibri" pitchFamily="34" charset="-120"/>
              </a:rPr>
              <a:t>AC 2.1</a:t>
            </a:r>
            <a:endParaRPr lang="en-US" sz="900" dirty="0"/>
          </a:p>
        </p:txBody>
      </p:sp>
      <p:sp>
        <p:nvSpPr>
          <p:cNvPr id="10" name="Shape 6"/>
          <p:cNvSpPr/>
          <p:nvPr/>
        </p:nvSpPr>
        <p:spPr>
          <a:xfrm>
            <a:off x="1828800" y="1133856"/>
            <a:ext cx="676656" cy="585216"/>
          </a:xfrm>
          <a:prstGeom prst="rect">
            <a:avLst/>
          </a:prstGeom>
          <a:solidFill>
            <a:srgbClr val="16A34A"/>
          </a:solidFill>
          <a:ln w="19050">
            <a:solidFill>
              <a:srgbClr val="FFFFFF"/>
            </a:solidFill>
            <a:prstDash val="solid"/>
          </a:ln>
        </p:spPr>
      </p:sp>
      <p:sp>
        <p:nvSpPr>
          <p:cNvPr id="11" name="Text 7"/>
          <p:cNvSpPr/>
          <p:nvPr/>
        </p:nvSpPr>
        <p:spPr>
          <a:xfrm>
            <a:off x="1828800" y="1133856"/>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Shape 8"/>
          <p:cNvSpPr/>
          <p:nvPr/>
        </p:nvSpPr>
        <p:spPr>
          <a:xfrm>
            <a:off x="2505456" y="1133856"/>
            <a:ext cx="676656" cy="585216"/>
          </a:xfrm>
          <a:prstGeom prst="rect">
            <a:avLst/>
          </a:prstGeom>
          <a:solidFill>
            <a:srgbClr val="16A34A"/>
          </a:solidFill>
          <a:ln w="19050">
            <a:solidFill>
              <a:srgbClr val="FFFFFF"/>
            </a:solidFill>
            <a:prstDash val="solid"/>
          </a:ln>
        </p:spPr>
      </p:sp>
      <p:sp>
        <p:nvSpPr>
          <p:cNvPr id="13" name="Text 9"/>
          <p:cNvSpPr/>
          <p:nvPr/>
        </p:nvSpPr>
        <p:spPr>
          <a:xfrm>
            <a:off x="2505456" y="1133856"/>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Shape 10"/>
          <p:cNvSpPr/>
          <p:nvPr/>
        </p:nvSpPr>
        <p:spPr>
          <a:xfrm>
            <a:off x="3182112" y="1133856"/>
            <a:ext cx="676656" cy="585216"/>
          </a:xfrm>
          <a:prstGeom prst="rect">
            <a:avLst/>
          </a:prstGeom>
          <a:solidFill>
            <a:srgbClr val="D97706"/>
          </a:solidFill>
          <a:ln w="19050">
            <a:solidFill>
              <a:srgbClr val="FFFFFF"/>
            </a:solidFill>
            <a:prstDash val="solid"/>
          </a:ln>
        </p:spPr>
      </p:sp>
      <p:sp>
        <p:nvSpPr>
          <p:cNvPr id="15" name="Text 11"/>
          <p:cNvSpPr/>
          <p:nvPr/>
        </p:nvSpPr>
        <p:spPr>
          <a:xfrm>
            <a:off x="3182112" y="1133856"/>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Shape 12"/>
          <p:cNvSpPr/>
          <p:nvPr/>
        </p:nvSpPr>
        <p:spPr>
          <a:xfrm>
            <a:off x="3858768" y="1133856"/>
            <a:ext cx="676656" cy="585216"/>
          </a:xfrm>
          <a:prstGeom prst="rect">
            <a:avLst/>
          </a:prstGeom>
          <a:solidFill>
            <a:srgbClr val="D97706"/>
          </a:solidFill>
          <a:ln w="19050">
            <a:solidFill>
              <a:srgbClr val="FFFFFF"/>
            </a:solidFill>
            <a:prstDash val="solid"/>
          </a:ln>
        </p:spPr>
      </p:sp>
      <p:sp>
        <p:nvSpPr>
          <p:cNvPr id="17" name="Text 13"/>
          <p:cNvSpPr/>
          <p:nvPr/>
        </p:nvSpPr>
        <p:spPr>
          <a:xfrm>
            <a:off x="3858768" y="1133856"/>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Shape 14"/>
          <p:cNvSpPr/>
          <p:nvPr/>
        </p:nvSpPr>
        <p:spPr>
          <a:xfrm>
            <a:off x="4535424" y="1133856"/>
            <a:ext cx="676656" cy="585216"/>
          </a:xfrm>
          <a:prstGeom prst="rect">
            <a:avLst/>
          </a:prstGeom>
          <a:solidFill>
            <a:srgbClr val="D97706"/>
          </a:solidFill>
          <a:ln w="19050">
            <a:solidFill>
              <a:srgbClr val="FFFFFF"/>
            </a:solidFill>
            <a:prstDash val="solid"/>
          </a:ln>
        </p:spPr>
      </p:sp>
      <p:sp>
        <p:nvSpPr>
          <p:cNvPr id="19" name="Text 15"/>
          <p:cNvSpPr/>
          <p:nvPr/>
        </p:nvSpPr>
        <p:spPr>
          <a:xfrm>
            <a:off x="4535424" y="1133856"/>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Shape 16"/>
          <p:cNvSpPr/>
          <p:nvPr/>
        </p:nvSpPr>
        <p:spPr>
          <a:xfrm>
            <a:off x="1828800" y="1719072"/>
            <a:ext cx="676656" cy="585216"/>
          </a:xfrm>
          <a:prstGeom prst="rect">
            <a:avLst/>
          </a:prstGeom>
          <a:solidFill>
            <a:srgbClr val="16A34A"/>
          </a:solidFill>
          <a:ln w="19050">
            <a:solidFill>
              <a:srgbClr val="FFFFFF"/>
            </a:solidFill>
            <a:prstDash val="solid"/>
          </a:ln>
        </p:spPr>
      </p:sp>
      <p:sp>
        <p:nvSpPr>
          <p:cNvPr id="21" name="Text 17"/>
          <p:cNvSpPr/>
          <p:nvPr/>
        </p:nvSpPr>
        <p:spPr>
          <a:xfrm>
            <a:off x="1828800" y="1719072"/>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2" name="Shape 18"/>
          <p:cNvSpPr/>
          <p:nvPr/>
        </p:nvSpPr>
        <p:spPr>
          <a:xfrm>
            <a:off x="2505456" y="1719072"/>
            <a:ext cx="676656" cy="585216"/>
          </a:xfrm>
          <a:prstGeom prst="rect">
            <a:avLst/>
          </a:prstGeom>
          <a:solidFill>
            <a:srgbClr val="D97706"/>
          </a:solidFill>
          <a:ln w="19050">
            <a:solidFill>
              <a:srgbClr val="FFFFFF"/>
            </a:solidFill>
            <a:prstDash val="solid"/>
          </a:ln>
        </p:spPr>
      </p:sp>
      <p:sp>
        <p:nvSpPr>
          <p:cNvPr id="23" name="Text 19"/>
          <p:cNvSpPr/>
          <p:nvPr/>
        </p:nvSpPr>
        <p:spPr>
          <a:xfrm>
            <a:off x="2505456" y="1719072"/>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Shape 20"/>
          <p:cNvSpPr/>
          <p:nvPr/>
        </p:nvSpPr>
        <p:spPr>
          <a:xfrm>
            <a:off x="3182112" y="1719072"/>
            <a:ext cx="676656" cy="585216"/>
          </a:xfrm>
          <a:prstGeom prst="rect">
            <a:avLst/>
          </a:prstGeom>
          <a:solidFill>
            <a:srgbClr val="D97706"/>
          </a:solidFill>
          <a:ln w="19050">
            <a:solidFill>
              <a:srgbClr val="FFFFFF"/>
            </a:solidFill>
            <a:prstDash val="solid"/>
          </a:ln>
        </p:spPr>
      </p:sp>
      <p:sp>
        <p:nvSpPr>
          <p:cNvPr id="25" name="Text 21"/>
          <p:cNvSpPr/>
          <p:nvPr/>
        </p:nvSpPr>
        <p:spPr>
          <a:xfrm>
            <a:off x="3182112" y="1719072"/>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Shape 22"/>
          <p:cNvSpPr/>
          <p:nvPr/>
        </p:nvSpPr>
        <p:spPr>
          <a:xfrm>
            <a:off x="3858768" y="1719072"/>
            <a:ext cx="676656" cy="585216"/>
          </a:xfrm>
          <a:prstGeom prst="rect">
            <a:avLst/>
          </a:prstGeom>
          <a:solidFill>
            <a:srgbClr val="D97706"/>
          </a:solidFill>
          <a:ln w="19050">
            <a:solidFill>
              <a:srgbClr val="FFFFFF"/>
            </a:solidFill>
            <a:prstDash val="solid"/>
          </a:ln>
        </p:spPr>
      </p:sp>
      <p:sp>
        <p:nvSpPr>
          <p:cNvPr id="27" name="Text 23"/>
          <p:cNvSpPr/>
          <p:nvPr/>
        </p:nvSpPr>
        <p:spPr>
          <a:xfrm>
            <a:off x="3858768" y="1719072"/>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8" name="Shape 24"/>
          <p:cNvSpPr/>
          <p:nvPr/>
        </p:nvSpPr>
        <p:spPr>
          <a:xfrm>
            <a:off x="4535424" y="1719072"/>
            <a:ext cx="676656" cy="585216"/>
          </a:xfrm>
          <a:prstGeom prst="rect">
            <a:avLst/>
          </a:prstGeom>
          <a:solidFill>
            <a:srgbClr val="991B1B"/>
          </a:solidFill>
          <a:ln w="19050">
            <a:solidFill>
              <a:srgbClr val="FFFFFF"/>
            </a:solidFill>
            <a:prstDash val="solid"/>
          </a:ln>
        </p:spPr>
      </p:sp>
      <p:sp>
        <p:nvSpPr>
          <p:cNvPr id="29" name="Text 25"/>
          <p:cNvSpPr/>
          <p:nvPr/>
        </p:nvSpPr>
        <p:spPr>
          <a:xfrm>
            <a:off x="4535424" y="1719072"/>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30" name="Shape 26"/>
          <p:cNvSpPr/>
          <p:nvPr/>
        </p:nvSpPr>
        <p:spPr>
          <a:xfrm>
            <a:off x="1828800" y="2304288"/>
            <a:ext cx="676656" cy="585216"/>
          </a:xfrm>
          <a:prstGeom prst="rect">
            <a:avLst/>
          </a:prstGeom>
          <a:solidFill>
            <a:srgbClr val="D97706"/>
          </a:solidFill>
          <a:ln w="19050">
            <a:solidFill>
              <a:srgbClr val="FFFFFF"/>
            </a:solidFill>
            <a:prstDash val="solid"/>
          </a:ln>
        </p:spPr>
      </p:sp>
      <p:sp>
        <p:nvSpPr>
          <p:cNvPr id="31" name="Text 27"/>
          <p:cNvSpPr/>
          <p:nvPr/>
        </p:nvSpPr>
        <p:spPr>
          <a:xfrm>
            <a:off x="1828800" y="2304288"/>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Shape 28"/>
          <p:cNvSpPr/>
          <p:nvPr/>
        </p:nvSpPr>
        <p:spPr>
          <a:xfrm>
            <a:off x="2505456" y="2304288"/>
            <a:ext cx="676656" cy="585216"/>
          </a:xfrm>
          <a:prstGeom prst="rect">
            <a:avLst/>
          </a:prstGeom>
          <a:solidFill>
            <a:srgbClr val="D97706"/>
          </a:solidFill>
          <a:ln w="19050">
            <a:solidFill>
              <a:srgbClr val="FFFFFF"/>
            </a:solidFill>
            <a:prstDash val="solid"/>
          </a:ln>
        </p:spPr>
      </p:sp>
      <p:sp>
        <p:nvSpPr>
          <p:cNvPr id="33" name="Text 29"/>
          <p:cNvSpPr/>
          <p:nvPr/>
        </p:nvSpPr>
        <p:spPr>
          <a:xfrm>
            <a:off x="2505456" y="2304288"/>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Shape 30"/>
          <p:cNvSpPr/>
          <p:nvPr/>
        </p:nvSpPr>
        <p:spPr>
          <a:xfrm>
            <a:off x="3182112" y="2304288"/>
            <a:ext cx="676656" cy="585216"/>
          </a:xfrm>
          <a:prstGeom prst="rect">
            <a:avLst/>
          </a:prstGeom>
          <a:solidFill>
            <a:srgbClr val="D97706"/>
          </a:solidFill>
          <a:ln w="19050">
            <a:solidFill>
              <a:srgbClr val="FFFFFF"/>
            </a:solidFill>
            <a:prstDash val="solid"/>
          </a:ln>
        </p:spPr>
      </p:sp>
      <p:sp>
        <p:nvSpPr>
          <p:cNvPr id="35" name="Text 31"/>
          <p:cNvSpPr/>
          <p:nvPr/>
        </p:nvSpPr>
        <p:spPr>
          <a:xfrm>
            <a:off x="3182112" y="2304288"/>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36" name="Shape 32"/>
          <p:cNvSpPr/>
          <p:nvPr/>
        </p:nvSpPr>
        <p:spPr>
          <a:xfrm>
            <a:off x="3858768" y="2304288"/>
            <a:ext cx="676656" cy="585216"/>
          </a:xfrm>
          <a:prstGeom prst="rect">
            <a:avLst/>
          </a:prstGeom>
          <a:solidFill>
            <a:srgbClr val="991B1B"/>
          </a:solidFill>
          <a:ln w="19050">
            <a:solidFill>
              <a:srgbClr val="FFFFFF"/>
            </a:solidFill>
            <a:prstDash val="solid"/>
          </a:ln>
        </p:spPr>
      </p:sp>
      <p:sp>
        <p:nvSpPr>
          <p:cNvPr id="37" name="Text 33"/>
          <p:cNvSpPr/>
          <p:nvPr/>
        </p:nvSpPr>
        <p:spPr>
          <a:xfrm>
            <a:off x="3858768" y="2304288"/>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38" name="Shape 34"/>
          <p:cNvSpPr/>
          <p:nvPr/>
        </p:nvSpPr>
        <p:spPr>
          <a:xfrm>
            <a:off x="4535424" y="2304288"/>
            <a:ext cx="676656" cy="585216"/>
          </a:xfrm>
          <a:prstGeom prst="rect">
            <a:avLst/>
          </a:prstGeom>
          <a:solidFill>
            <a:srgbClr val="991B1B"/>
          </a:solidFill>
          <a:ln w="19050">
            <a:solidFill>
              <a:srgbClr val="FFFFFF"/>
            </a:solidFill>
            <a:prstDash val="solid"/>
          </a:ln>
        </p:spPr>
      </p:sp>
      <p:sp>
        <p:nvSpPr>
          <p:cNvPr id="39" name="Text 35"/>
          <p:cNvSpPr/>
          <p:nvPr/>
        </p:nvSpPr>
        <p:spPr>
          <a:xfrm>
            <a:off x="4535424" y="2304288"/>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40" name="Shape 36"/>
          <p:cNvSpPr/>
          <p:nvPr/>
        </p:nvSpPr>
        <p:spPr>
          <a:xfrm>
            <a:off x="1828800" y="2889504"/>
            <a:ext cx="676656" cy="585216"/>
          </a:xfrm>
          <a:prstGeom prst="rect">
            <a:avLst/>
          </a:prstGeom>
          <a:solidFill>
            <a:srgbClr val="D97706"/>
          </a:solidFill>
          <a:ln w="19050">
            <a:solidFill>
              <a:srgbClr val="FFFFFF"/>
            </a:solidFill>
            <a:prstDash val="solid"/>
          </a:ln>
        </p:spPr>
      </p:sp>
      <p:sp>
        <p:nvSpPr>
          <p:cNvPr id="41" name="Text 37"/>
          <p:cNvSpPr/>
          <p:nvPr/>
        </p:nvSpPr>
        <p:spPr>
          <a:xfrm>
            <a:off x="1828800" y="2889504"/>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2" name="Shape 38"/>
          <p:cNvSpPr/>
          <p:nvPr/>
        </p:nvSpPr>
        <p:spPr>
          <a:xfrm>
            <a:off x="2505456" y="2889504"/>
            <a:ext cx="676656" cy="585216"/>
          </a:xfrm>
          <a:prstGeom prst="rect">
            <a:avLst/>
          </a:prstGeom>
          <a:solidFill>
            <a:srgbClr val="D97706"/>
          </a:solidFill>
          <a:ln w="19050">
            <a:solidFill>
              <a:srgbClr val="FFFFFF"/>
            </a:solidFill>
            <a:prstDash val="solid"/>
          </a:ln>
        </p:spPr>
      </p:sp>
      <p:sp>
        <p:nvSpPr>
          <p:cNvPr id="43" name="Text 39"/>
          <p:cNvSpPr/>
          <p:nvPr/>
        </p:nvSpPr>
        <p:spPr>
          <a:xfrm>
            <a:off x="2505456" y="2889504"/>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4" name="Shape 40"/>
          <p:cNvSpPr/>
          <p:nvPr/>
        </p:nvSpPr>
        <p:spPr>
          <a:xfrm>
            <a:off x="3182112" y="2889504"/>
            <a:ext cx="676656" cy="585216"/>
          </a:xfrm>
          <a:prstGeom prst="rect">
            <a:avLst/>
          </a:prstGeom>
          <a:solidFill>
            <a:srgbClr val="991B1B"/>
          </a:solidFill>
          <a:ln w="19050">
            <a:solidFill>
              <a:srgbClr val="FFFFFF"/>
            </a:solidFill>
            <a:prstDash val="solid"/>
          </a:ln>
        </p:spPr>
      </p:sp>
      <p:sp>
        <p:nvSpPr>
          <p:cNvPr id="45" name="Text 41"/>
          <p:cNvSpPr/>
          <p:nvPr/>
        </p:nvSpPr>
        <p:spPr>
          <a:xfrm>
            <a:off x="3182112" y="2889504"/>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46" name="Shape 42"/>
          <p:cNvSpPr/>
          <p:nvPr/>
        </p:nvSpPr>
        <p:spPr>
          <a:xfrm>
            <a:off x="3858768" y="2889504"/>
            <a:ext cx="676656" cy="585216"/>
          </a:xfrm>
          <a:prstGeom prst="rect">
            <a:avLst/>
          </a:prstGeom>
          <a:solidFill>
            <a:srgbClr val="991B1B"/>
          </a:solidFill>
          <a:ln w="19050">
            <a:solidFill>
              <a:srgbClr val="FFFFFF"/>
            </a:solidFill>
            <a:prstDash val="solid"/>
          </a:ln>
        </p:spPr>
      </p:sp>
      <p:sp>
        <p:nvSpPr>
          <p:cNvPr id="47" name="Text 43"/>
          <p:cNvSpPr/>
          <p:nvPr/>
        </p:nvSpPr>
        <p:spPr>
          <a:xfrm>
            <a:off x="3858768" y="2889504"/>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48" name="Shape 44"/>
          <p:cNvSpPr/>
          <p:nvPr/>
        </p:nvSpPr>
        <p:spPr>
          <a:xfrm>
            <a:off x="4535424" y="2889504"/>
            <a:ext cx="676656" cy="585216"/>
          </a:xfrm>
          <a:prstGeom prst="rect">
            <a:avLst/>
          </a:prstGeom>
          <a:solidFill>
            <a:srgbClr val="7C3AED"/>
          </a:solidFill>
          <a:ln w="19050">
            <a:solidFill>
              <a:srgbClr val="FFFFFF"/>
            </a:solidFill>
            <a:prstDash val="solid"/>
          </a:ln>
        </p:spPr>
      </p:sp>
      <p:sp>
        <p:nvSpPr>
          <p:cNvPr id="49" name="Text 45"/>
          <p:cNvSpPr/>
          <p:nvPr/>
        </p:nvSpPr>
        <p:spPr>
          <a:xfrm>
            <a:off x="4535424" y="2889504"/>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50" name="Shape 46"/>
          <p:cNvSpPr/>
          <p:nvPr/>
        </p:nvSpPr>
        <p:spPr>
          <a:xfrm>
            <a:off x="1828800" y="3474720"/>
            <a:ext cx="676656" cy="585216"/>
          </a:xfrm>
          <a:prstGeom prst="rect">
            <a:avLst/>
          </a:prstGeom>
          <a:solidFill>
            <a:srgbClr val="D97706"/>
          </a:solidFill>
          <a:ln w="19050">
            <a:solidFill>
              <a:srgbClr val="FFFFFF"/>
            </a:solidFill>
            <a:prstDash val="solid"/>
          </a:ln>
        </p:spPr>
      </p:sp>
      <p:sp>
        <p:nvSpPr>
          <p:cNvPr id="51" name="Text 47"/>
          <p:cNvSpPr/>
          <p:nvPr/>
        </p:nvSpPr>
        <p:spPr>
          <a:xfrm>
            <a:off x="1828800" y="3474720"/>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52" name="Shape 48"/>
          <p:cNvSpPr/>
          <p:nvPr/>
        </p:nvSpPr>
        <p:spPr>
          <a:xfrm>
            <a:off x="2505456" y="3474720"/>
            <a:ext cx="676656" cy="585216"/>
          </a:xfrm>
          <a:prstGeom prst="rect">
            <a:avLst/>
          </a:prstGeom>
          <a:solidFill>
            <a:srgbClr val="991B1B"/>
          </a:solidFill>
          <a:ln w="19050">
            <a:solidFill>
              <a:srgbClr val="FFFFFF"/>
            </a:solidFill>
            <a:prstDash val="solid"/>
          </a:ln>
        </p:spPr>
      </p:sp>
      <p:sp>
        <p:nvSpPr>
          <p:cNvPr id="53" name="Text 49"/>
          <p:cNvSpPr/>
          <p:nvPr/>
        </p:nvSpPr>
        <p:spPr>
          <a:xfrm>
            <a:off x="2505456" y="3474720"/>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54" name="Shape 50"/>
          <p:cNvSpPr/>
          <p:nvPr/>
        </p:nvSpPr>
        <p:spPr>
          <a:xfrm>
            <a:off x="3182112" y="3474720"/>
            <a:ext cx="676656" cy="585216"/>
          </a:xfrm>
          <a:prstGeom prst="rect">
            <a:avLst/>
          </a:prstGeom>
          <a:solidFill>
            <a:srgbClr val="991B1B"/>
          </a:solidFill>
          <a:ln w="19050">
            <a:solidFill>
              <a:srgbClr val="FFFFFF"/>
            </a:solidFill>
            <a:prstDash val="solid"/>
          </a:ln>
        </p:spPr>
      </p:sp>
      <p:sp>
        <p:nvSpPr>
          <p:cNvPr id="55" name="Text 51"/>
          <p:cNvSpPr/>
          <p:nvPr/>
        </p:nvSpPr>
        <p:spPr>
          <a:xfrm>
            <a:off x="3182112" y="3474720"/>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56" name="Shape 52"/>
          <p:cNvSpPr/>
          <p:nvPr/>
        </p:nvSpPr>
        <p:spPr>
          <a:xfrm>
            <a:off x="3858768" y="3474720"/>
            <a:ext cx="676656" cy="585216"/>
          </a:xfrm>
          <a:prstGeom prst="rect">
            <a:avLst/>
          </a:prstGeom>
          <a:solidFill>
            <a:srgbClr val="7C3AED"/>
          </a:solidFill>
          <a:ln w="19050">
            <a:solidFill>
              <a:srgbClr val="FFFFFF"/>
            </a:solidFill>
            <a:prstDash val="solid"/>
          </a:ln>
        </p:spPr>
      </p:sp>
      <p:sp>
        <p:nvSpPr>
          <p:cNvPr id="57" name="Text 53"/>
          <p:cNvSpPr/>
          <p:nvPr/>
        </p:nvSpPr>
        <p:spPr>
          <a:xfrm>
            <a:off x="3858768" y="3474720"/>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58" name="Shape 54"/>
          <p:cNvSpPr/>
          <p:nvPr/>
        </p:nvSpPr>
        <p:spPr>
          <a:xfrm>
            <a:off x="4535424" y="3474720"/>
            <a:ext cx="676656" cy="585216"/>
          </a:xfrm>
          <a:prstGeom prst="rect">
            <a:avLst/>
          </a:prstGeom>
          <a:solidFill>
            <a:srgbClr val="7C3AED"/>
          </a:solidFill>
          <a:ln w="19050">
            <a:solidFill>
              <a:srgbClr val="FFFFFF"/>
            </a:solidFill>
            <a:prstDash val="solid"/>
          </a:ln>
        </p:spPr>
      </p:sp>
      <p:sp>
        <p:nvSpPr>
          <p:cNvPr id="59" name="Text 55"/>
          <p:cNvSpPr/>
          <p:nvPr/>
        </p:nvSpPr>
        <p:spPr>
          <a:xfrm>
            <a:off x="4535424" y="3474720"/>
            <a:ext cx="676656" cy="58521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25</a:t>
            </a:r>
            <a:endParaRPr lang="en-US" sz="1400" dirty="0"/>
          </a:p>
        </p:txBody>
      </p:sp>
      <p:sp>
        <p:nvSpPr>
          <p:cNvPr id="60" name="Text 56"/>
          <p:cNvSpPr/>
          <p:nvPr/>
        </p:nvSpPr>
        <p:spPr>
          <a:xfrm>
            <a:off x="1828800" y="4096512"/>
            <a:ext cx="676656" cy="475488"/>
          </a:xfrm>
          <a:prstGeom prst="rect">
            <a:avLst/>
          </a:prstGeom>
          <a:noFill/>
          <a:ln/>
        </p:spPr>
        <p:txBody>
          <a:bodyPr wrap="square" lIns="0" tIns="0" rIns="0" bIns="0" rtlCol="0" anchor="t"/>
          <a:lstStyle/>
          <a:p>
            <a:pPr algn="ctr" indent="0" marL="0">
              <a:buNone/>
            </a:pPr>
            <a:r>
              <a:rPr lang="en-US" sz="850" dirty="0">
                <a:solidFill>
                  <a:srgbClr val="6B7B8C"/>
                </a:solidFill>
                <a:latin typeface="Calibri" pitchFamily="34" charset="0"/>
                <a:ea typeface="Calibri" pitchFamily="34" charset="-122"/>
                <a:cs typeface="Calibri" pitchFamily="34" charset="-120"/>
              </a:rPr>
              <a:t>1</a:t>
            </a:r>
            <a:endParaRPr lang="en-US" sz="850" dirty="0"/>
          </a:p>
          <a:p>
            <a:pPr algn="ctr" indent="0" marL="0">
              <a:buNone/>
            </a:pPr>
            <a:r>
              <a:rPr lang="en-US" sz="850" dirty="0">
                <a:solidFill>
                  <a:srgbClr val="6B7B8C"/>
                </a:solidFill>
                <a:latin typeface="Calibri" pitchFamily="34" charset="0"/>
                <a:ea typeface="Calibri" pitchFamily="34" charset="-122"/>
                <a:cs typeface="Calibri" pitchFamily="34" charset="-120"/>
              </a:rPr>
              <a:t>Rare</a:t>
            </a:r>
            <a:endParaRPr lang="en-US" sz="850" dirty="0"/>
          </a:p>
        </p:txBody>
      </p:sp>
      <p:sp>
        <p:nvSpPr>
          <p:cNvPr id="61" name="Text 57"/>
          <p:cNvSpPr/>
          <p:nvPr/>
        </p:nvSpPr>
        <p:spPr>
          <a:xfrm>
            <a:off x="2505456" y="4096512"/>
            <a:ext cx="676656" cy="475488"/>
          </a:xfrm>
          <a:prstGeom prst="rect">
            <a:avLst/>
          </a:prstGeom>
          <a:noFill/>
          <a:ln/>
        </p:spPr>
        <p:txBody>
          <a:bodyPr wrap="square" lIns="0" tIns="0" rIns="0" bIns="0" rtlCol="0" anchor="t"/>
          <a:lstStyle/>
          <a:p>
            <a:pPr algn="ctr" indent="0" marL="0">
              <a:buNone/>
            </a:pPr>
            <a:r>
              <a:rPr lang="en-US" sz="850" dirty="0">
                <a:solidFill>
                  <a:srgbClr val="6B7B8C"/>
                </a:solidFill>
                <a:latin typeface="Calibri" pitchFamily="34" charset="0"/>
                <a:ea typeface="Calibri" pitchFamily="34" charset="-122"/>
                <a:cs typeface="Calibri" pitchFamily="34" charset="-120"/>
              </a:rPr>
              <a:t>2</a:t>
            </a:r>
            <a:endParaRPr lang="en-US" sz="850" dirty="0"/>
          </a:p>
          <a:p>
            <a:pPr algn="ctr" indent="0" marL="0">
              <a:buNone/>
            </a:pPr>
            <a:r>
              <a:rPr lang="en-US" sz="850" dirty="0">
                <a:solidFill>
                  <a:srgbClr val="6B7B8C"/>
                </a:solidFill>
                <a:latin typeface="Calibri" pitchFamily="34" charset="0"/>
                <a:ea typeface="Calibri" pitchFamily="34" charset="-122"/>
                <a:cs typeface="Calibri" pitchFamily="34" charset="-120"/>
              </a:rPr>
              <a:t>Unlikely</a:t>
            </a:r>
            <a:endParaRPr lang="en-US" sz="850" dirty="0"/>
          </a:p>
        </p:txBody>
      </p:sp>
      <p:sp>
        <p:nvSpPr>
          <p:cNvPr id="62" name="Text 58"/>
          <p:cNvSpPr/>
          <p:nvPr/>
        </p:nvSpPr>
        <p:spPr>
          <a:xfrm>
            <a:off x="3182112" y="4096512"/>
            <a:ext cx="676656" cy="475488"/>
          </a:xfrm>
          <a:prstGeom prst="rect">
            <a:avLst/>
          </a:prstGeom>
          <a:noFill/>
          <a:ln/>
        </p:spPr>
        <p:txBody>
          <a:bodyPr wrap="square" lIns="0" tIns="0" rIns="0" bIns="0" rtlCol="0" anchor="t"/>
          <a:lstStyle/>
          <a:p>
            <a:pPr algn="ctr" indent="0" marL="0">
              <a:buNone/>
            </a:pPr>
            <a:r>
              <a:rPr lang="en-US" sz="850" dirty="0">
                <a:solidFill>
                  <a:srgbClr val="6B7B8C"/>
                </a:solidFill>
                <a:latin typeface="Calibri" pitchFamily="34" charset="0"/>
                <a:ea typeface="Calibri" pitchFamily="34" charset="-122"/>
                <a:cs typeface="Calibri" pitchFamily="34" charset="-120"/>
              </a:rPr>
              <a:t>3</a:t>
            </a:r>
            <a:endParaRPr lang="en-US" sz="850" dirty="0"/>
          </a:p>
          <a:p>
            <a:pPr algn="ctr" indent="0" marL="0">
              <a:buNone/>
            </a:pPr>
            <a:r>
              <a:rPr lang="en-US" sz="850" dirty="0">
                <a:solidFill>
                  <a:srgbClr val="6B7B8C"/>
                </a:solidFill>
                <a:latin typeface="Calibri" pitchFamily="34" charset="0"/>
                <a:ea typeface="Calibri" pitchFamily="34" charset="-122"/>
                <a:cs typeface="Calibri" pitchFamily="34" charset="-120"/>
              </a:rPr>
              <a:t>Possible</a:t>
            </a:r>
            <a:endParaRPr lang="en-US" sz="850" dirty="0"/>
          </a:p>
        </p:txBody>
      </p:sp>
      <p:sp>
        <p:nvSpPr>
          <p:cNvPr id="63" name="Text 59"/>
          <p:cNvSpPr/>
          <p:nvPr/>
        </p:nvSpPr>
        <p:spPr>
          <a:xfrm>
            <a:off x="3858768" y="4096512"/>
            <a:ext cx="676656" cy="475488"/>
          </a:xfrm>
          <a:prstGeom prst="rect">
            <a:avLst/>
          </a:prstGeom>
          <a:noFill/>
          <a:ln/>
        </p:spPr>
        <p:txBody>
          <a:bodyPr wrap="square" lIns="0" tIns="0" rIns="0" bIns="0" rtlCol="0" anchor="t"/>
          <a:lstStyle/>
          <a:p>
            <a:pPr algn="ctr" indent="0" marL="0">
              <a:buNone/>
            </a:pPr>
            <a:r>
              <a:rPr lang="en-US" sz="850" dirty="0">
                <a:solidFill>
                  <a:srgbClr val="6B7B8C"/>
                </a:solidFill>
                <a:latin typeface="Calibri" pitchFamily="34" charset="0"/>
                <a:ea typeface="Calibri" pitchFamily="34" charset="-122"/>
                <a:cs typeface="Calibri" pitchFamily="34" charset="-120"/>
              </a:rPr>
              <a:t>4</a:t>
            </a:r>
            <a:endParaRPr lang="en-US" sz="850" dirty="0"/>
          </a:p>
          <a:p>
            <a:pPr algn="ctr" indent="0" marL="0">
              <a:buNone/>
            </a:pPr>
            <a:r>
              <a:rPr lang="en-US" sz="850" dirty="0">
                <a:solidFill>
                  <a:srgbClr val="6B7B8C"/>
                </a:solidFill>
                <a:latin typeface="Calibri" pitchFamily="34" charset="0"/>
                <a:ea typeface="Calibri" pitchFamily="34" charset="-122"/>
                <a:cs typeface="Calibri" pitchFamily="34" charset="-120"/>
              </a:rPr>
              <a:t>Likely</a:t>
            </a:r>
            <a:endParaRPr lang="en-US" sz="850" dirty="0"/>
          </a:p>
        </p:txBody>
      </p:sp>
      <p:sp>
        <p:nvSpPr>
          <p:cNvPr id="64" name="Text 60"/>
          <p:cNvSpPr/>
          <p:nvPr/>
        </p:nvSpPr>
        <p:spPr>
          <a:xfrm>
            <a:off x="4535424" y="4096512"/>
            <a:ext cx="676656" cy="475488"/>
          </a:xfrm>
          <a:prstGeom prst="rect">
            <a:avLst/>
          </a:prstGeom>
          <a:noFill/>
          <a:ln/>
        </p:spPr>
        <p:txBody>
          <a:bodyPr wrap="square" lIns="0" tIns="0" rIns="0" bIns="0" rtlCol="0" anchor="t"/>
          <a:lstStyle/>
          <a:p>
            <a:pPr algn="ctr" indent="0" marL="0">
              <a:buNone/>
            </a:pPr>
            <a:r>
              <a:rPr lang="en-US" sz="850" dirty="0">
                <a:solidFill>
                  <a:srgbClr val="6B7B8C"/>
                </a:solidFill>
                <a:latin typeface="Calibri" pitchFamily="34" charset="0"/>
                <a:ea typeface="Calibri" pitchFamily="34" charset="-122"/>
                <a:cs typeface="Calibri" pitchFamily="34" charset="-120"/>
              </a:rPr>
              <a:t>5</a:t>
            </a:r>
            <a:endParaRPr lang="en-US" sz="850" dirty="0"/>
          </a:p>
          <a:p>
            <a:pPr algn="ctr" indent="0" marL="0">
              <a:buNone/>
            </a:pPr>
            <a:r>
              <a:rPr lang="en-US" sz="850" dirty="0">
                <a:solidFill>
                  <a:srgbClr val="6B7B8C"/>
                </a:solidFill>
                <a:latin typeface="Calibri" pitchFamily="34" charset="0"/>
                <a:ea typeface="Calibri" pitchFamily="34" charset="-122"/>
                <a:cs typeface="Calibri" pitchFamily="34" charset="-120"/>
              </a:rPr>
              <a:t>Almost</a:t>
            </a:r>
            <a:endParaRPr lang="en-US" sz="850" dirty="0"/>
          </a:p>
          <a:p>
            <a:pPr algn="ctr" indent="0" marL="0">
              <a:buNone/>
            </a:pPr>
            <a:r>
              <a:rPr lang="en-US" sz="850" dirty="0">
                <a:solidFill>
                  <a:srgbClr val="6B7B8C"/>
                </a:solidFill>
                <a:latin typeface="Calibri" pitchFamily="34" charset="0"/>
                <a:ea typeface="Calibri" pitchFamily="34" charset="-122"/>
                <a:cs typeface="Calibri" pitchFamily="34" charset="-120"/>
              </a:rPr>
              <a:t>Certain</a:t>
            </a:r>
            <a:endParaRPr lang="en-US" sz="850" dirty="0"/>
          </a:p>
        </p:txBody>
      </p:sp>
      <p:sp>
        <p:nvSpPr>
          <p:cNvPr id="65" name="Text 61"/>
          <p:cNvSpPr/>
          <p:nvPr/>
        </p:nvSpPr>
        <p:spPr>
          <a:xfrm>
            <a:off x="1115568" y="1133856"/>
            <a:ext cx="694944" cy="585216"/>
          </a:xfrm>
          <a:prstGeom prst="rect">
            <a:avLst/>
          </a:prstGeom>
          <a:noFill/>
          <a:ln/>
        </p:spPr>
        <p:txBody>
          <a:bodyPr wrap="square" lIns="0" tIns="0" rIns="0" bIns="0" rtlCol="0" anchor="ctr"/>
          <a:lstStyle/>
          <a:p>
            <a:pPr algn="r" indent="0" marL="0">
              <a:buNone/>
            </a:pPr>
            <a:r>
              <a:rPr lang="en-US" sz="850" dirty="0">
                <a:solidFill>
                  <a:srgbClr val="6B7B8C"/>
                </a:solidFill>
                <a:latin typeface="Calibri" pitchFamily="34" charset="0"/>
                <a:ea typeface="Calibri" pitchFamily="34" charset="-122"/>
                <a:cs typeface="Calibri" pitchFamily="34" charset="-120"/>
              </a:rPr>
              <a:t>1</a:t>
            </a:r>
            <a:endParaRPr lang="en-US" sz="850" dirty="0"/>
          </a:p>
          <a:p>
            <a:pPr algn="r" indent="0" marL="0">
              <a:buNone/>
            </a:pPr>
            <a:r>
              <a:rPr lang="en-US" sz="850" dirty="0">
                <a:solidFill>
                  <a:srgbClr val="6B7B8C"/>
                </a:solidFill>
                <a:latin typeface="Calibri" pitchFamily="34" charset="0"/>
                <a:ea typeface="Calibri" pitchFamily="34" charset="-122"/>
                <a:cs typeface="Calibri" pitchFamily="34" charset="-120"/>
              </a:rPr>
              <a:t>Trivial</a:t>
            </a:r>
            <a:endParaRPr lang="en-US" sz="850" dirty="0"/>
          </a:p>
        </p:txBody>
      </p:sp>
      <p:sp>
        <p:nvSpPr>
          <p:cNvPr id="66" name="Text 62"/>
          <p:cNvSpPr/>
          <p:nvPr/>
        </p:nvSpPr>
        <p:spPr>
          <a:xfrm>
            <a:off x="1115568" y="1719072"/>
            <a:ext cx="694944" cy="585216"/>
          </a:xfrm>
          <a:prstGeom prst="rect">
            <a:avLst/>
          </a:prstGeom>
          <a:noFill/>
          <a:ln/>
        </p:spPr>
        <p:txBody>
          <a:bodyPr wrap="square" lIns="0" tIns="0" rIns="0" bIns="0" rtlCol="0" anchor="ctr"/>
          <a:lstStyle/>
          <a:p>
            <a:pPr algn="r" indent="0" marL="0">
              <a:buNone/>
            </a:pPr>
            <a:r>
              <a:rPr lang="en-US" sz="850" dirty="0">
                <a:solidFill>
                  <a:srgbClr val="6B7B8C"/>
                </a:solidFill>
                <a:latin typeface="Calibri" pitchFamily="34" charset="0"/>
                <a:ea typeface="Calibri" pitchFamily="34" charset="-122"/>
                <a:cs typeface="Calibri" pitchFamily="34" charset="-120"/>
              </a:rPr>
              <a:t>2</a:t>
            </a:r>
            <a:endParaRPr lang="en-US" sz="850" dirty="0"/>
          </a:p>
          <a:p>
            <a:pPr algn="r" indent="0" marL="0">
              <a:buNone/>
            </a:pPr>
            <a:r>
              <a:rPr lang="en-US" sz="850" dirty="0">
                <a:solidFill>
                  <a:srgbClr val="6B7B8C"/>
                </a:solidFill>
                <a:latin typeface="Calibri" pitchFamily="34" charset="0"/>
                <a:ea typeface="Calibri" pitchFamily="34" charset="-122"/>
                <a:cs typeface="Calibri" pitchFamily="34" charset="-120"/>
              </a:rPr>
              <a:t>Minor</a:t>
            </a:r>
            <a:endParaRPr lang="en-US" sz="850" dirty="0"/>
          </a:p>
        </p:txBody>
      </p:sp>
      <p:sp>
        <p:nvSpPr>
          <p:cNvPr id="67" name="Text 63"/>
          <p:cNvSpPr/>
          <p:nvPr/>
        </p:nvSpPr>
        <p:spPr>
          <a:xfrm>
            <a:off x="1115568" y="2304288"/>
            <a:ext cx="694944" cy="585216"/>
          </a:xfrm>
          <a:prstGeom prst="rect">
            <a:avLst/>
          </a:prstGeom>
          <a:noFill/>
          <a:ln/>
        </p:spPr>
        <p:txBody>
          <a:bodyPr wrap="square" lIns="0" tIns="0" rIns="0" bIns="0" rtlCol="0" anchor="ctr"/>
          <a:lstStyle/>
          <a:p>
            <a:pPr algn="r" indent="0" marL="0">
              <a:buNone/>
            </a:pPr>
            <a:r>
              <a:rPr lang="en-US" sz="850" dirty="0">
                <a:solidFill>
                  <a:srgbClr val="6B7B8C"/>
                </a:solidFill>
                <a:latin typeface="Calibri" pitchFamily="34" charset="0"/>
                <a:ea typeface="Calibri" pitchFamily="34" charset="-122"/>
                <a:cs typeface="Calibri" pitchFamily="34" charset="-120"/>
              </a:rPr>
              <a:t>3</a:t>
            </a:r>
            <a:endParaRPr lang="en-US" sz="850" dirty="0"/>
          </a:p>
          <a:p>
            <a:pPr algn="r" indent="0" marL="0">
              <a:buNone/>
            </a:pPr>
            <a:r>
              <a:rPr lang="en-US" sz="850" dirty="0">
                <a:solidFill>
                  <a:srgbClr val="6B7B8C"/>
                </a:solidFill>
                <a:latin typeface="Calibri" pitchFamily="34" charset="0"/>
                <a:ea typeface="Calibri" pitchFamily="34" charset="-122"/>
                <a:cs typeface="Calibri" pitchFamily="34" charset="-120"/>
              </a:rPr>
              <a:t>Moderate</a:t>
            </a:r>
            <a:endParaRPr lang="en-US" sz="850" dirty="0"/>
          </a:p>
        </p:txBody>
      </p:sp>
      <p:sp>
        <p:nvSpPr>
          <p:cNvPr id="68" name="Text 64"/>
          <p:cNvSpPr/>
          <p:nvPr/>
        </p:nvSpPr>
        <p:spPr>
          <a:xfrm>
            <a:off x="1115568" y="2889504"/>
            <a:ext cx="694944" cy="585216"/>
          </a:xfrm>
          <a:prstGeom prst="rect">
            <a:avLst/>
          </a:prstGeom>
          <a:noFill/>
          <a:ln/>
        </p:spPr>
        <p:txBody>
          <a:bodyPr wrap="square" lIns="0" tIns="0" rIns="0" bIns="0" rtlCol="0" anchor="ctr"/>
          <a:lstStyle/>
          <a:p>
            <a:pPr algn="r" indent="0" marL="0">
              <a:buNone/>
            </a:pPr>
            <a:r>
              <a:rPr lang="en-US" sz="850" dirty="0">
                <a:solidFill>
                  <a:srgbClr val="6B7B8C"/>
                </a:solidFill>
                <a:latin typeface="Calibri" pitchFamily="34" charset="0"/>
                <a:ea typeface="Calibri" pitchFamily="34" charset="-122"/>
                <a:cs typeface="Calibri" pitchFamily="34" charset="-120"/>
              </a:rPr>
              <a:t>4</a:t>
            </a:r>
            <a:endParaRPr lang="en-US" sz="850" dirty="0"/>
          </a:p>
          <a:p>
            <a:pPr algn="r" indent="0" marL="0">
              <a:buNone/>
            </a:pPr>
            <a:r>
              <a:rPr lang="en-US" sz="850" dirty="0">
                <a:solidFill>
                  <a:srgbClr val="6B7B8C"/>
                </a:solidFill>
                <a:latin typeface="Calibri" pitchFamily="34" charset="0"/>
                <a:ea typeface="Calibri" pitchFamily="34" charset="-122"/>
                <a:cs typeface="Calibri" pitchFamily="34" charset="-120"/>
              </a:rPr>
              <a:t>Major</a:t>
            </a:r>
            <a:endParaRPr lang="en-US" sz="850" dirty="0"/>
          </a:p>
        </p:txBody>
      </p:sp>
      <p:sp>
        <p:nvSpPr>
          <p:cNvPr id="69" name="Text 65"/>
          <p:cNvSpPr/>
          <p:nvPr/>
        </p:nvSpPr>
        <p:spPr>
          <a:xfrm>
            <a:off x="1115568" y="3474720"/>
            <a:ext cx="694944" cy="585216"/>
          </a:xfrm>
          <a:prstGeom prst="rect">
            <a:avLst/>
          </a:prstGeom>
          <a:noFill/>
          <a:ln/>
        </p:spPr>
        <p:txBody>
          <a:bodyPr wrap="square" lIns="0" tIns="0" rIns="0" bIns="0" rtlCol="0" anchor="ctr"/>
          <a:lstStyle/>
          <a:p>
            <a:pPr algn="r" indent="0" marL="0">
              <a:buNone/>
            </a:pPr>
            <a:r>
              <a:rPr lang="en-US" sz="850" dirty="0">
                <a:solidFill>
                  <a:srgbClr val="6B7B8C"/>
                </a:solidFill>
                <a:latin typeface="Calibri" pitchFamily="34" charset="0"/>
                <a:ea typeface="Calibri" pitchFamily="34" charset="-122"/>
                <a:cs typeface="Calibri" pitchFamily="34" charset="-120"/>
              </a:rPr>
              <a:t>5</a:t>
            </a:r>
            <a:endParaRPr lang="en-US" sz="850" dirty="0"/>
          </a:p>
          <a:p>
            <a:pPr algn="r" indent="0" marL="0">
              <a:buNone/>
            </a:pPr>
            <a:r>
              <a:rPr lang="en-US" sz="850" dirty="0">
                <a:solidFill>
                  <a:srgbClr val="6B7B8C"/>
                </a:solidFill>
                <a:latin typeface="Calibri" pitchFamily="34" charset="0"/>
                <a:ea typeface="Calibri" pitchFamily="34" charset="-122"/>
                <a:cs typeface="Calibri" pitchFamily="34" charset="-120"/>
              </a:rPr>
              <a:t>Catastrophic</a:t>
            </a:r>
            <a:endParaRPr lang="en-US" sz="850" dirty="0"/>
          </a:p>
        </p:txBody>
      </p:sp>
      <p:sp>
        <p:nvSpPr>
          <p:cNvPr id="70" name="Text 66"/>
          <p:cNvSpPr/>
          <p:nvPr/>
        </p:nvSpPr>
        <p:spPr>
          <a:xfrm>
            <a:off x="1828800" y="859536"/>
            <a:ext cx="3383280" cy="237744"/>
          </a:xfrm>
          <a:prstGeom prst="rect">
            <a:avLst/>
          </a:prstGeom>
          <a:noFill/>
          <a:ln/>
        </p:spPr>
        <p:txBody>
          <a:bodyPr wrap="square" lIns="0" tIns="0" rIns="0" bIns="0" rtlCol="0" anchor="ctr"/>
          <a:lstStyle/>
          <a:p>
            <a:pPr algn="ctr" indent="0" marL="0">
              <a:buNone/>
            </a:pPr>
            <a:r>
              <a:rPr lang="en-US" sz="1000" b="1" dirty="0">
                <a:solidFill>
                  <a:srgbClr val="6B7B8C"/>
                </a:solidFill>
                <a:latin typeface="Calibri" pitchFamily="34" charset="0"/>
                <a:ea typeface="Calibri" pitchFamily="34" charset="-122"/>
                <a:cs typeface="Calibri" pitchFamily="34" charset="-120"/>
              </a:rPr>
              <a:t>LIKELIHOOD →</a:t>
            </a:r>
            <a:endParaRPr lang="en-US" sz="1000" dirty="0"/>
          </a:p>
        </p:txBody>
      </p:sp>
      <p:sp>
        <p:nvSpPr>
          <p:cNvPr id="71" name="Text 67"/>
          <p:cNvSpPr/>
          <p:nvPr/>
        </p:nvSpPr>
        <p:spPr>
          <a:xfrm>
            <a:off x="1042416" y="1591056"/>
            <a:ext cx="694944" cy="2286000"/>
          </a:xfrm>
          <a:prstGeom prst="rect">
            <a:avLst/>
          </a:prstGeom>
          <a:noFill/>
          <a:ln/>
        </p:spPr>
        <p:txBody>
          <a:bodyPr wrap="square" lIns="0" tIns="0" rIns="0" bIns="0" rtlCol="0" anchor="ctr"/>
          <a:lstStyle/>
          <a:p>
            <a:pPr algn="ctr" indent="0" marL="0">
              <a:buNone/>
            </a:pPr>
            <a:r>
              <a:rPr lang="en-US" sz="1000" b="1" dirty="0">
                <a:solidFill>
                  <a:srgbClr val="6B7B8C"/>
                </a:solidFill>
                <a:latin typeface="Calibri" pitchFamily="34" charset="0"/>
                <a:ea typeface="Calibri" pitchFamily="34" charset="-122"/>
                <a:cs typeface="Calibri" pitchFamily="34" charset="-120"/>
              </a:rPr>
              <a:t>↑</a:t>
            </a:r>
            <a:endParaRPr lang="en-US" sz="1000" dirty="0"/>
          </a:p>
          <a:p>
            <a:pPr algn="ctr" indent="0" marL="0">
              <a:buNone/>
            </a:pPr>
            <a:r>
              <a:rPr lang="en-US" sz="1000" b="1" dirty="0">
                <a:solidFill>
                  <a:srgbClr val="6B7B8C"/>
                </a:solidFill>
                <a:latin typeface="Calibri" pitchFamily="34" charset="0"/>
                <a:ea typeface="Calibri" pitchFamily="34" charset="-122"/>
                <a:cs typeface="Calibri" pitchFamily="34" charset="-120"/>
              </a:rPr>
              <a:t>SEVERITY</a:t>
            </a:r>
            <a:endParaRPr lang="en-US" sz="1000" dirty="0"/>
          </a:p>
        </p:txBody>
      </p:sp>
      <p:sp>
        <p:nvSpPr>
          <p:cNvPr id="72" name="Shape 68"/>
          <p:cNvSpPr/>
          <p:nvPr/>
        </p:nvSpPr>
        <p:spPr>
          <a:xfrm>
            <a:off x="5486400" y="1133856"/>
            <a:ext cx="3291840" cy="420624"/>
          </a:xfrm>
          <a:prstGeom prst="rect">
            <a:avLst/>
          </a:prstGeom>
          <a:solidFill>
            <a:srgbClr val="16A34A"/>
          </a:solidFill>
          <a:ln w="12700">
            <a:solidFill>
              <a:srgbClr val="16A34A"/>
            </a:solidFill>
            <a:prstDash val="solid"/>
          </a:ln>
        </p:spPr>
      </p:sp>
      <p:sp>
        <p:nvSpPr>
          <p:cNvPr id="73" name="Text 69"/>
          <p:cNvSpPr/>
          <p:nvPr/>
        </p:nvSpPr>
        <p:spPr>
          <a:xfrm>
            <a:off x="5486400" y="1133856"/>
            <a:ext cx="32918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LOW (1–4)</a:t>
            </a:r>
            <a:endParaRPr lang="en-US" sz="1200" dirty="0"/>
          </a:p>
        </p:txBody>
      </p:sp>
      <p:sp>
        <p:nvSpPr>
          <p:cNvPr id="74" name="Shape 70"/>
          <p:cNvSpPr/>
          <p:nvPr/>
        </p:nvSpPr>
        <p:spPr>
          <a:xfrm>
            <a:off x="5486400" y="1609344"/>
            <a:ext cx="3291840" cy="420624"/>
          </a:xfrm>
          <a:prstGeom prst="rect">
            <a:avLst/>
          </a:prstGeom>
          <a:solidFill>
            <a:srgbClr val="D97706"/>
          </a:solidFill>
          <a:ln w="12700">
            <a:solidFill>
              <a:srgbClr val="D97706"/>
            </a:solidFill>
            <a:prstDash val="solid"/>
          </a:ln>
        </p:spPr>
      </p:sp>
      <p:sp>
        <p:nvSpPr>
          <p:cNvPr id="75" name="Text 71"/>
          <p:cNvSpPr/>
          <p:nvPr/>
        </p:nvSpPr>
        <p:spPr>
          <a:xfrm>
            <a:off x="5486400" y="1609344"/>
            <a:ext cx="32918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MEDIUM (5–9)</a:t>
            </a:r>
            <a:endParaRPr lang="en-US" sz="1200" dirty="0"/>
          </a:p>
        </p:txBody>
      </p:sp>
      <p:sp>
        <p:nvSpPr>
          <p:cNvPr id="76" name="Shape 72"/>
          <p:cNvSpPr/>
          <p:nvPr/>
        </p:nvSpPr>
        <p:spPr>
          <a:xfrm>
            <a:off x="5486400" y="2084832"/>
            <a:ext cx="3291840" cy="420624"/>
          </a:xfrm>
          <a:prstGeom prst="rect">
            <a:avLst/>
          </a:prstGeom>
          <a:solidFill>
            <a:srgbClr val="991B1B"/>
          </a:solidFill>
          <a:ln w="12700">
            <a:solidFill>
              <a:srgbClr val="991B1B"/>
            </a:solidFill>
            <a:prstDash val="solid"/>
          </a:ln>
        </p:spPr>
      </p:sp>
      <p:sp>
        <p:nvSpPr>
          <p:cNvPr id="77" name="Text 73"/>
          <p:cNvSpPr/>
          <p:nvPr/>
        </p:nvSpPr>
        <p:spPr>
          <a:xfrm>
            <a:off x="5486400" y="2084832"/>
            <a:ext cx="32918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HIGH (10–15)</a:t>
            </a:r>
            <a:endParaRPr lang="en-US" sz="1200" dirty="0"/>
          </a:p>
        </p:txBody>
      </p:sp>
      <p:sp>
        <p:nvSpPr>
          <p:cNvPr id="78" name="Shape 74"/>
          <p:cNvSpPr/>
          <p:nvPr/>
        </p:nvSpPr>
        <p:spPr>
          <a:xfrm>
            <a:off x="5486400" y="2560320"/>
            <a:ext cx="3291840" cy="420624"/>
          </a:xfrm>
          <a:prstGeom prst="rect">
            <a:avLst/>
          </a:prstGeom>
          <a:solidFill>
            <a:srgbClr val="7C3AED"/>
          </a:solidFill>
          <a:ln w="12700">
            <a:solidFill>
              <a:srgbClr val="7C3AED"/>
            </a:solidFill>
            <a:prstDash val="solid"/>
          </a:ln>
        </p:spPr>
      </p:sp>
      <p:sp>
        <p:nvSpPr>
          <p:cNvPr id="79" name="Text 75"/>
          <p:cNvSpPr/>
          <p:nvPr/>
        </p:nvSpPr>
        <p:spPr>
          <a:xfrm>
            <a:off x="5486400" y="2560320"/>
            <a:ext cx="32918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VERY HIGH (16–25)</a:t>
            </a:r>
            <a:endParaRPr lang="en-US" sz="1200" dirty="0"/>
          </a:p>
        </p:txBody>
      </p:sp>
      <p:sp>
        <p:nvSpPr>
          <p:cNvPr id="80" name="Text 76"/>
          <p:cNvSpPr/>
          <p:nvPr/>
        </p:nvSpPr>
        <p:spPr>
          <a:xfrm>
            <a:off x="5486400" y="3108960"/>
            <a:ext cx="3291840" cy="1426464"/>
          </a:xfrm>
          <a:prstGeom prst="rect">
            <a:avLst/>
          </a:prstGeom>
          <a:noFill/>
          <a:ln/>
        </p:spPr>
        <p:txBody>
          <a:bodyPr wrap="square" lIns="76200" tIns="101600" rIns="101600" bIns="76200" rtlCol="0" anchor="t"/>
          <a:lstStyle/>
          <a:p>
            <a:pPr indent="0" marL="0">
              <a:buNone/>
            </a:pPr>
            <a:r>
              <a:rPr lang="en-US" sz="1000" dirty="0">
                <a:solidFill>
                  <a:srgbClr val="1A1A1A"/>
                </a:solidFill>
                <a:latin typeface="Calibri" pitchFamily="34" charset="0"/>
                <a:ea typeface="Calibri" pitchFamily="34" charset="-122"/>
                <a:cs typeface="Calibri" pitchFamily="34" charset="-120"/>
              </a:rPr>
              <a:t>How to use: Likelihood (1–5) × Severity (1–5) = Risk Rating. Higher ratings require stronger control measures before the activity can proceed.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69480" y="64008"/>
            <a:ext cx="694944" cy="484632"/>
          </a:xfrm>
          <a:prstGeom prst="rect">
            <a:avLst/>
          </a:prstGeom>
        </p:spPr>
      </p:pic>
      <p:pic>
        <p:nvPicPr>
          <p:cNvPr id="3" name="Image 1" descr="preencoded.png">    </p:cNvPr>
          <p:cNvPicPr>
            <a:picLocks noChangeAspect="1"/>
          </p:cNvPicPr>
          <p:nvPr/>
        </p:nvPicPr>
        <p:blipFill>
          <a:blip r:embed="rId2"/>
          <a:stretch>
            <a:fillRect/>
          </a:stretch>
        </p:blipFill>
        <p:spPr>
          <a:xfrm>
            <a:off x="8019288" y="91440"/>
            <a:ext cx="969264" cy="402336"/>
          </a:xfrm>
          <a:prstGeom prst="rect">
            <a:avLst/>
          </a:prstGeom>
        </p:spPr>
      </p:pic>
      <p:sp>
        <p:nvSpPr>
          <p:cNvPr id="4" name="Shape 0"/>
          <p:cNvSpPr/>
          <p:nvPr/>
        </p:nvSpPr>
        <p:spPr>
          <a:xfrm>
            <a:off x="0" y="4983480"/>
            <a:ext cx="9144000" cy="160020"/>
          </a:xfrm>
          <a:prstGeom prst="rect">
            <a:avLst/>
          </a:prstGeom>
          <a:solidFill>
            <a:srgbClr val="1A6B3C"/>
          </a:solidFill>
          <a:ln w="12700">
            <a:solidFill>
              <a:srgbClr val="1A6B3C"/>
            </a:solidFill>
            <a:prstDash val="solid"/>
          </a:ln>
        </p:spPr>
      </p:sp>
      <p:sp>
        <p:nvSpPr>
          <p:cNvPr id="5" name="Text 1"/>
          <p:cNvSpPr/>
          <p:nvPr/>
        </p:nvSpPr>
        <p:spPr>
          <a:xfrm>
            <a:off x="109728" y="4983480"/>
            <a:ext cx="2286000" cy="160020"/>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HB93CY003</a:t>
            </a:r>
            <a:endParaRPr lang="en-US" sz="800" dirty="0"/>
          </a:p>
        </p:txBody>
      </p:sp>
      <p:sp>
        <p:nvSpPr>
          <p:cNvPr id="6" name="Text 2"/>
          <p:cNvSpPr/>
          <p:nvPr/>
        </p:nvSpPr>
        <p:spPr>
          <a:xfrm>
            <a:off x="3200400" y="4983480"/>
            <a:ext cx="5833872" cy="160020"/>
          </a:xfrm>
          <a:prstGeom prst="rect">
            <a:avLst/>
          </a:prstGeom>
          <a:noFill/>
          <a:ln/>
        </p:spPr>
        <p:txBody>
          <a:bodyPr wrap="square" lIns="0" tIns="0" rIns="0" bIns="0" rtlCol="0" anchor="ctr"/>
          <a:lstStyle/>
          <a:p>
            <a:pPr algn="r" indent="0" marL="0">
              <a:buNone/>
            </a:pPr>
            <a:r>
              <a:rPr lang="en-US" sz="800" dirty="0">
                <a:solidFill>
                  <a:srgbClr val="FFFFFF"/>
                </a:solidFill>
                <a:latin typeface="Calibri" pitchFamily="34" charset="0"/>
                <a:ea typeface="Calibri" pitchFamily="34" charset="-122"/>
                <a:cs typeface="Calibri" pitchFamily="34" charset="-120"/>
              </a:rPr>
              <a:t>Risk Management when Learning in the Outdoors  |  Level 3</a:t>
            </a:r>
            <a:endParaRPr lang="en-US" sz="800" dirty="0"/>
          </a:p>
        </p:txBody>
      </p:sp>
      <p:sp>
        <p:nvSpPr>
          <p:cNvPr id="7" name="Text 3"/>
          <p:cNvSpPr/>
          <p:nvPr/>
        </p:nvSpPr>
        <p:spPr>
          <a:xfrm>
            <a:off x="365760" y="109728"/>
            <a:ext cx="6812280" cy="530352"/>
          </a:xfrm>
          <a:prstGeom prst="rect">
            <a:avLst/>
          </a:prstGeom>
          <a:noFill/>
          <a:ln/>
        </p:spPr>
        <p:txBody>
          <a:bodyPr wrap="square" lIns="0" tIns="0" rIns="0" bIns="0" rtlCol="0" anchor="ctr"/>
          <a:lstStyle/>
          <a:p>
            <a:pPr indent="0" marL="0">
              <a:buNone/>
            </a:pPr>
            <a:r>
              <a:rPr lang="en-US" sz="2200" b="1" dirty="0">
                <a:solidFill>
                  <a:srgbClr val="0F4525"/>
                </a:solidFill>
                <a:latin typeface="Calibri" pitchFamily="34" charset="0"/>
                <a:ea typeface="Calibri" pitchFamily="34" charset="-122"/>
                <a:cs typeface="Calibri" pitchFamily="34" charset="-120"/>
              </a:rPr>
              <a:t>Dynamic Risk Assessment</a:t>
            </a:r>
            <a:endParaRPr lang="en-US" sz="2200" dirty="0"/>
          </a:p>
        </p:txBody>
      </p:sp>
      <p:sp>
        <p:nvSpPr>
          <p:cNvPr id="8" name="Shape 4"/>
          <p:cNvSpPr/>
          <p:nvPr/>
        </p:nvSpPr>
        <p:spPr>
          <a:xfrm>
            <a:off x="365760" y="877824"/>
            <a:ext cx="1143000" cy="201168"/>
          </a:xfrm>
          <a:prstGeom prst="rect">
            <a:avLst/>
          </a:prstGeom>
          <a:solidFill>
            <a:srgbClr val="C8A951"/>
          </a:solidFill>
          <a:ln w="12700">
            <a:solidFill>
              <a:srgbClr val="C8A951"/>
            </a:solidFill>
            <a:prstDash val="solid"/>
          </a:ln>
        </p:spPr>
      </p:sp>
      <p:sp>
        <p:nvSpPr>
          <p:cNvPr id="9" name="Text 5"/>
          <p:cNvSpPr/>
          <p:nvPr/>
        </p:nvSpPr>
        <p:spPr>
          <a:xfrm>
            <a:off x="365760" y="877824"/>
            <a:ext cx="1143000" cy="201168"/>
          </a:xfrm>
          <a:prstGeom prst="rect">
            <a:avLst/>
          </a:prstGeom>
          <a:noFill/>
          <a:ln/>
        </p:spPr>
        <p:txBody>
          <a:bodyPr wrap="square" lIns="0" tIns="0" rIns="0" bIns="0" rtlCol="0" anchor="ctr"/>
          <a:lstStyle/>
          <a:p>
            <a:pPr algn="ctr" indent="0" marL="0">
              <a:buNone/>
            </a:pPr>
            <a:r>
              <a:rPr lang="en-US" sz="900" b="1" dirty="0">
                <a:solidFill>
                  <a:srgbClr val="3D2A00"/>
                </a:solidFill>
                <a:latin typeface="Calibri" pitchFamily="34" charset="0"/>
                <a:ea typeface="Calibri" pitchFamily="34" charset="-122"/>
                <a:cs typeface="Calibri" pitchFamily="34" charset="-120"/>
              </a:rPr>
              <a:t>AC 2.3 + 2.4</a:t>
            </a:r>
            <a:endParaRPr lang="en-US" sz="900" dirty="0"/>
          </a:p>
        </p:txBody>
      </p:sp>
      <p:sp>
        <p:nvSpPr>
          <p:cNvPr id="10" name="Shape 6"/>
          <p:cNvSpPr/>
          <p:nvPr/>
        </p:nvSpPr>
        <p:spPr>
          <a:xfrm>
            <a:off x="365760" y="1078992"/>
            <a:ext cx="4169664" cy="2944368"/>
          </a:xfrm>
          <a:prstGeom prst="rect">
            <a:avLst/>
          </a:prstGeom>
          <a:solidFill>
            <a:srgbClr val="E8F5EE"/>
          </a:solidFill>
          <a:ln w="19050">
            <a:solidFill>
              <a:srgbClr val="1A6B3C"/>
            </a:solidFill>
            <a:prstDash val="solid"/>
          </a:ln>
        </p:spPr>
      </p:sp>
      <p:sp>
        <p:nvSpPr>
          <p:cNvPr id="11" name="Text 7"/>
          <p:cNvSpPr/>
          <p:nvPr/>
        </p:nvSpPr>
        <p:spPr>
          <a:xfrm>
            <a:off x="475488" y="1115568"/>
            <a:ext cx="3931920" cy="292608"/>
          </a:xfrm>
          <a:prstGeom prst="rect">
            <a:avLst/>
          </a:prstGeom>
          <a:noFill/>
          <a:ln/>
        </p:spPr>
        <p:txBody>
          <a:bodyPr wrap="square" lIns="0" tIns="0" rIns="0" bIns="0" rtlCol="0" anchor="ctr"/>
          <a:lstStyle/>
          <a:p>
            <a:pPr indent="0" marL="0">
              <a:buNone/>
            </a:pPr>
            <a:r>
              <a:rPr lang="en-US" sz="1200" b="1" dirty="0">
                <a:solidFill>
                  <a:srgbClr val="0F4525"/>
                </a:solidFill>
                <a:latin typeface="Calibri" pitchFamily="34" charset="0"/>
                <a:ea typeface="Calibri" pitchFamily="34" charset="-122"/>
                <a:cs typeface="Calibri" pitchFamily="34" charset="-120"/>
              </a:rPr>
              <a:t>What is a Dynamic RA?</a:t>
            </a:r>
            <a:endParaRPr lang="en-US" sz="1200" dirty="0"/>
          </a:p>
        </p:txBody>
      </p:sp>
      <p:sp>
        <p:nvSpPr>
          <p:cNvPr id="12" name="Text 8"/>
          <p:cNvSpPr/>
          <p:nvPr/>
        </p:nvSpPr>
        <p:spPr>
          <a:xfrm>
            <a:off x="475488" y="1444752"/>
            <a:ext cx="3931920" cy="2487168"/>
          </a:xfrm>
          <a:prstGeom prst="rect">
            <a:avLst/>
          </a:prstGeom>
          <a:noFill/>
          <a:ln/>
        </p:spPr>
        <p:txBody>
          <a:bodyPr wrap="square" lIns="0" tIns="0" rIns="0" bIns="0" rtlCol="0" anchor="t"/>
          <a:lstStyle/>
          <a:p>
            <a:pPr indent="0" marL="0">
              <a:buNone/>
            </a:pPr>
            <a:r>
              <a:rPr lang="en-US" sz="1050" dirty="0">
                <a:solidFill>
                  <a:srgbClr val="1A1A1A"/>
                </a:solidFill>
                <a:latin typeface="Calibri" pitchFamily="34" charset="0"/>
                <a:ea typeface="Calibri" pitchFamily="34" charset="-122"/>
                <a:cs typeface="Calibri" pitchFamily="34" charset="-120"/>
              </a:rPr>
              <a:t>A dynamic risk assessment (DRA) is an ongoing, real-time process carried out during the activity as conditions change — in contrast to a static (written) RA completed before the session.</a:t>
            </a:r>
            <a:endParaRPr lang="en-US" sz="1050" dirty="0"/>
          </a:p>
          <a:p>
            <a:pPr indent="0" marL="0">
              <a:buNone/>
            </a:pPr>
            <a:endParaRPr lang="en-US" sz="1050" dirty="0"/>
          </a:p>
          <a:p>
            <a:pPr indent="0" marL="0">
              <a:buNone/>
            </a:pPr>
            <a:r>
              <a:rPr lang="en-US" sz="1050" dirty="0">
                <a:solidFill>
                  <a:srgbClr val="1A1A1A"/>
                </a:solidFill>
                <a:latin typeface="Calibri" pitchFamily="34" charset="0"/>
                <a:ea typeface="Calibri" pitchFamily="34" charset="-122"/>
                <a:cs typeface="Calibri" pitchFamily="34" charset="-120"/>
              </a:rPr>
              <a:t>Leaders must continuously scan the environment, assess whether risk levels have changed, and adjust plans accordingly. This is especially critical in outdoor environments where weather, terrain and participant condition can change rapidly.</a:t>
            </a:r>
            <a:endParaRPr lang="en-US" sz="1050" dirty="0"/>
          </a:p>
        </p:txBody>
      </p:sp>
      <p:sp>
        <p:nvSpPr>
          <p:cNvPr id="13" name="Shape 9"/>
          <p:cNvSpPr/>
          <p:nvPr/>
        </p:nvSpPr>
        <p:spPr>
          <a:xfrm>
            <a:off x="4700016" y="1078992"/>
            <a:ext cx="4078224" cy="877824"/>
          </a:xfrm>
          <a:prstGeom prst="rect">
            <a:avLst/>
          </a:prstGeom>
          <a:solidFill>
            <a:srgbClr val="FFFFFF"/>
          </a:solidFill>
          <a:ln w="19050">
            <a:solidFill>
              <a:srgbClr val="D97706"/>
            </a:solidFill>
            <a:prstDash val="solid"/>
          </a:ln>
          <a:effectLst>
            <a:outerShdw sx="100000" sy="100000" kx="0" ky="0" algn="bl" rotWithShape="0" blurRad="63500" dist="25400" dir="8100000">
              <a:srgbClr val="000000">
                <a:alpha val="12000"/>
              </a:srgbClr>
            </a:outerShdw>
          </a:effectLst>
        </p:spPr>
      </p:sp>
      <p:sp>
        <p:nvSpPr>
          <p:cNvPr id="14" name="Shape 10"/>
          <p:cNvSpPr/>
          <p:nvPr/>
        </p:nvSpPr>
        <p:spPr>
          <a:xfrm>
            <a:off x="4700016" y="1078992"/>
            <a:ext cx="822960" cy="877824"/>
          </a:xfrm>
          <a:prstGeom prst="rect">
            <a:avLst/>
          </a:prstGeom>
          <a:solidFill>
            <a:srgbClr val="D97706"/>
          </a:solidFill>
          <a:ln w="12700">
            <a:solidFill>
              <a:srgbClr val="D97706"/>
            </a:solidFill>
            <a:prstDash val="solid"/>
          </a:ln>
        </p:spPr>
      </p:sp>
      <p:sp>
        <p:nvSpPr>
          <p:cNvPr id="15" name="Text 11"/>
          <p:cNvSpPr/>
          <p:nvPr/>
        </p:nvSpPr>
        <p:spPr>
          <a:xfrm>
            <a:off x="4700016" y="1078992"/>
            <a:ext cx="822960" cy="8778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LOOK</a:t>
            </a:r>
            <a:endParaRPr lang="en-US" sz="1200" dirty="0"/>
          </a:p>
        </p:txBody>
      </p:sp>
      <p:sp>
        <p:nvSpPr>
          <p:cNvPr id="16" name="Text 12"/>
          <p:cNvSpPr/>
          <p:nvPr/>
        </p:nvSpPr>
        <p:spPr>
          <a:xfrm>
            <a:off x="5577840" y="1078992"/>
            <a:ext cx="3127248" cy="877824"/>
          </a:xfrm>
          <a:prstGeom prst="rect">
            <a:avLst/>
          </a:prstGeom>
          <a:noFill/>
          <a:ln/>
        </p:spPr>
        <p:txBody>
          <a:bodyPr wrap="square" lIns="0" tIns="7620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Observe what is happening — weather changes, participant behaviour, new hazards, route condition.</a:t>
            </a:r>
            <a:endParaRPr lang="en-US" sz="1050" dirty="0"/>
          </a:p>
        </p:txBody>
      </p:sp>
      <p:sp>
        <p:nvSpPr>
          <p:cNvPr id="17" name="Shape 13"/>
          <p:cNvSpPr/>
          <p:nvPr/>
        </p:nvSpPr>
        <p:spPr>
          <a:xfrm>
            <a:off x="4700016" y="2066544"/>
            <a:ext cx="4078224" cy="877824"/>
          </a:xfrm>
          <a:prstGeom prst="rect">
            <a:avLst/>
          </a:prstGeom>
          <a:solidFill>
            <a:srgbClr val="FFFFFF"/>
          </a:solidFill>
          <a:ln w="19050">
            <a:solidFill>
              <a:srgbClr val="991B1B"/>
            </a:solidFill>
            <a:prstDash val="solid"/>
          </a:ln>
          <a:effectLst>
            <a:outerShdw sx="100000" sy="100000" kx="0" ky="0" algn="bl" rotWithShape="0" blurRad="63500" dist="25400" dir="8100000">
              <a:srgbClr val="000000">
                <a:alpha val="12000"/>
              </a:srgbClr>
            </a:outerShdw>
          </a:effectLst>
        </p:spPr>
      </p:sp>
      <p:sp>
        <p:nvSpPr>
          <p:cNvPr id="18" name="Shape 14"/>
          <p:cNvSpPr/>
          <p:nvPr/>
        </p:nvSpPr>
        <p:spPr>
          <a:xfrm>
            <a:off x="4700016" y="2066544"/>
            <a:ext cx="822960" cy="877824"/>
          </a:xfrm>
          <a:prstGeom prst="rect">
            <a:avLst/>
          </a:prstGeom>
          <a:solidFill>
            <a:srgbClr val="991B1B"/>
          </a:solidFill>
          <a:ln w="12700">
            <a:solidFill>
              <a:srgbClr val="991B1B"/>
            </a:solidFill>
            <a:prstDash val="solid"/>
          </a:ln>
        </p:spPr>
      </p:sp>
      <p:sp>
        <p:nvSpPr>
          <p:cNvPr id="19" name="Text 15"/>
          <p:cNvSpPr/>
          <p:nvPr/>
        </p:nvSpPr>
        <p:spPr>
          <a:xfrm>
            <a:off x="4700016" y="2066544"/>
            <a:ext cx="822960" cy="8778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ASSESS</a:t>
            </a:r>
            <a:endParaRPr lang="en-US" sz="1200" dirty="0"/>
          </a:p>
        </p:txBody>
      </p:sp>
      <p:sp>
        <p:nvSpPr>
          <p:cNvPr id="20" name="Text 16"/>
          <p:cNvSpPr/>
          <p:nvPr/>
        </p:nvSpPr>
        <p:spPr>
          <a:xfrm>
            <a:off x="5577840" y="2066544"/>
            <a:ext cx="3127248" cy="877824"/>
          </a:xfrm>
          <a:prstGeom prst="rect">
            <a:avLst/>
          </a:prstGeom>
          <a:noFill/>
          <a:ln/>
        </p:spPr>
        <p:txBody>
          <a:bodyPr wrap="square" lIns="0" tIns="7620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Evaluate whether the current risk level has changed and what the implications are for your plan.</a:t>
            </a:r>
            <a:endParaRPr lang="en-US" sz="1050" dirty="0"/>
          </a:p>
        </p:txBody>
      </p:sp>
      <p:sp>
        <p:nvSpPr>
          <p:cNvPr id="21" name="Shape 17"/>
          <p:cNvSpPr/>
          <p:nvPr/>
        </p:nvSpPr>
        <p:spPr>
          <a:xfrm>
            <a:off x="4700016" y="3054096"/>
            <a:ext cx="4078224" cy="877824"/>
          </a:xfrm>
          <a:prstGeom prst="rect">
            <a:avLst/>
          </a:prstGeom>
          <a:solidFill>
            <a:srgbClr val="FFFFFF"/>
          </a:solidFill>
          <a:ln w="19050">
            <a:solidFill>
              <a:srgbClr val="1A6B3C"/>
            </a:solidFill>
            <a:prstDash val="solid"/>
          </a:ln>
          <a:effectLst>
            <a:outerShdw sx="100000" sy="100000" kx="0" ky="0" algn="bl" rotWithShape="0" blurRad="63500" dist="25400" dir="8100000">
              <a:srgbClr val="000000">
                <a:alpha val="12000"/>
              </a:srgbClr>
            </a:outerShdw>
          </a:effectLst>
        </p:spPr>
      </p:sp>
      <p:sp>
        <p:nvSpPr>
          <p:cNvPr id="22" name="Shape 18"/>
          <p:cNvSpPr/>
          <p:nvPr/>
        </p:nvSpPr>
        <p:spPr>
          <a:xfrm>
            <a:off x="4700016" y="3054096"/>
            <a:ext cx="822960" cy="877824"/>
          </a:xfrm>
          <a:prstGeom prst="rect">
            <a:avLst/>
          </a:prstGeom>
          <a:solidFill>
            <a:srgbClr val="1A6B3C"/>
          </a:solidFill>
          <a:ln w="12700">
            <a:solidFill>
              <a:srgbClr val="1A6B3C"/>
            </a:solidFill>
            <a:prstDash val="solid"/>
          </a:ln>
        </p:spPr>
      </p:sp>
      <p:sp>
        <p:nvSpPr>
          <p:cNvPr id="23" name="Text 19"/>
          <p:cNvSpPr/>
          <p:nvPr/>
        </p:nvSpPr>
        <p:spPr>
          <a:xfrm>
            <a:off x="4700016" y="3054096"/>
            <a:ext cx="822960" cy="8778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ACT</a:t>
            </a:r>
            <a:endParaRPr lang="en-US" sz="1200" dirty="0"/>
          </a:p>
        </p:txBody>
      </p:sp>
      <p:sp>
        <p:nvSpPr>
          <p:cNvPr id="24" name="Text 20"/>
          <p:cNvSpPr/>
          <p:nvPr/>
        </p:nvSpPr>
        <p:spPr>
          <a:xfrm>
            <a:off x="5577840" y="3054096"/>
            <a:ext cx="3127248" cy="877824"/>
          </a:xfrm>
          <a:prstGeom prst="rect">
            <a:avLst/>
          </a:prstGeom>
          <a:noFill/>
          <a:ln/>
        </p:spPr>
        <p:txBody>
          <a:bodyPr wrap="square" lIns="0" tIns="7620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Adjust: change route, slow pace, implement extra controls, or stop the activity entirely if necessary.</a:t>
            </a:r>
            <a:endParaRPr lang="en-US" sz="1050" dirty="0"/>
          </a:p>
        </p:txBody>
      </p:sp>
      <p:sp>
        <p:nvSpPr>
          <p:cNvPr id="25" name="Shape 21"/>
          <p:cNvSpPr/>
          <p:nvPr/>
        </p:nvSpPr>
        <p:spPr>
          <a:xfrm>
            <a:off x="365760" y="4096512"/>
            <a:ext cx="8412480" cy="768096"/>
          </a:xfrm>
          <a:prstGeom prst="rect">
            <a:avLst/>
          </a:prstGeom>
          <a:solidFill>
            <a:srgbClr val="0F4525"/>
          </a:solidFill>
          <a:ln w="12700">
            <a:solidFill>
              <a:srgbClr val="0F4525"/>
            </a:solidFill>
            <a:prstDash val="solid"/>
          </a:ln>
        </p:spPr>
      </p:sp>
      <p:sp>
        <p:nvSpPr>
          <p:cNvPr id="26" name="Text 22"/>
          <p:cNvSpPr/>
          <p:nvPr/>
        </p:nvSpPr>
        <p:spPr>
          <a:xfrm>
            <a:off x="475488" y="4114800"/>
            <a:ext cx="3657600" cy="256032"/>
          </a:xfrm>
          <a:prstGeom prst="rect">
            <a:avLst/>
          </a:prstGeom>
          <a:noFill/>
          <a:ln/>
        </p:spPr>
        <p:txBody>
          <a:bodyPr wrap="square" lIns="0" tIns="0" rIns="0" bIns="0" rtlCol="0" anchor="ctr"/>
          <a:lstStyle/>
          <a:p>
            <a:pPr indent="0" marL="0">
              <a:buNone/>
            </a:pPr>
            <a:r>
              <a:rPr lang="en-US" sz="1000" b="1" dirty="0">
                <a:solidFill>
                  <a:srgbClr val="C8A951"/>
                </a:solidFill>
                <a:latin typeface="Calibri" pitchFamily="34" charset="0"/>
                <a:ea typeface="Calibri" pitchFamily="34" charset="-122"/>
                <a:cs typeface="Calibri" pitchFamily="34" charset="-120"/>
              </a:rPr>
              <a:t>Why must you adhere to RA measures?</a:t>
            </a:r>
            <a:endParaRPr lang="en-US" sz="1000" dirty="0"/>
          </a:p>
        </p:txBody>
      </p:sp>
      <p:sp>
        <p:nvSpPr>
          <p:cNvPr id="27" name="Text 23"/>
          <p:cNvSpPr/>
          <p:nvPr/>
        </p:nvSpPr>
        <p:spPr>
          <a:xfrm>
            <a:off x="475488" y="4370832"/>
            <a:ext cx="8229600" cy="43891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Legal: </a:t>
            </a:r>
            <a:pPr indent="0" marL="0">
              <a:buNone/>
            </a:pPr>
            <a:r>
              <a:rPr lang="en-US" sz="1000" dirty="0">
                <a:solidFill>
                  <a:srgbClr val="E8F5EE"/>
                </a:solidFill>
                <a:latin typeface="Calibri" pitchFamily="34" charset="0"/>
                <a:ea typeface="Calibri" pitchFamily="34" charset="-122"/>
                <a:cs typeface="Calibri" pitchFamily="34" charset="-120"/>
              </a:rPr>
              <a:t>HSWA 1974 places a duty of care on leaders.  </a:t>
            </a:r>
            <a:pPr indent="0" marL="0">
              <a:buNone/>
            </a:pPr>
            <a:r>
              <a:rPr lang="en-US" sz="1000" b="1" dirty="0">
                <a:solidFill>
                  <a:srgbClr val="FFFFFF"/>
                </a:solidFill>
                <a:latin typeface="Calibri" pitchFamily="34" charset="0"/>
                <a:ea typeface="Calibri" pitchFamily="34" charset="-122"/>
                <a:cs typeface="Calibri" pitchFamily="34" charset="-120"/>
              </a:rPr>
              <a:t>Safety: </a:t>
            </a:r>
            <a:pPr indent="0" marL="0">
              <a:buNone/>
            </a:pPr>
            <a:r>
              <a:rPr lang="en-US" sz="1000" dirty="0">
                <a:solidFill>
                  <a:srgbClr val="E8F5EE"/>
                </a:solidFill>
                <a:latin typeface="Calibri" pitchFamily="34" charset="0"/>
                <a:ea typeface="Calibri" pitchFamily="34" charset="-122"/>
                <a:cs typeface="Calibri" pitchFamily="34" charset="-120"/>
              </a:rPr>
              <a:t>Control measures are the difference between managed and unmanaged risk.  </a:t>
            </a:r>
            <a:pPr indent="0" marL="0">
              <a:buNone/>
            </a:pPr>
            <a:r>
              <a:rPr lang="en-US" sz="1000" b="1" dirty="0">
                <a:solidFill>
                  <a:srgbClr val="FFFFFF"/>
                </a:solidFill>
                <a:latin typeface="Calibri" pitchFamily="34" charset="0"/>
                <a:ea typeface="Calibri" pitchFamily="34" charset="-122"/>
                <a:cs typeface="Calibri" pitchFamily="34" charset="-120"/>
              </a:rPr>
              <a:t>Liability: </a:t>
            </a:r>
            <a:pPr indent="0" marL="0">
              <a:buNone/>
            </a:pPr>
            <a:r>
              <a:rPr lang="en-US" sz="1000" dirty="0">
                <a:solidFill>
                  <a:srgbClr val="E8F5EE"/>
                </a:solidFill>
                <a:latin typeface="Calibri" pitchFamily="34" charset="0"/>
                <a:ea typeface="Calibri" pitchFamily="34" charset="-122"/>
                <a:cs typeface="Calibri" pitchFamily="34" charset="-120"/>
              </a:rPr>
              <a:t>Failure to follow your own RA exposes leaders and organisations to civil and criminal liability.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69480" y="64008"/>
            <a:ext cx="694944" cy="484632"/>
          </a:xfrm>
          <a:prstGeom prst="rect">
            <a:avLst/>
          </a:prstGeom>
        </p:spPr>
      </p:pic>
      <p:pic>
        <p:nvPicPr>
          <p:cNvPr id="3" name="Image 1" descr="preencoded.png">    </p:cNvPr>
          <p:cNvPicPr>
            <a:picLocks noChangeAspect="1"/>
          </p:cNvPicPr>
          <p:nvPr/>
        </p:nvPicPr>
        <p:blipFill>
          <a:blip r:embed="rId2"/>
          <a:stretch>
            <a:fillRect/>
          </a:stretch>
        </p:blipFill>
        <p:spPr>
          <a:xfrm>
            <a:off x="8019288" y="91440"/>
            <a:ext cx="969264" cy="402336"/>
          </a:xfrm>
          <a:prstGeom prst="rect">
            <a:avLst/>
          </a:prstGeom>
        </p:spPr>
      </p:pic>
      <p:sp>
        <p:nvSpPr>
          <p:cNvPr id="4" name="Shape 0"/>
          <p:cNvSpPr/>
          <p:nvPr/>
        </p:nvSpPr>
        <p:spPr>
          <a:xfrm>
            <a:off x="0" y="4983480"/>
            <a:ext cx="9144000" cy="160020"/>
          </a:xfrm>
          <a:prstGeom prst="rect">
            <a:avLst/>
          </a:prstGeom>
          <a:solidFill>
            <a:srgbClr val="1A6B3C"/>
          </a:solidFill>
          <a:ln w="12700">
            <a:solidFill>
              <a:srgbClr val="1A6B3C"/>
            </a:solidFill>
            <a:prstDash val="solid"/>
          </a:ln>
        </p:spPr>
      </p:sp>
      <p:sp>
        <p:nvSpPr>
          <p:cNvPr id="5" name="Text 1"/>
          <p:cNvSpPr/>
          <p:nvPr/>
        </p:nvSpPr>
        <p:spPr>
          <a:xfrm>
            <a:off x="109728" y="4983480"/>
            <a:ext cx="2286000" cy="160020"/>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HB93CY003</a:t>
            </a:r>
            <a:endParaRPr lang="en-US" sz="800" dirty="0"/>
          </a:p>
        </p:txBody>
      </p:sp>
      <p:sp>
        <p:nvSpPr>
          <p:cNvPr id="6" name="Text 2"/>
          <p:cNvSpPr/>
          <p:nvPr/>
        </p:nvSpPr>
        <p:spPr>
          <a:xfrm>
            <a:off x="3200400" y="4983480"/>
            <a:ext cx="5833872" cy="160020"/>
          </a:xfrm>
          <a:prstGeom prst="rect">
            <a:avLst/>
          </a:prstGeom>
          <a:noFill/>
          <a:ln/>
        </p:spPr>
        <p:txBody>
          <a:bodyPr wrap="square" lIns="0" tIns="0" rIns="0" bIns="0" rtlCol="0" anchor="ctr"/>
          <a:lstStyle/>
          <a:p>
            <a:pPr algn="r" indent="0" marL="0">
              <a:buNone/>
            </a:pPr>
            <a:r>
              <a:rPr lang="en-US" sz="800" dirty="0">
                <a:solidFill>
                  <a:srgbClr val="FFFFFF"/>
                </a:solidFill>
                <a:latin typeface="Calibri" pitchFamily="34" charset="0"/>
                <a:ea typeface="Calibri" pitchFamily="34" charset="-122"/>
                <a:cs typeface="Calibri" pitchFamily="34" charset="-120"/>
              </a:rPr>
              <a:t>Risk Management when Learning in the Outdoors  |  Level 3</a:t>
            </a:r>
            <a:endParaRPr lang="en-US" sz="800" dirty="0"/>
          </a:p>
        </p:txBody>
      </p:sp>
      <p:sp>
        <p:nvSpPr>
          <p:cNvPr id="7" name="Text 3"/>
          <p:cNvSpPr/>
          <p:nvPr/>
        </p:nvSpPr>
        <p:spPr>
          <a:xfrm>
            <a:off x="365760" y="109728"/>
            <a:ext cx="6812280" cy="530352"/>
          </a:xfrm>
          <a:prstGeom prst="rect">
            <a:avLst/>
          </a:prstGeom>
          <a:noFill/>
          <a:ln/>
        </p:spPr>
        <p:txBody>
          <a:bodyPr wrap="square" lIns="0" tIns="0" rIns="0" bIns="0" rtlCol="0" anchor="ctr"/>
          <a:lstStyle/>
          <a:p>
            <a:pPr indent="0" marL="0">
              <a:buNone/>
            </a:pPr>
            <a:r>
              <a:rPr lang="en-US" sz="2200" b="1" dirty="0">
                <a:solidFill>
                  <a:srgbClr val="0F4525"/>
                </a:solidFill>
                <a:latin typeface="Calibri" pitchFamily="34" charset="0"/>
                <a:ea typeface="Calibri" pitchFamily="34" charset="-122"/>
                <a:cs typeface="Calibri" pitchFamily="34" charset="-120"/>
              </a:rPr>
              <a:t>Accident &amp; Emergency Responses</a:t>
            </a:r>
            <a:endParaRPr lang="en-US" sz="2200" dirty="0"/>
          </a:p>
        </p:txBody>
      </p:sp>
      <p:sp>
        <p:nvSpPr>
          <p:cNvPr id="8" name="Shape 4"/>
          <p:cNvSpPr/>
          <p:nvPr/>
        </p:nvSpPr>
        <p:spPr>
          <a:xfrm>
            <a:off x="365760" y="877824"/>
            <a:ext cx="1143000" cy="201168"/>
          </a:xfrm>
          <a:prstGeom prst="rect">
            <a:avLst/>
          </a:prstGeom>
          <a:solidFill>
            <a:srgbClr val="C8A951"/>
          </a:solidFill>
          <a:ln w="12700">
            <a:solidFill>
              <a:srgbClr val="C8A951"/>
            </a:solidFill>
            <a:prstDash val="solid"/>
          </a:ln>
        </p:spPr>
      </p:sp>
      <p:sp>
        <p:nvSpPr>
          <p:cNvPr id="9" name="Text 5"/>
          <p:cNvSpPr/>
          <p:nvPr/>
        </p:nvSpPr>
        <p:spPr>
          <a:xfrm>
            <a:off x="365760" y="877824"/>
            <a:ext cx="1143000" cy="201168"/>
          </a:xfrm>
          <a:prstGeom prst="rect">
            <a:avLst/>
          </a:prstGeom>
          <a:noFill/>
          <a:ln/>
        </p:spPr>
        <p:txBody>
          <a:bodyPr wrap="square" lIns="0" tIns="0" rIns="0" bIns="0" rtlCol="0" anchor="ctr"/>
          <a:lstStyle/>
          <a:p>
            <a:pPr algn="ctr" indent="0" marL="0">
              <a:buNone/>
            </a:pPr>
            <a:r>
              <a:rPr lang="en-US" sz="900" b="1" dirty="0">
                <a:solidFill>
                  <a:srgbClr val="3D2A00"/>
                </a:solidFill>
                <a:latin typeface="Calibri" pitchFamily="34" charset="0"/>
                <a:ea typeface="Calibri" pitchFamily="34" charset="-122"/>
                <a:cs typeface="Calibri" pitchFamily="34" charset="-120"/>
              </a:rPr>
              <a:t>AC 2.2</a:t>
            </a:r>
            <a:endParaRPr lang="en-US" sz="900" dirty="0"/>
          </a:p>
        </p:txBody>
      </p:sp>
      <p:sp>
        <p:nvSpPr>
          <p:cNvPr id="10" name="Text 6"/>
          <p:cNvSpPr/>
          <p:nvPr/>
        </p:nvSpPr>
        <p:spPr>
          <a:xfrm>
            <a:off x="365760" y="914400"/>
            <a:ext cx="8412480" cy="237744"/>
          </a:xfrm>
          <a:prstGeom prst="rect">
            <a:avLst/>
          </a:prstGeom>
          <a:noFill/>
          <a:ln/>
        </p:spPr>
        <p:txBody>
          <a:bodyPr wrap="square" lIns="0" tIns="0" rIns="0" bIns="0" rtlCol="0" anchor="ctr"/>
          <a:lstStyle/>
          <a:p>
            <a:pPr indent="0" marL="0">
              <a:buNone/>
            </a:pPr>
            <a:r>
              <a:rPr lang="en-US" sz="1000" i="1" dirty="0">
                <a:solidFill>
                  <a:srgbClr val="6B7B8C"/>
                </a:solidFill>
                <a:latin typeface="Calibri" pitchFamily="34" charset="0"/>
                <a:ea typeface="Calibri" pitchFamily="34" charset="-122"/>
                <a:cs typeface="Calibri" pitchFamily="34" charset="-120"/>
              </a:rPr>
              <a:t>AC 2.2: Give ONE realistic scenario specific to your activity + minimum TWO appropriate responses.</a:t>
            </a:r>
            <a:endParaRPr lang="en-US" sz="1000" dirty="0"/>
          </a:p>
        </p:txBody>
      </p:sp>
      <p:sp>
        <p:nvSpPr>
          <p:cNvPr id="11" name="Shape 7"/>
          <p:cNvSpPr/>
          <p:nvPr/>
        </p:nvSpPr>
        <p:spPr>
          <a:xfrm>
            <a:off x="365760" y="1207008"/>
            <a:ext cx="2706624" cy="1536192"/>
          </a:xfrm>
          <a:prstGeom prst="rect">
            <a:avLst/>
          </a:prstGeom>
          <a:solidFill>
            <a:srgbClr val="FFFFFF"/>
          </a:solidFill>
          <a:ln w="19050">
            <a:solidFill>
              <a:srgbClr val="991B1B"/>
            </a:solidFill>
            <a:prstDash val="solid"/>
          </a:ln>
          <a:effectLst>
            <a:outerShdw sx="100000" sy="100000" kx="0" ky="0" algn="bl" rotWithShape="0" blurRad="63500" dist="25400" dir="8100000">
              <a:srgbClr val="000000">
                <a:alpha val="12000"/>
              </a:srgbClr>
            </a:outerShdw>
          </a:effectLst>
        </p:spPr>
      </p:sp>
      <p:sp>
        <p:nvSpPr>
          <p:cNvPr id="12" name="Shape 8"/>
          <p:cNvSpPr/>
          <p:nvPr/>
        </p:nvSpPr>
        <p:spPr>
          <a:xfrm>
            <a:off x="457200" y="1298448"/>
            <a:ext cx="329184" cy="329184"/>
          </a:xfrm>
          <a:prstGeom prst="ellipse">
            <a:avLst/>
          </a:prstGeom>
          <a:solidFill>
            <a:srgbClr val="991B1B"/>
          </a:solidFill>
          <a:ln w="12700">
            <a:solidFill>
              <a:srgbClr val="991B1B"/>
            </a:solidFill>
            <a:prstDash val="solid"/>
          </a:ln>
        </p:spPr>
      </p:sp>
      <p:sp>
        <p:nvSpPr>
          <p:cNvPr id="13" name="Text 9"/>
          <p:cNvSpPr/>
          <p:nvPr/>
        </p:nvSpPr>
        <p:spPr>
          <a:xfrm>
            <a:off x="457200" y="12984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841248" y="1298448"/>
            <a:ext cx="2176272" cy="329184"/>
          </a:xfrm>
          <a:prstGeom prst="rect">
            <a:avLst/>
          </a:prstGeom>
          <a:noFill/>
          <a:ln/>
        </p:spPr>
        <p:txBody>
          <a:bodyPr wrap="square" lIns="0" tIns="0" rIns="0" bIns="0" rtlCol="0" anchor="ctr"/>
          <a:lstStyle/>
          <a:p>
            <a:pPr indent="0" marL="0">
              <a:buNone/>
            </a:pPr>
            <a:r>
              <a:rPr lang="en-US" sz="1000" b="1" dirty="0">
                <a:solidFill>
                  <a:srgbClr val="991B1B"/>
                </a:solidFill>
                <a:latin typeface="Calibri" pitchFamily="34" charset="0"/>
                <a:ea typeface="Calibri" pitchFamily="34" charset="-122"/>
                <a:cs typeface="Calibri" pitchFamily="34" charset="-120"/>
              </a:rPr>
              <a:t>STOP — make the situation safe</a:t>
            </a:r>
            <a:endParaRPr lang="en-US" sz="1000" dirty="0"/>
          </a:p>
        </p:txBody>
      </p:sp>
      <p:sp>
        <p:nvSpPr>
          <p:cNvPr id="15" name="Text 11"/>
          <p:cNvSpPr/>
          <p:nvPr/>
        </p:nvSpPr>
        <p:spPr>
          <a:xfrm>
            <a:off x="457200" y="1682496"/>
            <a:ext cx="2560320" cy="1005840"/>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Prevent further injury. Stop the group moving. Move casualties away from further hazard (e.g. away from a river edge, off a steep slope) if it is safe to do so.</a:t>
            </a:r>
            <a:endParaRPr lang="en-US" sz="950" dirty="0"/>
          </a:p>
        </p:txBody>
      </p:sp>
      <p:sp>
        <p:nvSpPr>
          <p:cNvPr id="16" name="Shape 12"/>
          <p:cNvSpPr/>
          <p:nvPr/>
        </p:nvSpPr>
        <p:spPr>
          <a:xfrm>
            <a:off x="3182112" y="1207008"/>
            <a:ext cx="2706624" cy="1536192"/>
          </a:xfrm>
          <a:prstGeom prst="rect">
            <a:avLst/>
          </a:prstGeom>
          <a:solidFill>
            <a:srgbClr val="FFFFFF"/>
          </a:solidFill>
          <a:ln w="19050">
            <a:solidFill>
              <a:srgbClr val="D97706"/>
            </a:solidFill>
            <a:prstDash val="solid"/>
          </a:ln>
          <a:effectLst>
            <a:outerShdw sx="100000" sy="100000" kx="0" ky="0" algn="bl" rotWithShape="0" blurRad="63500" dist="25400" dir="8100000">
              <a:srgbClr val="000000">
                <a:alpha val="12000"/>
              </a:srgbClr>
            </a:outerShdw>
          </a:effectLst>
        </p:spPr>
      </p:sp>
      <p:sp>
        <p:nvSpPr>
          <p:cNvPr id="17" name="Shape 13"/>
          <p:cNvSpPr/>
          <p:nvPr/>
        </p:nvSpPr>
        <p:spPr>
          <a:xfrm>
            <a:off x="3273552" y="1298448"/>
            <a:ext cx="329184" cy="329184"/>
          </a:xfrm>
          <a:prstGeom prst="ellipse">
            <a:avLst/>
          </a:prstGeom>
          <a:solidFill>
            <a:srgbClr val="D97706"/>
          </a:solidFill>
          <a:ln w="12700">
            <a:solidFill>
              <a:srgbClr val="D97706"/>
            </a:solidFill>
            <a:prstDash val="solid"/>
          </a:ln>
        </p:spPr>
      </p:sp>
      <p:sp>
        <p:nvSpPr>
          <p:cNvPr id="18" name="Text 14"/>
          <p:cNvSpPr/>
          <p:nvPr/>
        </p:nvSpPr>
        <p:spPr>
          <a:xfrm>
            <a:off x="3273552" y="12984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Text 15"/>
          <p:cNvSpPr/>
          <p:nvPr/>
        </p:nvSpPr>
        <p:spPr>
          <a:xfrm>
            <a:off x="3657600" y="1298448"/>
            <a:ext cx="2176272" cy="329184"/>
          </a:xfrm>
          <a:prstGeom prst="rect">
            <a:avLst/>
          </a:prstGeom>
          <a:noFill/>
          <a:ln/>
        </p:spPr>
        <p:txBody>
          <a:bodyPr wrap="square" lIns="0" tIns="0" rIns="0" bIns="0" rtlCol="0" anchor="ctr"/>
          <a:lstStyle/>
          <a:p>
            <a:pPr indent="0" marL="0">
              <a:buNone/>
            </a:pPr>
            <a:r>
              <a:rPr lang="en-US" sz="1000" b="1" dirty="0">
                <a:solidFill>
                  <a:srgbClr val="D97706"/>
                </a:solidFill>
                <a:latin typeface="Calibri" pitchFamily="34" charset="0"/>
                <a:ea typeface="Calibri" pitchFamily="34" charset="-122"/>
                <a:cs typeface="Calibri" pitchFamily="34" charset="-120"/>
              </a:rPr>
              <a:t>ASSESS the casualty</a:t>
            </a:r>
            <a:endParaRPr lang="en-US" sz="1000" dirty="0"/>
          </a:p>
        </p:txBody>
      </p:sp>
      <p:sp>
        <p:nvSpPr>
          <p:cNvPr id="20" name="Text 16"/>
          <p:cNvSpPr/>
          <p:nvPr/>
        </p:nvSpPr>
        <p:spPr>
          <a:xfrm>
            <a:off x="3273552" y="1682496"/>
            <a:ext cx="2560320" cy="1005840"/>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Primary survey: Danger, Response, Airway, Breathing, Circulation. Identify nature and severity of injury. Do not move if spinal injury suspected.</a:t>
            </a:r>
            <a:endParaRPr lang="en-US" sz="950" dirty="0"/>
          </a:p>
        </p:txBody>
      </p:sp>
      <p:sp>
        <p:nvSpPr>
          <p:cNvPr id="21" name="Shape 17"/>
          <p:cNvSpPr/>
          <p:nvPr/>
        </p:nvSpPr>
        <p:spPr>
          <a:xfrm>
            <a:off x="5998464" y="1207008"/>
            <a:ext cx="2706624" cy="1536192"/>
          </a:xfrm>
          <a:prstGeom prst="rect">
            <a:avLst/>
          </a:prstGeom>
          <a:solidFill>
            <a:srgbClr val="FFFFFF"/>
          </a:solidFill>
          <a:ln w="19050">
            <a:solidFill>
              <a:srgbClr val="1E40AF"/>
            </a:solidFill>
            <a:prstDash val="solid"/>
          </a:ln>
          <a:effectLst>
            <a:outerShdw sx="100000" sy="100000" kx="0" ky="0" algn="bl" rotWithShape="0" blurRad="63500" dist="25400" dir="8100000">
              <a:srgbClr val="000000">
                <a:alpha val="12000"/>
              </a:srgbClr>
            </a:outerShdw>
          </a:effectLst>
        </p:spPr>
      </p:sp>
      <p:sp>
        <p:nvSpPr>
          <p:cNvPr id="22" name="Shape 18"/>
          <p:cNvSpPr/>
          <p:nvPr/>
        </p:nvSpPr>
        <p:spPr>
          <a:xfrm>
            <a:off x="6089904" y="1298448"/>
            <a:ext cx="329184" cy="329184"/>
          </a:xfrm>
          <a:prstGeom prst="ellipse">
            <a:avLst/>
          </a:prstGeom>
          <a:solidFill>
            <a:srgbClr val="1E40AF"/>
          </a:solidFill>
          <a:ln w="12700">
            <a:solidFill>
              <a:srgbClr val="1E40AF"/>
            </a:solidFill>
            <a:prstDash val="solid"/>
          </a:ln>
        </p:spPr>
      </p:sp>
      <p:sp>
        <p:nvSpPr>
          <p:cNvPr id="23" name="Text 19"/>
          <p:cNvSpPr/>
          <p:nvPr/>
        </p:nvSpPr>
        <p:spPr>
          <a:xfrm>
            <a:off x="6089904" y="12984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4" name="Text 20"/>
          <p:cNvSpPr/>
          <p:nvPr/>
        </p:nvSpPr>
        <p:spPr>
          <a:xfrm>
            <a:off x="6473952" y="1298448"/>
            <a:ext cx="2176272" cy="329184"/>
          </a:xfrm>
          <a:prstGeom prst="rect">
            <a:avLst/>
          </a:prstGeom>
          <a:noFill/>
          <a:ln/>
        </p:spPr>
        <p:txBody>
          <a:bodyPr wrap="square" lIns="0" tIns="0" rIns="0" bIns="0"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SEND for help</a:t>
            </a:r>
            <a:endParaRPr lang="en-US" sz="1000" dirty="0"/>
          </a:p>
        </p:txBody>
      </p:sp>
      <p:sp>
        <p:nvSpPr>
          <p:cNvPr id="25" name="Text 21"/>
          <p:cNvSpPr/>
          <p:nvPr/>
        </p:nvSpPr>
        <p:spPr>
          <a:xfrm>
            <a:off x="6089904" y="1682496"/>
            <a:ext cx="2560320" cy="1005840"/>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Dial 999 (or 112). Give: your location as a 6-figure grid reference, number of casualties, nature of injuries, your name and contact number. Stay on the line.</a:t>
            </a:r>
            <a:endParaRPr lang="en-US" sz="950" dirty="0"/>
          </a:p>
        </p:txBody>
      </p:sp>
      <p:sp>
        <p:nvSpPr>
          <p:cNvPr id="26" name="Shape 22"/>
          <p:cNvSpPr/>
          <p:nvPr/>
        </p:nvSpPr>
        <p:spPr>
          <a:xfrm>
            <a:off x="365760" y="2871216"/>
            <a:ext cx="2706624" cy="1536192"/>
          </a:xfrm>
          <a:prstGeom prst="rect">
            <a:avLst/>
          </a:prstGeom>
          <a:solidFill>
            <a:srgbClr val="FFFFFF"/>
          </a:solidFill>
          <a:ln w="19050">
            <a:solidFill>
              <a:srgbClr val="1A6B3C"/>
            </a:solidFill>
            <a:prstDash val="solid"/>
          </a:ln>
          <a:effectLst>
            <a:outerShdw sx="100000" sy="100000" kx="0" ky="0" algn="bl" rotWithShape="0" blurRad="63500" dist="25400" dir="8100000">
              <a:srgbClr val="000000">
                <a:alpha val="12000"/>
              </a:srgbClr>
            </a:outerShdw>
          </a:effectLst>
        </p:spPr>
      </p:sp>
      <p:sp>
        <p:nvSpPr>
          <p:cNvPr id="27" name="Shape 23"/>
          <p:cNvSpPr/>
          <p:nvPr/>
        </p:nvSpPr>
        <p:spPr>
          <a:xfrm>
            <a:off x="457200" y="2962656"/>
            <a:ext cx="329184" cy="329184"/>
          </a:xfrm>
          <a:prstGeom prst="ellipse">
            <a:avLst/>
          </a:prstGeom>
          <a:solidFill>
            <a:srgbClr val="1A6B3C"/>
          </a:solidFill>
          <a:ln w="12700">
            <a:solidFill>
              <a:srgbClr val="1A6B3C"/>
            </a:solidFill>
            <a:prstDash val="solid"/>
          </a:ln>
        </p:spPr>
      </p:sp>
      <p:sp>
        <p:nvSpPr>
          <p:cNvPr id="28" name="Text 24"/>
          <p:cNvSpPr/>
          <p:nvPr/>
        </p:nvSpPr>
        <p:spPr>
          <a:xfrm>
            <a:off x="457200" y="296265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5"/>
          <p:cNvSpPr/>
          <p:nvPr/>
        </p:nvSpPr>
        <p:spPr>
          <a:xfrm>
            <a:off x="841248" y="2962656"/>
            <a:ext cx="2176272" cy="329184"/>
          </a:xfrm>
          <a:prstGeom prst="rect">
            <a:avLst/>
          </a:prstGeom>
          <a:noFill/>
          <a:ln/>
        </p:spPr>
        <p:txBody>
          <a:bodyPr wrap="square" lIns="0" tIns="0" rIns="0" bIns="0" rtlCol="0" anchor="ctr"/>
          <a:lstStyle/>
          <a:p>
            <a:pPr indent="0" marL="0">
              <a:buNone/>
            </a:pPr>
            <a:r>
              <a:rPr lang="en-US" sz="1000" b="1" dirty="0">
                <a:solidFill>
                  <a:srgbClr val="1A6B3C"/>
                </a:solidFill>
                <a:latin typeface="Calibri" pitchFamily="34" charset="0"/>
                <a:ea typeface="Calibri" pitchFamily="34" charset="-122"/>
                <a:cs typeface="Calibri" pitchFamily="34" charset="-120"/>
              </a:rPr>
              <a:t>TREAT and PROTECT</a:t>
            </a:r>
            <a:endParaRPr lang="en-US" sz="1000" dirty="0"/>
          </a:p>
        </p:txBody>
      </p:sp>
      <p:sp>
        <p:nvSpPr>
          <p:cNvPr id="30" name="Text 26"/>
          <p:cNvSpPr/>
          <p:nvPr/>
        </p:nvSpPr>
        <p:spPr>
          <a:xfrm>
            <a:off x="457200" y="3346704"/>
            <a:ext cx="2560320" cy="1005840"/>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Apply first aid within your training. Protect from weather (space blanket, shelter group). Keep casualty warm, conscious and reassured.</a:t>
            </a:r>
            <a:endParaRPr lang="en-US" sz="950" dirty="0"/>
          </a:p>
        </p:txBody>
      </p:sp>
      <p:sp>
        <p:nvSpPr>
          <p:cNvPr id="31" name="Shape 27"/>
          <p:cNvSpPr/>
          <p:nvPr/>
        </p:nvSpPr>
        <p:spPr>
          <a:xfrm>
            <a:off x="3182112" y="2871216"/>
            <a:ext cx="2706624" cy="1536192"/>
          </a:xfrm>
          <a:prstGeom prst="rect">
            <a:avLst/>
          </a:prstGeom>
          <a:solidFill>
            <a:srgbClr val="FFFFFF"/>
          </a:solidFill>
          <a:ln w="19050">
            <a:solidFill>
              <a:srgbClr val="0F4525"/>
            </a:solidFill>
            <a:prstDash val="solid"/>
          </a:ln>
          <a:effectLst>
            <a:outerShdw sx="100000" sy="100000" kx="0" ky="0" algn="bl" rotWithShape="0" blurRad="63500" dist="25400" dir="8100000">
              <a:srgbClr val="000000">
                <a:alpha val="12000"/>
              </a:srgbClr>
            </a:outerShdw>
          </a:effectLst>
        </p:spPr>
      </p:sp>
      <p:sp>
        <p:nvSpPr>
          <p:cNvPr id="32" name="Shape 28"/>
          <p:cNvSpPr/>
          <p:nvPr/>
        </p:nvSpPr>
        <p:spPr>
          <a:xfrm>
            <a:off x="3273552" y="2962656"/>
            <a:ext cx="329184" cy="329184"/>
          </a:xfrm>
          <a:prstGeom prst="ellipse">
            <a:avLst/>
          </a:prstGeom>
          <a:solidFill>
            <a:srgbClr val="0F4525"/>
          </a:solidFill>
          <a:ln w="12700">
            <a:solidFill>
              <a:srgbClr val="0F4525"/>
            </a:solidFill>
            <a:prstDash val="solid"/>
          </a:ln>
        </p:spPr>
      </p:sp>
      <p:sp>
        <p:nvSpPr>
          <p:cNvPr id="33" name="Text 29"/>
          <p:cNvSpPr/>
          <p:nvPr/>
        </p:nvSpPr>
        <p:spPr>
          <a:xfrm>
            <a:off x="3273552" y="296265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4" name="Text 30"/>
          <p:cNvSpPr/>
          <p:nvPr/>
        </p:nvSpPr>
        <p:spPr>
          <a:xfrm>
            <a:off x="3657600" y="2962656"/>
            <a:ext cx="2176272" cy="329184"/>
          </a:xfrm>
          <a:prstGeom prst="rect">
            <a:avLst/>
          </a:prstGeom>
          <a:noFill/>
          <a:ln/>
        </p:spPr>
        <p:txBody>
          <a:bodyPr wrap="square" lIns="0" tIns="0" rIns="0" bIns="0" rtlCol="0" anchor="ctr"/>
          <a:lstStyle/>
          <a:p>
            <a:pPr indent="0" marL="0">
              <a:buNone/>
            </a:pPr>
            <a:r>
              <a:rPr lang="en-US" sz="1000" b="1" dirty="0">
                <a:solidFill>
                  <a:srgbClr val="0F4525"/>
                </a:solidFill>
                <a:latin typeface="Calibri" pitchFamily="34" charset="0"/>
                <a:ea typeface="Calibri" pitchFamily="34" charset="-122"/>
                <a:cs typeface="Calibri" pitchFamily="34" charset="-120"/>
              </a:rPr>
              <a:t>REPORT and RECORD</a:t>
            </a:r>
            <a:endParaRPr lang="en-US" sz="1000" dirty="0"/>
          </a:p>
        </p:txBody>
      </p:sp>
      <p:sp>
        <p:nvSpPr>
          <p:cNvPr id="35" name="Text 31"/>
          <p:cNvSpPr/>
          <p:nvPr/>
        </p:nvSpPr>
        <p:spPr>
          <a:xfrm>
            <a:off x="3273552" y="3346704"/>
            <a:ext cx="2560320" cy="1005840"/>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Complete an incident report form. Under RIDDOR, certain injuries must be reported to HSE within specified timescales. Preserve scene evidence.</a:t>
            </a:r>
            <a:endParaRPr lang="en-US" sz="950" dirty="0"/>
          </a:p>
        </p:txBody>
      </p:sp>
      <p:sp>
        <p:nvSpPr>
          <p:cNvPr id="36" name="Shape 32"/>
          <p:cNvSpPr/>
          <p:nvPr/>
        </p:nvSpPr>
        <p:spPr>
          <a:xfrm>
            <a:off x="5998464" y="2871216"/>
            <a:ext cx="2706624" cy="1536192"/>
          </a:xfrm>
          <a:prstGeom prst="rect">
            <a:avLst/>
          </a:prstGeom>
          <a:solidFill>
            <a:srgbClr val="FFFFFF"/>
          </a:solidFill>
          <a:ln w="19050">
            <a:solidFill>
              <a:srgbClr val="7C3AED"/>
            </a:solidFill>
            <a:prstDash val="solid"/>
          </a:ln>
          <a:effectLst>
            <a:outerShdw sx="100000" sy="100000" kx="0" ky="0" algn="bl" rotWithShape="0" blurRad="63500" dist="25400" dir="8100000">
              <a:srgbClr val="000000">
                <a:alpha val="12000"/>
              </a:srgbClr>
            </a:outerShdw>
          </a:effectLst>
        </p:spPr>
      </p:sp>
      <p:sp>
        <p:nvSpPr>
          <p:cNvPr id="37" name="Shape 33"/>
          <p:cNvSpPr/>
          <p:nvPr/>
        </p:nvSpPr>
        <p:spPr>
          <a:xfrm>
            <a:off x="6089904" y="2962656"/>
            <a:ext cx="329184" cy="329184"/>
          </a:xfrm>
          <a:prstGeom prst="ellipse">
            <a:avLst/>
          </a:prstGeom>
          <a:solidFill>
            <a:srgbClr val="7C3AED"/>
          </a:solidFill>
          <a:ln w="12700">
            <a:solidFill>
              <a:srgbClr val="7C3AED"/>
            </a:solidFill>
            <a:prstDash val="solid"/>
          </a:ln>
        </p:spPr>
      </p:sp>
      <p:sp>
        <p:nvSpPr>
          <p:cNvPr id="38" name="Text 34"/>
          <p:cNvSpPr/>
          <p:nvPr/>
        </p:nvSpPr>
        <p:spPr>
          <a:xfrm>
            <a:off x="6089904" y="296265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9" name="Text 35"/>
          <p:cNvSpPr/>
          <p:nvPr/>
        </p:nvSpPr>
        <p:spPr>
          <a:xfrm>
            <a:off x="6473952" y="2962656"/>
            <a:ext cx="2176272" cy="329184"/>
          </a:xfrm>
          <a:prstGeom prst="rect">
            <a:avLst/>
          </a:prstGeom>
          <a:noFill/>
          <a:ln/>
        </p:spPr>
        <p:txBody>
          <a:bodyPr wrap="square" lIns="0" tIns="0" rIns="0" bIns="0" rtlCol="0" anchor="ctr"/>
          <a:lstStyle/>
          <a:p>
            <a:pPr indent="0" marL="0">
              <a:buNone/>
            </a:pPr>
            <a:r>
              <a:rPr lang="en-US" sz="1000" b="1" dirty="0">
                <a:solidFill>
                  <a:srgbClr val="7C3AED"/>
                </a:solidFill>
                <a:latin typeface="Calibri" pitchFamily="34" charset="0"/>
                <a:ea typeface="Calibri" pitchFamily="34" charset="-122"/>
                <a:cs typeface="Calibri" pitchFamily="34" charset="-120"/>
              </a:rPr>
              <a:t>DEBRIEF the group</a:t>
            </a:r>
            <a:endParaRPr lang="en-US" sz="1000" dirty="0"/>
          </a:p>
        </p:txBody>
      </p:sp>
      <p:sp>
        <p:nvSpPr>
          <p:cNvPr id="40" name="Text 36"/>
          <p:cNvSpPr/>
          <p:nvPr/>
        </p:nvSpPr>
        <p:spPr>
          <a:xfrm>
            <a:off x="6089904" y="3346704"/>
            <a:ext cx="2560320" cy="1005840"/>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Address physical and psychological welfare of all participants following an incident. Contact parents/carers if under 18. Offer counselling support if needed.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452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69480" y="64008"/>
            <a:ext cx="694944" cy="484632"/>
          </a:xfrm>
          <a:prstGeom prst="rect">
            <a:avLst/>
          </a:prstGeom>
        </p:spPr>
      </p:pic>
      <p:pic>
        <p:nvPicPr>
          <p:cNvPr id="3" name="Image 1" descr="preencoded.png">    </p:cNvPr>
          <p:cNvPicPr>
            <a:picLocks noChangeAspect="1"/>
          </p:cNvPicPr>
          <p:nvPr/>
        </p:nvPicPr>
        <p:blipFill>
          <a:blip r:embed="rId2"/>
          <a:stretch>
            <a:fillRect/>
          </a:stretch>
        </p:blipFill>
        <p:spPr>
          <a:xfrm>
            <a:off x="8019288" y="91440"/>
            <a:ext cx="969264" cy="402336"/>
          </a:xfrm>
          <a:prstGeom prst="rect">
            <a:avLst/>
          </a:prstGeom>
        </p:spPr>
      </p:pic>
      <p:sp>
        <p:nvSpPr>
          <p:cNvPr id="4" name="Text 0"/>
          <p:cNvSpPr/>
          <p:nvPr/>
        </p:nvSpPr>
        <p:spPr>
          <a:xfrm>
            <a:off x="5943600" y="-365760"/>
            <a:ext cx="2926080" cy="3657600"/>
          </a:xfrm>
          <a:prstGeom prst="rect">
            <a:avLst/>
          </a:prstGeom>
          <a:noFill/>
          <a:ln/>
        </p:spPr>
        <p:txBody>
          <a:bodyPr wrap="square" lIns="0" tIns="0" rIns="0" bIns="0" rtlCol="0" anchor="t"/>
          <a:lstStyle/>
          <a:p>
            <a:pPr algn="r" indent="0" marL="0">
              <a:buNone/>
            </a:pPr>
            <a:r>
              <a:rPr lang="en-US" sz="22000" b="1" dirty="0">
                <a:solidFill>
                  <a:srgbClr val="FFFFFF">
                    <a:alpha val="15000"/>
                  </a:srgbClr>
                </a:solidFill>
                <a:latin typeface="Calibri" pitchFamily="34" charset="0"/>
                <a:ea typeface="Calibri" pitchFamily="34" charset="-122"/>
                <a:cs typeface="Calibri" pitchFamily="34" charset="-120"/>
              </a:rPr>
              <a:t>3</a:t>
            </a:r>
            <a:endParaRPr lang="en-US" sz="22000" dirty="0"/>
          </a:p>
        </p:txBody>
      </p:sp>
      <p:sp>
        <p:nvSpPr>
          <p:cNvPr id="5" name="Shape 1"/>
          <p:cNvSpPr/>
          <p:nvPr/>
        </p:nvSpPr>
        <p:spPr>
          <a:xfrm>
            <a:off x="0" y="0"/>
            <a:ext cx="164592" cy="5143500"/>
          </a:xfrm>
          <a:prstGeom prst="rect">
            <a:avLst/>
          </a:prstGeom>
          <a:solidFill>
            <a:srgbClr val="C8A951"/>
          </a:solidFill>
          <a:ln w="12700">
            <a:solidFill>
              <a:srgbClr val="C8A951"/>
            </a:solidFill>
            <a:prstDash val="solid"/>
          </a:ln>
        </p:spPr>
      </p:sp>
      <p:sp>
        <p:nvSpPr>
          <p:cNvPr id="6" name="Text 2"/>
          <p:cNvSpPr/>
          <p:nvPr/>
        </p:nvSpPr>
        <p:spPr>
          <a:xfrm>
            <a:off x="347472" y="502920"/>
            <a:ext cx="6400800" cy="256032"/>
          </a:xfrm>
          <a:prstGeom prst="rect">
            <a:avLst/>
          </a:prstGeom>
          <a:noFill/>
          <a:ln/>
        </p:spPr>
        <p:txBody>
          <a:bodyPr wrap="square" lIns="0" tIns="0" rIns="0" bIns="0" rtlCol="0" anchor="ctr"/>
          <a:lstStyle/>
          <a:p>
            <a:pPr indent="0" marL="0">
              <a:buNone/>
            </a:pPr>
            <a:r>
              <a:rPr lang="en-US" sz="1100" b="1" spc="300" kern="0" dirty="0">
                <a:solidFill>
                  <a:srgbClr val="C8A951"/>
                </a:solidFill>
                <a:latin typeface="Calibri" pitchFamily="34" charset="0"/>
                <a:ea typeface="Calibri" pitchFamily="34" charset="-122"/>
                <a:cs typeface="Calibri" pitchFamily="34" charset="-120"/>
              </a:rPr>
              <a:t>LEARNING OUTCOME 3</a:t>
            </a:r>
            <a:endParaRPr lang="en-US" sz="1100" dirty="0"/>
          </a:p>
        </p:txBody>
      </p:sp>
      <p:sp>
        <p:nvSpPr>
          <p:cNvPr id="7" name="Text 3"/>
          <p:cNvSpPr/>
          <p:nvPr/>
        </p:nvSpPr>
        <p:spPr>
          <a:xfrm>
            <a:off x="347472" y="804672"/>
            <a:ext cx="6949440" cy="10058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Produce and Adhere to a Risk Assessment</a:t>
            </a:r>
            <a:endParaRPr lang="en-US" sz="3000" dirty="0"/>
          </a:p>
        </p:txBody>
      </p:sp>
      <p:sp>
        <p:nvSpPr>
          <p:cNvPr id="8" name="Text 4"/>
          <p:cNvSpPr/>
          <p:nvPr/>
        </p:nvSpPr>
        <p:spPr>
          <a:xfrm>
            <a:off x="347472" y="1901952"/>
            <a:ext cx="6217920" cy="384048"/>
          </a:xfrm>
          <a:prstGeom prst="rect">
            <a:avLst/>
          </a:prstGeom>
          <a:noFill/>
          <a:ln/>
        </p:spPr>
        <p:txBody>
          <a:bodyPr wrap="square" lIns="0" tIns="0" rIns="0" bIns="0" rtlCol="0" anchor="ctr"/>
          <a:lstStyle/>
          <a:p>
            <a:pPr indent="0" marL="0">
              <a:buNone/>
            </a:pPr>
            <a:r>
              <a:rPr lang="en-US" sz="1200" i="1" dirty="0">
                <a:solidFill>
                  <a:srgbClr val="E8F5EE"/>
                </a:solidFill>
                <a:latin typeface="Calibri" pitchFamily="34" charset="0"/>
                <a:ea typeface="Calibri" pitchFamily="34" charset="-122"/>
                <a:cs typeface="Calibri" pitchFamily="34" charset="-120"/>
              </a:rPr>
              <a:t>Turn your understanding of risk into a working document — then use it in practice.</a:t>
            </a:r>
            <a:endParaRPr lang="en-US" sz="1200" dirty="0"/>
          </a:p>
        </p:txBody>
      </p:sp>
      <p:sp>
        <p:nvSpPr>
          <p:cNvPr id="9" name="Shape 5"/>
          <p:cNvSpPr/>
          <p:nvPr/>
        </p:nvSpPr>
        <p:spPr>
          <a:xfrm>
            <a:off x="347472" y="2395728"/>
            <a:ext cx="5943600" cy="2377440"/>
          </a:xfrm>
          <a:prstGeom prst="rect">
            <a:avLst/>
          </a:prstGeom>
          <a:solidFill>
            <a:srgbClr val="0A2E18"/>
          </a:solidFill>
          <a:ln w="12700">
            <a:solidFill>
              <a:srgbClr val="1A6B3C"/>
            </a:solidFill>
            <a:prstDash val="solid"/>
          </a:ln>
        </p:spPr>
      </p:sp>
      <p:sp>
        <p:nvSpPr>
          <p:cNvPr id="10" name="Text 6"/>
          <p:cNvSpPr/>
          <p:nvPr/>
        </p:nvSpPr>
        <p:spPr>
          <a:xfrm>
            <a:off x="457200" y="2432304"/>
            <a:ext cx="5669280" cy="256032"/>
          </a:xfrm>
          <a:prstGeom prst="rect">
            <a:avLst/>
          </a:prstGeom>
          <a:noFill/>
          <a:ln/>
        </p:spPr>
        <p:txBody>
          <a:bodyPr wrap="square" lIns="0" tIns="0" rIns="0" bIns="0" rtlCol="0" anchor="ctr"/>
          <a:lstStyle/>
          <a:p>
            <a:pPr indent="0" marL="0">
              <a:buNone/>
            </a:pPr>
            <a:r>
              <a:rPr lang="en-US" sz="1000" b="1" dirty="0">
                <a:solidFill>
                  <a:srgbClr val="C8A951"/>
                </a:solidFill>
                <a:latin typeface="Calibri" pitchFamily="34" charset="0"/>
                <a:ea typeface="Calibri" pitchFamily="34" charset="-122"/>
                <a:cs typeface="Calibri" pitchFamily="34" charset="-120"/>
              </a:rPr>
              <a:t>Assessment Criteria</a:t>
            </a:r>
            <a:endParaRPr lang="en-US" sz="1000" dirty="0"/>
          </a:p>
        </p:txBody>
      </p:sp>
      <p:sp>
        <p:nvSpPr>
          <p:cNvPr id="11" name="Text 7"/>
          <p:cNvSpPr/>
          <p:nvPr/>
        </p:nvSpPr>
        <p:spPr>
          <a:xfrm>
            <a:off x="457200" y="2724912"/>
            <a:ext cx="5687568" cy="1993392"/>
          </a:xfrm>
          <a:prstGeom prst="rect">
            <a:avLst/>
          </a:prstGeom>
          <a:noFill/>
          <a:ln/>
        </p:spPr>
        <p:txBody>
          <a:bodyPr wrap="square" lIns="0" tIns="0" rIns="0" bIns="0" rtlCol="0" anchor="t"/>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3.1  Develop a risk assessment (RA template in workbook; include safety requirements &amp; codes of conduct)</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3.2  Explain how to ensure equipment and clothing is fit for purpose</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3.3  Demonstrate adherence to the RA during the activity — OBSERVATION</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3.4  Review the RA following the activity — explain what worked and whether revisions are needed</a:t>
            </a:r>
            <a:endParaRPr lang="en-US" sz="1100" dirty="0"/>
          </a:p>
        </p:txBody>
      </p:sp>
      <p:sp>
        <p:nvSpPr>
          <p:cNvPr id="12" name="Shape 8"/>
          <p:cNvSpPr/>
          <p:nvPr/>
        </p:nvSpPr>
        <p:spPr>
          <a:xfrm>
            <a:off x="0" y="4983480"/>
            <a:ext cx="9144000" cy="160020"/>
          </a:xfrm>
          <a:prstGeom prst="rect">
            <a:avLst/>
          </a:prstGeom>
          <a:solidFill>
            <a:srgbClr val="0A2E18"/>
          </a:solidFill>
          <a:ln w="12700">
            <a:solidFill>
              <a:srgbClr val="0A2E18"/>
            </a:solidFill>
            <a:prstDash val="solid"/>
          </a:ln>
        </p:spPr>
      </p:sp>
      <p:sp>
        <p:nvSpPr>
          <p:cNvPr id="13" name="Text 9"/>
          <p:cNvSpPr/>
          <p:nvPr/>
        </p:nvSpPr>
        <p:spPr>
          <a:xfrm>
            <a:off x="274320" y="4983480"/>
            <a:ext cx="8595360" cy="160020"/>
          </a:xfrm>
          <a:prstGeom prst="rect">
            <a:avLst/>
          </a:prstGeom>
          <a:noFill/>
          <a:ln/>
        </p:spPr>
        <p:txBody>
          <a:bodyPr wrap="square" lIns="0" tIns="0" rIns="0" bIns="0" rtlCol="0" anchor="ctr"/>
          <a:lstStyle/>
          <a:p>
            <a:pPr algn="ctr" indent="0" marL="0">
              <a:buNone/>
            </a:pPr>
            <a:r>
              <a:rPr lang="en-US" sz="800" dirty="0">
                <a:solidFill>
                  <a:srgbClr val="E8F5EE"/>
                </a:solidFill>
                <a:latin typeface="Calibri" pitchFamily="34" charset="0"/>
                <a:ea typeface="Calibri" pitchFamily="34" charset="-122"/>
                <a:cs typeface="Calibri" pitchFamily="34" charset="-120"/>
              </a:rPr>
              <a:t>HB93CY003  |  Risk Management when Learning in the Outdoors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69480" y="64008"/>
            <a:ext cx="694944" cy="484632"/>
          </a:xfrm>
          <a:prstGeom prst="rect">
            <a:avLst/>
          </a:prstGeom>
        </p:spPr>
      </p:pic>
      <p:pic>
        <p:nvPicPr>
          <p:cNvPr id="3" name="Image 1" descr="preencoded.png">    </p:cNvPr>
          <p:cNvPicPr>
            <a:picLocks noChangeAspect="1"/>
          </p:cNvPicPr>
          <p:nvPr/>
        </p:nvPicPr>
        <p:blipFill>
          <a:blip r:embed="rId2"/>
          <a:stretch>
            <a:fillRect/>
          </a:stretch>
        </p:blipFill>
        <p:spPr>
          <a:xfrm>
            <a:off x="8019288" y="91440"/>
            <a:ext cx="969264" cy="402336"/>
          </a:xfrm>
          <a:prstGeom prst="rect">
            <a:avLst/>
          </a:prstGeom>
        </p:spPr>
      </p:pic>
      <p:sp>
        <p:nvSpPr>
          <p:cNvPr id="4" name="Shape 0"/>
          <p:cNvSpPr/>
          <p:nvPr/>
        </p:nvSpPr>
        <p:spPr>
          <a:xfrm>
            <a:off x="0" y="4983480"/>
            <a:ext cx="9144000" cy="160020"/>
          </a:xfrm>
          <a:prstGeom prst="rect">
            <a:avLst/>
          </a:prstGeom>
          <a:solidFill>
            <a:srgbClr val="1A6B3C"/>
          </a:solidFill>
          <a:ln w="12700">
            <a:solidFill>
              <a:srgbClr val="1A6B3C"/>
            </a:solidFill>
            <a:prstDash val="solid"/>
          </a:ln>
        </p:spPr>
      </p:sp>
      <p:sp>
        <p:nvSpPr>
          <p:cNvPr id="5" name="Text 1"/>
          <p:cNvSpPr/>
          <p:nvPr/>
        </p:nvSpPr>
        <p:spPr>
          <a:xfrm>
            <a:off x="109728" y="4983480"/>
            <a:ext cx="2286000" cy="160020"/>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HB93CY003</a:t>
            </a:r>
            <a:endParaRPr lang="en-US" sz="800" dirty="0"/>
          </a:p>
        </p:txBody>
      </p:sp>
      <p:sp>
        <p:nvSpPr>
          <p:cNvPr id="6" name="Text 2"/>
          <p:cNvSpPr/>
          <p:nvPr/>
        </p:nvSpPr>
        <p:spPr>
          <a:xfrm>
            <a:off x="3200400" y="4983480"/>
            <a:ext cx="5833872" cy="160020"/>
          </a:xfrm>
          <a:prstGeom prst="rect">
            <a:avLst/>
          </a:prstGeom>
          <a:noFill/>
          <a:ln/>
        </p:spPr>
        <p:txBody>
          <a:bodyPr wrap="square" lIns="0" tIns="0" rIns="0" bIns="0" rtlCol="0" anchor="ctr"/>
          <a:lstStyle/>
          <a:p>
            <a:pPr algn="r" indent="0" marL="0">
              <a:buNone/>
            </a:pPr>
            <a:r>
              <a:rPr lang="en-US" sz="800" dirty="0">
                <a:solidFill>
                  <a:srgbClr val="FFFFFF"/>
                </a:solidFill>
                <a:latin typeface="Calibri" pitchFamily="34" charset="0"/>
                <a:ea typeface="Calibri" pitchFamily="34" charset="-122"/>
                <a:cs typeface="Calibri" pitchFamily="34" charset="-120"/>
              </a:rPr>
              <a:t>Risk Management when Learning in the Outdoors  |  Level 3</a:t>
            </a:r>
            <a:endParaRPr lang="en-US" sz="800" dirty="0"/>
          </a:p>
        </p:txBody>
      </p:sp>
      <p:sp>
        <p:nvSpPr>
          <p:cNvPr id="7" name="Text 3"/>
          <p:cNvSpPr/>
          <p:nvPr/>
        </p:nvSpPr>
        <p:spPr>
          <a:xfrm>
            <a:off x="365760" y="109728"/>
            <a:ext cx="6812280" cy="530352"/>
          </a:xfrm>
          <a:prstGeom prst="rect">
            <a:avLst/>
          </a:prstGeom>
          <a:noFill/>
          <a:ln/>
        </p:spPr>
        <p:txBody>
          <a:bodyPr wrap="square" lIns="0" tIns="0" rIns="0" bIns="0" rtlCol="0" anchor="ctr"/>
          <a:lstStyle/>
          <a:p>
            <a:pPr indent="0" marL="0">
              <a:buNone/>
            </a:pPr>
            <a:r>
              <a:rPr lang="en-US" sz="2200" b="1" dirty="0">
                <a:solidFill>
                  <a:srgbClr val="0F4525"/>
                </a:solidFill>
                <a:latin typeface="Calibri" pitchFamily="34" charset="0"/>
                <a:ea typeface="Calibri" pitchFamily="34" charset="-122"/>
                <a:cs typeface="Calibri" pitchFamily="34" charset="-120"/>
              </a:rPr>
              <a:t>How to Complete Your Risk Assessment (AC 3.1)</a:t>
            </a:r>
            <a:endParaRPr lang="en-US" sz="2200" dirty="0"/>
          </a:p>
        </p:txBody>
      </p:sp>
      <p:sp>
        <p:nvSpPr>
          <p:cNvPr id="8" name="Shape 4"/>
          <p:cNvSpPr/>
          <p:nvPr/>
        </p:nvSpPr>
        <p:spPr>
          <a:xfrm>
            <a:off x="365760" y="877824"/>
            <a:ext cx="1143000" cy="201168"/>
          </a:xfrm>
          <a:prstGeom prst="rect">
            <a:avLst/>
          </a:prstGeom>
          <a:solidFill>
            <a:srgbClr val="C8A951"/>
          </a:solidFill>
          <a:ln w="12700">
            <a:solidFill>
              <a:srgbClr val="C8A951"/>
            </a:solidFill>
            <a:prstDash val="solid"/>
          </a:ln>
        </p:spPr>
      </p:sp>
      <p:sp>
        <p:nvSpPr>
          <p:cNvPr id="9" name="Text 5"/>
          <p:cNvSpPr/>
          <p:nvPr/>
        </p:nvSpPr>
        <p:spPr>
          <a:xfrm>
            <a:off x="365760" y="877824"/>
            <a:ext cx="1143000" cy="201168"/>
          </a:xfrm>
          <a:prstGeom prst="rect">
            <a:avLst/>
          </a:prstGeom>
          <a:noFill/>
          <a:ln/>
        </p:spPr>
        <p:txBody>
          <a:bodyPr wrap="square" lIns="0" tIns="0" rIns="0" bIns="0" rtlCol="0" anchor="ctr"/>
          <a:lstStyle/>
          <a:p>
            <a:pPr algn="ctr" indent="0" marL="0">
              <a:buNone/>
            </a:pPr>
            <a:r>
              <a:rPr lang="en-US" sz="900" b="1" dirty="0">
                <a:solidFill>
                  <a:srgbClr val="3D2A00"/>
                </a:solidFill>
                <a:latin typeface="Calibri" pitchFamily="34" charset="0"/>
                <a:ea typeface="Calibri" pitchFamily="34" charset="-122"/>
                <a:cs typeface="Calibri" pitchFamily="34" charset="-120"/>
              </a:rPr>
              <a:t>AC 3.1</a:t>
            </a:r>
            <a:endParaRPr lang="en-US" sz="900" dirty="0"/>
          </a:p>
        </p:txBody>
      </p:sp>
      <p:sp>
        <p:nvSpPr>
          <p:cNvPr id="10" name="Shape 6"/>
          <p:cNvSpPr/>
          <p:nvPr/>
        </p:nvSpPr>
        <p:spPr>
          <a:xfrm>
            <a:off x="365760" y="1060704"/>
            <a:ext cx="4114800" cy="1115568"/>
          </a:xfrm>
          <a:prstGeom prst="rect">
            <a:avLst/>
          </a:prstGeom>
          <a:solidFill>
            <a:srgbClr val="FFFFFF"/>
          </a:solidFill>
          <a:ln w="9525">
            <a:solidFill>
              <a:srgbClr val="D4D4CC"/>
            </a:solidFill>
            <a:prstDash val="solid"/>
          </a:ln>
          <a:effectLst>
            <a:outerShdw sx="100000" sy="100000" kx="0" ky="0" algn="bl" rotWithShape="0" blurRad="63500" dist="25400" dir="8100000">
              <a:srgbClr val="000000">
                <a:alpha val="12000"/>
              </a:srgbClr>
            </a:outerShdw>
          </a:effectLst>
        </p:spPr>
      </p:sp>
      <p:sp>
        <p:nvSpPr>
          <p:cNvPr id="11" name="Shape 7"/>
          <p:cNvSpPr/>
          <p:nvPr/>
        </p:nvSpPr>
        <p:spPr>
          <a:xfrm>
            <a:off x="365760" y="1060704"/>
            <a:ext cx="749808" cy="1115568"/>
          </a:xfrm>
          <a:prstGeom prst="rect">
            <a:avLst/>
          </a:prstGeom>
          <a:solidFill>
            <a:srgbClr val="0F4525"/>
          </a:solidFill>
          <a:ln w="12700">
            <a:solidFill>
              <a:srgbClr val="0F4525"/>
            </a:solidFill>
            <a:prstDash val="solid"/>
          </a:ln>
        </p:spPr>
      </p:sp>
      <p:sp>
        <p:nvSpPr>
          <p:cNvPr id="12" name="Text 8"/>
          <p:cNvSpPr/>
          <p:nvPr/>
        </p:nvSpPr>
        <p:spPr>
          <a:xfrm>
            <a:off x="365760" y="1060704"/>
            <a:ext cx="749808" cy="420624"/>
          </a:xfrm>
          <a:prstGeom prst="rect">
            <a:avLst/>
          </a:prstGeom>
          <a:noFill/>
          <a:ln/>
        </p:spPr>
        <p:txBody>
          <a:bodyPr wrap="square" lIns="0" tIns="0" rIns="0" bIns="0" rtlCol="0" anchor="ctr"/>
          <a:lstStyle/>
          <a:p>
            <a:pPr algn="ctr" indent="0" marL="0">
              <a:buNone/>
            </a:pPr>
            <a:r>
              <a:rPr lang="en-US" sz="1000" b="1" dirty="0">
                <a:solidFill>
                  <a:srgbClr val="C8A951"/>
                </a:solidFill>
                <a:latin typeface="Calibri" pitchFamily="34" charset="0"/>
                <a:ea typeface="Calibri" pitchFamily="34" charset="-122"/>
                <a:cs typeface="Calibri" pitchFamily="34" charset="-120"/>
              </a:rPr>
              <a:t>Step 1</a:t>
            </a:r>
            <a:endParaRPr lang="en-US" sz="1000" dirty="0"/>
          </a:p>
        </p:txBody>
      </p:sp>
      <p:sp>
        <p:nvSpPr>
          <p:cNvPr id="13" name="Text 9"/>
          <p:cNvSpPr/>
          <p:nvPr/>
        </p:nvSpPr>
        <p:spPr>
          <a:xfrm>
            <a:off x="365760" y="1481328"/>
            <a:ext cx="749808" cy="694944"/>
          </a:xfrm>
          <a:prstGeom prst="rect">
            <a:avLst/>
          </a:prstGeom>
          <a:noFill/>
          <a:ln/>
        </p:spPr>
        <p:txBody>
          <a:bodyPr wrap="square" lIns="0" tIns="50800" rIns="50800" bIns="0" rtlCol="0" anchor="t"/>
          <a:lstStyle/>
          <a:p>
            <a:pPr algn="ctr" indent="0" marL="0">
              <a:buNone/>
            </a:pPr>
            <a:r>
              <a:rPr lang="en-US" sz="900" dirty="0">
                <a:solidFill>
                  <a:srgbClr val="E8F5EE"/>
                </a:solidFill>
                <a:latin typeface="Calibri" pitchFamily="34" charset="0"/>
                <a:ea typeface="Calibri" pitchFamily="34" charset="-122"/>
                <a:cs typeface="Calibri" pitchFamily="34" charset="-120"/>
              </a:rPr>
              <a:t>Identify hazards</a:t>
            </a:r>
            <a:endParaRPr lang="en-US" sz="900" dirty="0"/>
          </a:p>
        </p:txBody>
      </p:sp>
      <p:sp>
        <p:nvSpPr>
          <p:cNvPr id="14" name="Text 10"/>
          <p:cNvSpPr/>
          <p:nvPr/>
        </p:nvSpPr>
        <p:spPr>
          <a:xfrm>
            <a:off x="1170432" y="1115568"/>
            <a:ext cx="3255264" cy="100584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Site visit, experience, previous RAs, incident reports, manufacturer guidance. At Level 3: minimum 5 hazard rows.</a:t>
            </a:r>
            <a:endParaRPr lang="en-US" sz="1000" dirty="0"/>
          </a:p>
        </p:txBody>
      </p:sp>
      <p:sp>
        <p:nvSpPr>
          <p:cNvPr id="15" name="Shape 11"/>
          <p:cNvSpPr/>
          <p:nvPr/>
        </p:nvSpPr>
        <p:spPr>
          <a:xfrm>
            <a:off x="4590288" y="1060704"/>
            <a:ext cx="4114800" cy="1115568"/>
          </a:xfrm>
          <a:prstGeom prst="rect">
            <a:avLst/>
          </a:prstGeom>
          <a:solidFill>
            <a:srgbClr val="FFFFFF"/>
          </a:solidFill>
          <a:ln w="9525">
            <a:solidFill>
              <a:srgbClr val="D4D4CC"/>
            </a:solidFill>
            <a:prstDash val="solid"/>
          </a:ln>
          <a:effectLst>
            <a:outerShdw sx="100000" sy="100000" kx="0" ky="0" algn="bl" rotWithShape="0" blurRad="63500" dist="25400" dir="8100000">
              <a:srgbClr val="000000">
                <a:alpha val="12000"/>
              </a:srgbClr>
            </a:outerShdw>
          </a:effectLst>
        </p:spPr>
      </p:sp>
      <p:sp>
        <p:nvSpPr>
          <p:cNvPr id="16" name="Shape 12"/>
          <p:cNvSpPr/>
          <p:nvPr/>
        </p:nvSpPr>
        <p:spPr>
          <a:xfrm>
            <a:off x="4590288" y="1060704"/>
            <a:ext cx="749808" cy="1115568"/>
          </a:xfrm>
          <a:prstGeom prst="rect">
            <a:avLst/>
          </a:prstGeom>
          <a:solidFill>
            <a:srgbClr val="0F4525"/>
          </a:solidFill>
          <a:ln w="12700">
            <a:solidFill>
              <a:srgbClr val="0F4525"/>
            </a:solidFill>
            <a:prstDash val="solid"/>
          </a:ln>
        </p:spPr>
      </p:sp>
      <p:sp>
        <p:nvSpPr>
          <p:cNvPr id="17" name="Text 13"/>
          <p:cNvSpPr/>
          <p:nvPr/>
        </p:nvSpPr>
        <p:spPr>
          <a:xfrm>
            <a:off x="4590288" y="1060704"/>
            <a:ext cx="749808" cy="420624"/>
          </a:xfrm>
          <a:prstGeom prst="rect">
            <a:avLst/>
          </a:prstGeom>
          <a:noFill/>
          <a:ln/>
        </p:spPr>
        <p:txBody>
          <a:bodyPr wrap="square" lIns="0" tIns="0" rIns="0" bIns="0" rtlCol="0" anchor="ctr"/>
          <a:lstStyle/>
          <a:p>
            <a:pPr algn="ctr" indent="0" marL="0">
              <a:buNone/>
            </a:pPr>
            <a:r>
              <a:rPr lang="en-US" sz="1000" b="1" dirty="0">
                <a:solidFill>
                  <a:srgbClr val="C8A951"/>
                </a:solidFill>
                <a:latin typeface="Calibri" pitchFamily="34" charset="0"/>
                <a:ea typeface="Calibri" pitchFamily="34" charset="-122"/>
                <a:cs typeface="Calibri" pitchFamily="34" charset="-120"/>
              </a:rPr>
              <a:t>Step 2</a:t>
            </a:r>
            <a:endParaRPr lang="en-US" sz="1000" dirty="0"/>
          </a:p>
        </p:txBody>
      </p:sp>
      <p:sp>
        <p:nvSpPr>
          <p:cNvPr id="18" name="Text 14"/>
          <p:cNvSpPr/>
          <p:nvPr/>
        </p:nvSpPr>
        <p:spPr>
          <a:xfrm>
            <a:off x="4590288" y="1481328"/>
            <a:ext cx="749808" cy="694944"/>
          </a:xfrm>
          <a:prstGeom prst="rect">
            <a:avLst/>
          </a:prstGeom>
          <a:noFill/>
          <a:ln/>
        </p:spPr>
        <p:txBody>
          <a:bodyPr wrap="square" lIns="0" tIns="50800" rIns="50800" bIns="0" rtlCol="0" anchor="t"/>
          <a:lstStyle/>
          <a:p>
            <a:pPr algn="ctr" indent="0" marL="0">
              <a:buNone/>
            </a:pPr>
            <a:r>
              <a:rPr lang="en-US" sz="900" dirty="0">
                <a:solidFill>
                  <a:srgbClr val="E8F5EE"/>
                </a:solidFill>
                <a:latin typeface="Calibri" pitchFamily="34" charset="0"/>
                <a:ea typeface="Calibri" pitchFamily="34" charset="-122"/>
                <a:cs typeface="Calibri" pitchFamily="34" charset="-120"/>
              </a:rPr>
              <a:t>Identify who is at risk</a:t>
            </a:r>
            <a:endParaRPr lang="en-US" sz="900" dirty="0"/>
          </a:p>
        </p:txBody>
      </p:sp>
      <p:sp>
        <p:nvSpPr>
          <p:cNvPr id="19" name="Text 15"/>
          <p:cNvSpPr/>
          <p:nvPr/>
        </p:nvSpPr>
        <p:spPr>
          <a:xfrm>
            <a:off x="5394960" y="1115568"/>
            <a:ext cx="3255264" cy="100584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Participants, leaders, staff, members of public, bystanders.</a:t>
            </a:r>
            <a:endParaRPr lang="en-US" sz="1000" dirty="0"/>
          </a:p>
        </p:txBody>
      </p:sp>
      <p:sp>
        <p:nvSpPr>
          <p:cNvPr id="20" name="Shape 16"/>
          <p:cNvSpPr/>
          <p:nvPr/>
        </p:nvSpPr>
        <p:spPr>
          <a:xfrm>
            <a:off x="365760" y="2286000"/>
            <a:ext cx="4114800" cy="1115568"/>
          </a:xfrm>
          <a:prstGeom prst="rect">
            <a:avLst/>
          </a:prstGeom>
          <a:solidFill>
            <a:srgbClr val="FFFFFF"/>
          </a:solidFill>
          <a:ln w="9525">
            <a:solidFill>
              <a:srgbClr val="D4D4CC"/>
            </a:solidFill>
            <a:prstDash val="solid"/>
          </a:ln>
          <a:effectLst>
            <a:outerShdw sx="100000" sy="100000" kx="0" ky="0" algn="bl" rotWithShape="0" blurRad="63500" dist="25400" dir="8100000">
              <a:srgbClr val="000000">
                <a:alpha val="12000"/>
              </a:srgbClr>
            </a:outerShdw>
          </a:effectLst>
        </p:spPr>
      </p:sp>
      <p:sp>
        <p:nvSpPr>
          <p:cNvPr id="21" name="Shape 17"/>
          <p:cNvSpPr/>
          <p:nvPr/>
        </p:nvSpPr>
        <p:spPr>
          <a:xfrm>
            <a:off x="365760" y="2286000"/>
            <a:ext cx="749808" cy="1115568"/>
          </a:xfrm>
          <a:prstGeom prst="rect">
            <a:avLst/>
          </a:prstGeom>
          <a:solidFill>
            <a:srgbClr val="0F4525"/>
          </a:solidFill>
          <a:ln w="12700">
            <a:solidFill>
              <a:srgbClr val="0F4525"/>
            </a:solidFill>
            <a:prstDash val="solid"/>
          </a:ln>
        </p:spPr>
      </p:sp>
      <p:sp>
        <p:nvSpPr>
          <p:cNvPr id="22" name="Text 18"/>
          <p:cNvSpPr/>
          <p:nvPr/>
        </p:nvSpPr>
        <p:spPr>
          <a:xfrm>
            <a:off x="365760" y="2286000"/>
            <a:ext cx="749808" cy="420624"/>
          </a:xfrm>
          <a:prstGeom prst="rect">
            <a:avLst/>
          </a:prstGeom>
          <a:noFill/>
          <a:ln/>
        </p:spPr>
        <p:txBody>
          <a:bodyPr wrap="square" lIns="0" tIns="0" rIns="0" bIns="0" rtlCol="0" anchor="ctr"/>
          <a:lstStyle/>
          <a:p>
            <a:pPr algn="ctr" indent="0" marL="0">
              <a:buNone/>
            </a:pPr>
            <a:r>
              <a:rPr lang="en-US" sz="1000" b="1" dirty="0">
                <a:solidFill>
                  <a:srgbClr val="C8A951"/>
                </a:solidFill>
                <a:latin typeface="Calibri" pitchFamily="34" charset="0"/>
                <a:ea typeface="Calibri" pitchFamily="34" charset="-122"/>
                <a:cs typeface="Calibri" pitchFamily="34" charset="-120"/>
              </a:rPr>
              <a:t>Step 3</a:t>
            </a:r>
            <a:endParaRPr lang="en-US" sz="1000" dirty="0"/>
          </a:p>
        </p:txBody>
      </p:sp>
      <p:sp>
        <p:nvSpPr>
          <p:cNvPr id="23" name="Text 19"/>
          <p:cNvSpPr/>
          <p:nvPr/>
        </p:nvSpPr>
        <p:spPr>
          <a:xfrm>
            <a:off x="365760" y="2706624"/>
            <a:ext cx="749808" cy="694944"/>
          </a:xfrm>
          <a:prstGeom prst="rect">
            <a:avLst/>
          </a:prstGeom>
          <a:noFill/>
          <a:ln/>
        </p:spPr>
        <p:txBody>
          <a:bodyPr wrap="square" lIns="0" tIns="50800" rIns="50800" bIns="0" rtlCol="0" anchor="t"/>
          <a:lstStyle/>
          <a:p>
            <a:pPr algn="ctr" indent="0" marL="0">
              <a:buNone/>
            </a:pPr>
            <a:r>
              <a:rPr lang="en-US" sz="900" dirty="0">
                <a:solidFill>
                  <a:srgbClr val="E8F5EE"/>
                </a:solidFill>
                <a:latin typeface="Calibri" pitchFamily="34" charset="0"/>
                <a:ea typeface="Calibri" pitchFamily="34" charset="-122"/>
                <a:cs typeface="Calibri" pitchFamily="34" charset="-120"/>
              </a:rPr>
              <a:t>Score likelihood &amp; severity</a:t>
            </a:r>
            <a:endParaRPr lang="en-US" sz="900" dirty="0"/>
          </a:p>
        </p:txBody>
      </p:sp>
      <p:sp>
        <p:nvSpPr>
          <p:cNvPr id="24" name="Text 20"/>
          <p:cNvSpPr/>
          <p:nvPr/>
        </p:nvSpPr>
        <p:spPr>
          <a:xfrm>
            <a:off x="1170432" y="2340864"/>
            <a:ext cx="3255264" cy="100584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Use the 1–5 scales. L×S = Risk Rating. 10+ = HIGH risk — must have strong control measures before proceeding.</a:t>
            </a:r>
            <a:endParaRPr lang="en-US" sz="1000" dirty="0"/>
          </a:p>
        </p:txBody>
      </p:sp>
      <p:sp>
        <p:nvSpPr>
          <p:cNvPr id="25" name="Shape 21"/>
          <p:cNvSpPr/>
          <p:nvPr/>
        </p:nvSpPr>
        <p:spPr>
          <a:xfrm>
            <a:off x="4590288" y="2286000"/>
            <a:ext cx="4114800" cy="1115568"/>
          </a:xfrm>
          <a:prstGeom prst="rect">
            <a:avLst/>
          </a:prstGeom>
          <a:solidFill>
            <a:srgbClr val="FFFFFF"/>
          </a:solidFill>
          <a:ln w="9525">
            <a:solidFill>
              <a:srgbClr val="D4D4CC"/>
            </a:solidFill>
            <a:prstDash val="solid"/>
          </a:ln>
          <a:effectLst>
            <a:outerShdw sx="100000" sy="100000" kx="0" ky="0" algn="bl" rotWithShape="0" blurRad="63500" dist="25400" dir="8100000">
              <a:srgbClr val="000000">
                <a:alpha val="12000"/>
              </a:srgbClr>
            </a:outerShdw>
          </a:effectLst>
        </p:spPr>
      </p:sp>
      <p:sp>
        <p:nvSpPr>
          <p:cNvPr id="26" name="Shape 22"/>
          <p:cNvSpPr/>
          <p:nvPr/>
        </p:nvSpPr>
        <p:spPr>
          <a:xfrm>
            <a:off x="4590288" y="2286000"/>
            <a:ext cx="749808" cy="1115568"/>
          </a:xfrm>
          <a:prstGeom prst="rect">
            <a:avLst/>
          </a:prstGeom>
          <a:solidFill>
            <a:srgbClr val="0F4525"/>
          </a:solidFill>
          <a:ln w="12700">
            <a:solidFill>
              <a:srgbClr val="0F4525"/>
            </a:solidFill>
            <a:prstDash val="solid"/>
          </a:ln>
        </p:spPr>
      </p:sp>
      <p:sp>
        <p:nvSpPr>
          <p:cNvPr id="27" name="Text 23"/>
          <p:cNvSpPr/>
          <p:nvPr/>
        </p:nvSpPr>
        <p:spPr>
          <a:xfrm>
            <a:off x="4590288" y="2286000"/>
            <a:ext cx="749808" cy="420624"/>
          </a:xfrm>
          <a:prstGeom prst="rect">
            <a:avLst/>
          </a:prstGeom>
          <a:noFill/>
          <a:ln/>
        </p:spPr>
        <p:txBody>
          <a:bodyPr wrap="square" lIns="0" tIns="0" rIns="0" bIns="0" rtlCol="0" anchor="ctr"/>
          <a:lstStyle/>
          <a:p>
            <a:pPr algn="ctr" indent="0" marL="0">
              <a:buNone/>
            </a:pPr>
            <a:r>
              <a:rPr lang="en-US" sz="1000" b="1" dirty="0">
                <a:solidFill>
                  <a:srgbClr val="C8A951"/>
                </a:solidFill>
                <a:latin typeface="Calibri" pitchFamily="34" charset="0"/>
                <a:ea typeface="Calibri" pitchFamily="34" charset="-122"/>
                <a:cs typeface="Calibri" pitchFamily="34" charset="-120"/>
              </a:rPr>
              <a:t>Step 4</a:t>
            </a:r>
            <a:endParaRPr lang="en-US" sz="1000" dirty="0"/>
          </a:p>
        </p:txBody>
      </p:sp>
      <p:sp>
        <p:nvSpPr>
          <p:cNvPr id="28" name="Text 24"/>
          <p:cNvSpPr/>
          <p:nvPr/>
        </p:nvSpPr>
        <p:spPr>
          <a:xfrm>
            <a:off x="4590288" y="2706624"/>
            <a:ext cx="749808" cy="694944"/>
          </a:xfrm>
          <a:prstGeom prst="rect">
            <a:avLst/>
          </a:prstGeom>
          <a:noFill/>
          <a:ln/>
        </p:spPr>
        <p:txBody>
          <a:bodyPr wrap="square" lIns="0" tIns="50800" rIns="50800" bIns="0" rtlCol="0" anchor="t"/>
          <a:lstStyle/>
          <a:p>
            <a:pPr algn="ctr" indent="0" marL="0">
              <a:buNone/>
            </a:pPr>
            <a:r>
              <a:rPr lang="en-US" sz="900" dirty="0">
                <a:solidFill>
                  <a:srgbClr val="E8F5EE"/>
                </a:solidFill>
                <a:latin typeface="Calibri" pitchFamily="34" charset="0"/>
                <a:ea typeface="Calibri" pitchFamily="34" charset="-122"/>
                <a:cs typeface="Calibri" pitchFamily="34" charset="-120"/>
              </a:rPr>
              <a:t>Record control measures</a:t>
            </a:r>
            <a:endParaRPr lang="en-US" sz="900" dirty="0"/>
          </a:p>
        </p:txBody>
      </p:sp>
      <p:sp>
        <p:nvSpPr>
          <p:cNvPr id="29" name="Text 25"/>
          <p:cNvSpPr/>
          <p:nvPr/>
        </p:nvSpPr>
        <p:spPr>
          <a:xfrm>
            <a:off x="5394960" y="2340864"/>
            <a:ext cx="3255264" cy="100584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Specific actions to reduce likelihood and/or severity. Reference NGB guidance and legislation.</a:t>
            </a:r>
            <a:endParaRPr lang="en-US" sz="1000" dirty="0"/>
          </a:p>
        </p:txBody>
      </p:sp>
      <p:sp>
        <p:nvSpPr>
          <p:cNvPr id="30" name="Shape 26"/>
          <p:cNvSpPr/>
          <p:nvPr/>
        </p:nvSpPr>
        <p:spPr>
          <a:xfrm>
            <a:off x="365760" y="3511296"/>
            <a:ext cx="4114800" cy="1115568"/>
          </a:xfrm>
          <a:prstGeom prst="rect">
            <a:avLst/>
          </a:prstGeom>
          <a:solidFill>
            <a:srgbClr val="FFFFFF"/>
          </a:solidFill>
          <a:ln w="9525">
            <a:solidFill>
              <a:srgbClr val="D4D4CC"/>
            </a:solidFill>
            <a:prstDash val="solid"/>
          </a:ln>
          <a:effectLst>
            <a:outerShdw sx="100000" sy="100000" kx="0" ky="0" algn="bl" rotWithShape="0" blurRad="63500" dist="25400" dir="8100000">
              <a:srgbClr val="000000">
                <a:alpha val="12000"/>
              </a:srgbClr>
            </a:outerShdw>
          </a:effectLst>
        </p:spPr>
      </p:sp>
      <p:sp>
        <p:nvSpPr>
          <p:cNvPr id="31" name="Shape 27"/>
          <p:cNvSpPr/>
          <p:nvPr/>
        </p:nvSpPr>
        <p:spPr>
          <a:xfrm>
            <a:off x="365760" y="3511296"/>
            <a:ext cx="749808" cy="1115568"/>
          </a:xfrm>
          <a:prstGeom prst="rect">
            <a:avLst/>
          </a:prstGeom>
          <a:solidFill>
            <a:srgbClr val="0F4525"/>
          </a:solidFill>
          <a:ln w="12700">
            <a:solidFill>
              <a:srgbClr val="0F4525"/>
            </a:solidFill>
            <a:prstDash val="solid"/>
          </a:ln>
        </p:spPr>
      </p:sp>
      <p:sp>
        <p:nvSpPr>
          <p:cNvPr id="32" name="Text 28"/>
          <p:cNvSpPr/>
          <p:nvPr/>
        </p:nvSpPr>
        <p:spPr>
          <a:xfrm>
            <a:off x="365760" y="3511296"/>
            <a:ext cx="749808" cy="420624"/>
          </a:xfrm>
          <a:prstGeom prst="rect">
            <a:avLst/>
          </a:prstGeom>
          <a:noFill/>
          <a:ln/>
        </p:spPr>
        <p:txBody>
          <a:bodyPr wrap="square" lIns="0" tIns="0" rIns="0" bIns="0" rtlCol="0" anchor="ctr"/>
          <a:lstStyle/>
          <a:p>
            <a:pPr algn="ctr" indent="0" marL="0">
              <a:buNone/>
            </a:pPr>
            <a:r>
              <a:rPr lang="en-US" sz="1000" b="1" dirty="0">
                <a:solidFill>
                  <a:srgbClr val="C8A951"/>
                </a:solidFill>
                <a:latin typeface="Calibri" pitchFamily="34" charset="0"/>
                <a:ea typeface="Calibri" pitchFamily="34" charset="-122"/>
                <a:cs typeface="Calibri" pitchFamily="34" charset="-120"/>
              </a:rPr>
              <a:t>Step 5</a:t>
            </a:r>
            <a:endParaRPr lang="en-US" sz="1000" dirty="0"/>
          </a:p>
        </p:txBody>
      </p:sp>
      <p:sp>
        <p:nvSpPr>
          <p:cNvPr id="33" name="Text 29"/>
          <p:cNvSpPr/>
          <p:nvPr/>
        </p:nvSpPr>
        <p:spPr>
          <a:xfrm>
            <a:off x="365760" y="3931920"/>
            <a:ext cx="749808" cy="694944"/>
          </a:xfrm>
          <a:prstGeom prst="rect">
            <a:avLst/>
          </a:prstGeom>
          <a:noFill/>
          <a:ln/>
        </p:spPr>
        <p:txBody>
          <a:bodyPr wrap="square" lIns="0" tIns="50800" rIns="50800" bIns="0" rtlCol="0" anchor="t"/>
          <a:lstStyle/>
          <a:p>
            <a:pPr algn="ctr" indent="0" marL="0">
              <a:buNone/>
            </a:pPr>
            <a:r>
              <a:rPr lang="en-US" sz="900" dirty="0">
                <a:solidFill>
                  <a:srgbClr val="E8F5EE"/>
                </a:solidFill>
                <a:latin typeface="Calibri" pitchFamily="34" charset="0"/>
                <a:ea typeface="Calibri" pitchFamily="34" charset="-122"/>
                <a:cs typeface="Calibri" pitchFamily="34" charset="-120"/>
              </a:rPr>
              <a:t>Assess residual risk</a:t>
            </a:r>
            <a:endParaRPr lang="en-US" sz="900" dirty="0"/>
          </a:p>
        </p:txBody>
      </p:sp>
      <p:sp>
        <p:nvSpPr>
          <p:cNvPr id="34" name="Text 30"/>
          <p:cNvSpPr/>
          <p:nvPr/>
        </p:nvSpPr>
        <p:spPr>
          <a:xfrm>
            <a:off x="1170432" y="3566160"/>
            <a:ext cx="3255264" cy="100584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After controls: is the remaining risk Low or Medium? If still High, additional controls are needed.</a:t>
            </a:r>
            <a:endParaRPr lang="en-US" sz="1000" dirty="0"/>
          </a:p>
        </p:txBody>
      </p:sp>
      <p:sp>
        <p:nvSpPr>
          <p:cNvPr id="35" name="Shape 31"/>
          <p:cNvSpPr/>
          <p:nvPr/>
        </p:nvSpPr>
        <p:spPr>
          <a:xfrm>
            <a:off x="4590288" y="3511296"/>
            <a:ext cx="4114800" cy="1115568"/>
          </a:xfrm>
          <a:prstGeom prst="rect">
            <a:avLst/>
          </a:prstGeom>
          <a:solidFill>
            <a:srgbClr val="FFFFFF"/>
          </a:solidFill>
          <a:ln w="9525">
            <a:solidFill>
              <a:srgbClr val="D4D4CC"/>
            </a:solidFill>
            <a:prstDash val="solid"/>
          </a:ln>
          <a:effectLst>
            <a:outerShdw sx="100000" sy="100000" kx="0" ky="0" algn="bl" rotWithShape="0" blurRad="63500" dist="25400" dir="8100000">
              <a:srgbClr val="000000">
                <a:alpha val="12000"/>
              </a:srgbClr>
            </a:outerShdw>
          </a:effectLst>
        </p:spPr>
      </p:sp>
      <p:sp>
        <p:nvSpPr>
          <p:cNvPr id="36" name="Shape 32"/>
          <p:cNvSpPr/>
          <p:nvPr/>
        </p:nvSpPr>
        <p:spPr>
          <a:xfrm>
            <a:off x="4590288" y="3511296"/>
            <a:ext cx="749808" cy="1115568"/>
          </a:xfrm>
          <a:prstGeom prst="rect">
            <a:avLst/>
          </a:prstGeom>
          <a:solidFill>
            <a:srgbClr val="0F4525"/>
          </a:solidFill>
          <a:ln w="12700">
            <a:solidFill>
              <a:srgbClr val="0F4525"/>
            </a:solidFill>
            <a:prstDash val="solid"/>
          </a:ln>
        </p:spPr>
      </p:sp>
      <p:sp>
        <p:nvSpPr>
          <p:cNvPr id="37" name="Text 33"/>
          <p:cNvSpPr/>
          <p:nvPr/>
        </p:nvSpPr>
        <p:spPr>
          <a:xfrm>
            <a:off x="4590288" y="3511296"/>
            <a:ext cx="749808" cy="420624"/>
          </a:xfrm>
          <a:prstGeom prst="rect">
            <a:avLst/>
          </a:prstGeom>
          <a:noFill/>
          <a:ln/>
        </p:spPr>
        <p:txBody>
          <a:bodyPr wrap="square" lIns="0" tIns="0" rIns="0" bIns="0" rtlCol="0" anchor="ctr"/>
          <a:lstStyle/>
          <a:p>
            <a:pPr algn="ctr" indent="0" marL="0">
              <a:buNone/>
            </a:pPr>
            <a:r>
              <a:rPr lang="en-US" sz="1000" b="1" dirty="0">
                <a:solidFill>
                  <a:srgbClr val="C8A951"/>
                </a:solidFill>
                <a:latin typeface="Calibri" pitchFamily="34" charset="0"/>
                <a:ea typeface="Calibri" pitchFamily="34" charset="-122"/>
                <a:cs typeface="Calibri" pitchFamily="34" charset="-120"/>
              </a:rPr>
              <a:t>Step 6</a:t>
            </a:r>
            <a:endParaRPr lang="en-US" sz="1000" dirty="0"/>
          </a:p>
        </p:txBody>
      </p:sp>
      <p:sp>
        <p:nvSpPr>
          <p:cNvPr id="38" name="Text 34"/>
          <p:cNvSpPr/>
          <p:nvPr/>
        </p:nvSpPr>
        <p:spPr>
          <a:xfrm>
            <a:off x="4590288" y="3931920"/>
            <a:ext cx="749808" cy="694944"/>
          </a:xfrm>
          <a:prstGeom prst="rect">
            <a:avLst/>
          </a:prstGeom>
          <a:noFill/>
          <a:ln/>
        </p:spPr>
        <p:txBody>
          <a:bodyPr wrap="square" lIns="0" tIns="50800" rIns="50800" bIns="0" rtlCol="0" anchor="t"/>
          <a:lstStyle/>
          <a:p>
            <a:pPr algn="ctr" indent="0" marL="0">
              <a:buNone/>
            </a:pPr>
            <a:r>
              <a:rPr lang="en-US" sz="900" dirty="0">
                <a:solidFill>
                  <a:srgbClr val="E8F5EE"/>
                </a:solidFill>
                <a:latin typeface="Calibri" pitchFamily="34" charset="0"/>
                <a:ea typeface="Calibri" pitchFamily="34" charset="-122"/>
                <a:cs typeface="Calibri" pitchFamily="34" charset="-120"/>
              </a:rPr>
              <a:t>Safety requirements &amp; codes of conduct</a:t>
            </a:r>
            <a:endParaRPr lang="en-US" sz="900" dirty="0"/>
          </a:p>
        </p:txBody>
      </p:sp>
      <p:sp>
        <p:nvSpPr>
          <p:cNvPr id="39" name="Text 35"/>
          <p:cNvSpPr/>
          <p:nvPr/>
        </p:nvSpPr>
        <p:spPr>
          <a:xfrm>
            <a:off x="5394960" y="3566160"/>
            <a:ext cx="3255264" cy="100584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State weather limits, equipment minimums, supervision ratios, land access rules, environmental responsibilities.</a:t>
            </a:r>
            <a:endParaRPr lang="en-US" sz="1000" dirty="0"/>
          </a:p>
        </p:txBody>
      </p:sp>
      <p:sp>
        <p:nvSpPr>
          <p:cNvPr id="40" name="Shape 36"/>
          <p:cNvSpPr/>
          <p:nvPr/>
        </p:nvSpPr>
        <p:spPr>
          <a:xfrm>
            <a:off x="365760" y="4590288"/>
            <a:ext cx="8412480" cy="274320"/>
          </a:xfrm>
          <a:prstGeom prst="rect">
            <a:avLst/>
          </a:prstGeom>
          <a:solidFill>
            <a:srgbClr val="E8F5EE"/>
          </a:solidFill>
          <a:ln w="12700">
            <a:solidFill>
              <a:srgbClr val="1A6B3C"/>
            </a:solidFill>
            <a:prstDash val="solid"/>
          </a:ln>
        </p:spPr>
      </p:sp>
      <p:sp>
        <p:nvSpPr>
          <p:cNvPr id="41" name="Text 37"/>
          <p:cNvSpPr/>
          <p:nvPr/>
        </p:nvSpPr>
        <p:spPr>
          <a:xfrm>
            <a:off x="475488" y="4590288"/>
            <a:ext cx="8229600" cy="274320"/>
          </a:xfrm>
          <a:prstGeom prst="rect">
            <a:avLst/>
          </a:prstGeom>
          <a:noFill/>
          <a:ln/>
        </p:spPr>
        <p:txBody>
          <a:bodyPr wrap="square" lIns="0" tIns="0" rIns="0" bIns="0" rtlCol="0" anchor="ctr"/>
          <a:lstStyle/>
          <a:p>
            <a:pPr indent="0" marL="0">
              <a:buNone/>
            </a:pPr>
            <a:r>
              <a:rPr lang="en-US" sz="1000" b="1" dirty="0">
                <a:solidFill>
                  <a:srgbClr val="0F4525"/>
                </a:solidFill>
                <a:latin typeface="Calibri" pitchFamily="34" charset="0"/>
                <a:ea typeface="Calibri" pitchFamily="34" charset="-122"/>
                <a:cs typeface="Calibri" pitchFamily="34" charset="-120"/>
              </a:rPr>
              <a:t>Your RA is a live document — review before every session and update after any incident or change in conditions.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69480" y="64008"/>
            <a:ext cx="694944" cy="484632"/>
          </a:xfrm>
          <a:prstGeom prst="rect">
            <a:avLst/>
          </a:prstGeom>
        </p:spPr>
      </p:pic>
      <p:pic>
        <p:nvPicPr>
          <p:cNvPr id="3" name="Image 1" descr="preencoded.png">    </p:cNvPr>
          <p:cNvPicPr>
            <a:picLocks noChangeAspect="1"/>
          </p:cNvPicPr>
          <p:nvPr/>
        </p:nvPicPr>
        <p:blipFill>
          <a:blip r:embed="rId2"/>
          <a:stretch>
            <a:fillRect/>
          </a:stretch>
        </p:blipFill>
        <p:spPr>
          <a:xfrm>
            <a:off x="8019288" y="91440"/>
            <a:ext cx="969264" cy="402336"/>
          </a:xfrm>
          <a:prstGeom prst="rect">
            <a:avLst/>
          </a:prstGeom>
        </p:spPr>
      </p:pic>
      <p:sp>
        <p:nvSpPr>
          <p:cNvPr id="4" name="Shape 0"/>
          <p:cNvSpPr/>
          <p:nvPr/>
        </p:nvSpPr>
        <p:spPr>
          <a:xfrm>
            <a:off x="0" y="4983480"/>
            <a:ext cx="9144000" cy="160020"/>
          </a:xfrm>
          <a:prstGeom prst="rect">
            <a:avLst/>
          </a:prstGeom>
          <a:solidFill>
            <a:srgbClr val="1A6B3C"/>
          </a:solidFill>
          <a:ln w="12700">
            <a:solidFill>
              <a:srgbClr val="1A6B3C"/>
            </a:solidFill>
            <a:prstDash val="solid"/>
          </a:ln>
        </p:spPr>
      </p:sp>
      <p:sp>
        <p:nvSpPr>
          <p:cNvPr id="5" name="Text 1"/>
          <p:cNvSpPr/>
          <p:nvPr/>
        </p:nvSpPr>
        <p:spPr>
          <a:xfrm>
            <a:off x="109728" y="4983480"/>
            <a:ext cx="2286000" cy="160020"/>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HB93CY003</a:t>
            </a:r>
            <a:endParaRPr lang="en-US" sz="800" dirty="0"/>
          </a:p>
        </p:txBody>
      </p:sp>
      <p:sp>
        <p:nvSpPr>
          <p:cNvPr id="6" name="Text 2"/>
          <p:cNvSpPr/>
          <p:nvPr/>
        </p:nvSpPr>
        <p:spPr>
          <a:xfrm>
            <a:off x="3200400" y="4983480"/>
            <a:ext cx="5833872" cy="160020"/>
          </a:xfrm>
          <a:prstGeom prst="rect">
            <a:avLst/>
          </a:prstGeom>
          <a:noFill/>
          <a:ln/>
        </p:spPr>
        <p:txBody>
          <a:bodyPr wrap="square" lIns="0" tIns="0" rIns="0" bIns="0" rtlCol="0" anchor="ctr"/>
          <a:lstStyle/>
          <a:p>
            <a:pPr algn="r" indent="0" marL="0">
              <a:buNone/>
            </a:pPr>
            <a:r>
              <a:rPr lang="en-US" sz="800" dirty="0">
                <a:solidFill>
                  <a:srgbClr val="FFFFFF"/>
                </a:solidFill>
                <a:latin typeface="Calibri" pitchFamily="34" charset="0"/>
                <a:ea typeface="Calibri" pitchFamily="34" charset="-122"/>
                <a:cs typeface="Calibri" pitchFamily="34" charset="-120"/>
              </a:rPr>
              <a:t>Risk Management when Learning in the Outdoors  |  Level 3</a:t>
            </a:r>
            <a:endParaRPr lang="en-US" sz="800" dirty="0"/>
          </a:p>
        </p:txBody>
      </p:sp>
      <p:sp>
        <p:nvSpPr>
          <p:cNvPr id="7" name="Text 3"/>
          <p:cNvSpPr/>
          <p:nvPr/>
        </p:nvSpPr>
        <p:spPr>
          <a:xfrm>
            <a:off x="365760" y="109728"/>
            <a:ext cx="6812280" cy="530352"/>
          </a:xfrm>
          <a:prstGeom prst="rect">
            <a:avLst/>
          </a:prstGeom>
          <a:noFill/>
          <a:ln/>
        </p:spPr>
        <p:txBody>
          <a:bodyPr wrap="square" lIns="0" tIns="0" rIns="0" bIns="0" rtlCol="0" anchor="ctr"/>
          <a:lstStyle/>
          <a:p>
            <a:pPr indent="0" marL="0">
              <a:buNone/>
            </a:pPr>
            <a:r>
              <a:rPr lang="en-US" sz="2200" b="1" dirty="0">
                <a:solidFill>
                  <a:srgbClr val="0F4525"/>
                </a:solidFill>
                <a:latin typeface="Calibri" pitchFamily="34" charset="0"/>
                <a:ea typeface="Calibri" pitchFamily="34" charset="-122"/>
                <a:cs typeface="Calibri" pitchFamily="34" charset="-120"/>
              </a:rPr>
              <a:t>Equipment Fit for Purpose (AC 3.2)</a:t>
            </a:r>
            <a:endParaRPr lang="en-US" sz="2200" dirty="0"/>
          </a:p>
        </p:txBody>
      </p:sp>
      <p:sp>
        <p:nvSpPr>
          <p:cNvPr id="8" name="Shape 4"/>
          <p:cNvSpPr/>
          <p:nvPr/>
        </p:nvSpPr>
        <p:spPr>
          <a:xfrm>
            <a:off x="365760" y="877824"/>
            <a:ext cx="1143000" cy="201168"/>
          </a:xfrm>
          <a:prstGeom prst="rect">
            <a:avLst/>
          </a:prstGeom>
          <a:solidFill>
            <a:srgbClr val="C8A951"/>
          </a:solidFill>
          <a:ln w="12700">
            <a:solidFill>
              <a:srgbClr val="C8A951"/>
            </a:solidFill>
            <a:prstDash val="solid"/>
          </a:ln>
        </p:spPr>
      </p:sp>
      <p:sp>
        <p:nvSpPr>
          <p:cNvPr id="9" name="Text 5"/>
          <p:cNvSpPr/>
          <p:nvPr/>
        </p:nvSpPr>
        <p:spPr>
          <a:xfrm>
            <a:off x="365760" y="877824"/>
            <a:ext cx="1143000" cy="201168"/>
          </a:xfrm>
          <a:prstGeom prst="rect">
            <a:avLst/>
          </a:prstGeom>
          <a:noFill/>
          <a:ln/>
        </p:spPr>
        <p:txBody>
          <a:bodyPr wrap="square" lIns="0" tIns="0" rIns="0" bIns="0" rtlCol="0" anchor="ctr"/>
          <a:lstStyle/>
          <a:p>
            <a:pPr algn="ctr" indent="0" marL="0">
              <a:buNone/>
            </a:pPr>
            <a:r>
              <a:rPr lang="en-US" sz="900" b="1" dirty="0">
                <a:solidFill>
                  <a:srgbClr val="3D2A00"/>
                </a:solidFill>
                <a:latin typeface="Calibri" pitchFamily="34" charset="0"/>
                <a:ea typeface="Calibri" pitchFamily="34" charset="-122"/>
                <a:cs typeface="Calibri" pitchFamily="34" charset="-120"/>
              </a:rPr>
              <a:t>AC 3.2</a:t>
            </a:r>
            <a:endParaRPr lang="en-US" sz="900" dirty="0"/>
          </a:p>
        </p:txBody>
      </p:sp>
      <p:sp>
        <p:nvSpPr>
          <p:cNvPr id="10" name="Text 6"/>
          <p:cNvSpPr/>
          <p:nvPr/>
        </p:nvSpPr>
        <p:spPr>
          <a:xfrm>
            <a:off x="365760" y="914400"/>
            <a:ext cx="8412480" cy="237744"/>
          </a:xfrm>
          <a:prstGeom prst="rect">
            <a:avLst/>
          </a:prstGeom>
          <a:noFill/>
          <a:ln/>
        </p:spPr>
        <p:txBody>
          <a:bodyPr wrap="square" lIns="0" tIns="0" rIns="0" bIns="0" rtlCol="0" anchor="ctr"/>
          <a:lstStyle/>
          <a:p>
            <a:pPr indent="0" marL="0">
              <a:buNone/>
            </a:pPr>
            <a:r>
              <a:rPr lang="en-US" sz="1000" i="1" dirty="0">
                <a:solidFill>
                  <a:srgbClr val="6B7B8C"/>
                </a:solidFill>
                <a:latin typeface="Calibri" pitchFamily="34" charset="0"/>
                <a:ea typeface="Calibri" pitchFamily="34" charset="-122"/>
                <a:cs typeface="Calibri" pitchFamily="34" charset="-120"/>
              </a:rPr>
              <a:t>AC 3.2: Equipment includes clothing. For each item, explain the pre- and post-activity check you carry out.</a:t>
            </a:r>
            <a:endParaRPr lang="en-US" sz="1000" dirty="0"/>
          </a:p>
        </p:txBody>
      </p:sp>
      <p:sp>
        <p:nvSpPr>
          <p:cNvPr id="11" name="Shape 7"/>
          <p:cNvSpPr/>
          <p:nvPr/>
        </p:nvSpPr>
        <p:spPr>
          <a:xfrm>
            <a:off x="365760" y="1207008"/>
            <a:ext cx="2706624" cy="1463040"/>
          </a:xfrm>
          <a:prstGeom prst="rect">
            <a:avLst/>
          </a:prstGeom>
          <a:solidFill>
            <a:srgbClr val="FFFFFF"/>
          </a:solidFill>
          <a:ln w="19050">
            <a:solidFill>
              <a:srgbClr val="991B1B"/>
            </a:solidFill>
            <a:prstDash val="solid"/>
          </a:ln>
          <a:effectLst>
            <a:outerShdw sx="100000" sy="100000" kx="0" ky="0" algn="bl" rotWithShape="0" blurRad="63500" dist="25400" dir="8100000">
              <a:srgbClr val="000000">
                <a:alpha val="12000"/>
              </a:srgbClr>
            </a:outerShdw>
          </a:effectLst>
        </p:spPr>
      </p:sp>
      <p:sp>
        <p:nvSpPr>
          <p:cNvPr id="12" name="Shape 8"/>
          <p:cNvSpPr/>
          <p:nvPr/>
        </p:nvSpPr>
        <p:spPr>
          <a:xfrm>
            <a:off x="365760" y="1207008"/>
            <a:ext cx="2706624" cy="310896"/>
          </a:xfrm>
          <a:prstGeom prst="rect">
            <a:avLst/>
          </a:prstGeom>
          <a:solidFill>
            <a:srgbClr val="991B1B"/>
          </a:solidFill>
          <a:ln w="12700">
            <a:solidFill>
              <a:srgbClr val="991B1B"/>
            </a:solidFill>
            <a:prstDash val="solid"/>
          </a:ln>
        </p:spPr>
      </p:sp>
      <p:sp>
        <p:nvSpPr>
          <p:cNvPr id="13" name="Text 9"/>
          <p:cNvSpPr/>
          <p:nvPr/>
        </p:nvSpPr>
        <p:spPr>
          <a:xfrm>
            <a:off x="365760" y="1207008"/>
            <a:ext cx="270662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Helmets</a:t>
            </a:r>
            <a:endParaRPr lang="en-US" sz="1100" dirty="0"/>
          </a:p>
        </p:txBody>
      </p:sp>
      <p:sp>
        <p:nvSpPr>
          <p:cNvPr id="14" name="Text 10"/>
          <p:cNvSpPr/>
          <p:nvPr/>
        </p:nvSpPr>
        <p:spPr>
          <a:xfrm>
            <a:off x="457200" y="1554480"/>
            <a:ext cx="2523744" cy="1060704"/>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NORMS: No damage; Only one previous significant impact; Retention system functional; Manufacturer date within lifespan (5 yrs); Size correct.</a:t>
            </a:r>
            <a:endParaRPr lang="en-US" sz="950" dirty="0"/>
          </a:p>
        </p:txBody>
      </p:sp>
      <p:sp>
        <p:nvSpPr>
          <p:cNvPr id="15" name="Shape 11"/>
          <p:cNvSpPr/>
          <p:nvPr/>
        </p:nvSpPr>
        <p:spPr>
          <a:xfrm>
            <a:off x="3182112" y="1207008"/>
            <a:ext cx="2706624" cy="1463040"/>
          </a:xfrm>
          <a:prstGeom prst="rect">
            <a:avLst/>
          </a:prstGeom>
          <a:solidFill>
            <a:srgbClr val="FFFFFF"/>
          </a:solidFill>
          <a:ln w="19050">
            <a:solidFill>
              <a:srgbClr val="1E40AF"/>
            </a:solidFill>
            <a:prstDash val="solid"/>
          </a:ln>
          <a:effectLst>
            <a:outerShdw sx="100000" sy="100000" kx="0" ky="0" algn="bl" rotWithShape="0" blurRad="63500" dist="25400" dir="8100000">
              <a:srgbClr val="000000">
                <a:alpha val="12000"/>
              </a:srgbClr>
            </a:outerShdw>
          </a:effectLst>
        </p:spPr>
      </p:sp>
      <p:sp>
        <p:nvSpPr>
          <p:cNvPr id="16" name="Shape 12"/>
          <p:cNvSpPr/>
          <p:nvPr/>
        </p:nvSpPr>
        <p:spPr>
          <a:xfrm>
            <a:off x="3182112" y="1207008"/>
            <a:ext cx="2706624" cy="310896"/>
          </a:xfrm>
          <a:prstGeom prst="rect">
            <a:avLst/>
          </a:prstGeom>
          <a:solidFill>
            <a:srgbClr val="1E40AF"/>
          </a:solidFill>
          <a:ln w="12700">
            <a:solidFill>
              <a:srgbClr val="1E40AF"/>
            </a:solidFill>
            <a:prstDash val="solid"/>
          </a:ln>
        </p:spPr>
      </p:sp>
      <p:sp>
        <p:nvSpPr>
          <p:cNvPr id="17" name="Text 13"/>
          <p:cNvSpPr/>
          <p:nvPr/>
        </p:nvSpPr>
        <p:spPr>
          <a:xfrm>
            <a:off x="3182112" y="1207008"/>
            <a:ext cx="270662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Buoyancy Aids / PFDs</a:t>
            </a:r>
            <a:endParaRPr lang="en-US" sz="1100" dirty="0"/>
          </a:p>
        </p:txBody>
      </p:sp>
      <p:sp>
        <p:nvSpPr>
          <p:cNvPr id="18" name="Text 14"/>
          <p:cNvSpPr/>
          <p:nvPr/>
        </p:nvSpPr>
        <p:spPr>
          <a:xfrm>
            <a:off x="3273552" y="1554480"/>
            <a:ext cx="2523744" cy="1060704"/>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Check zip and buckles operate; squeeze test (bladder intact); crotch straps present; within lifespan. Must be worn on all moving water.</a:t>
            </a:r>
            <a:endParaRPr lang="en-US" sz="950" dirty="0"/>
          </a:p>
        </p:txBody>
      </p:sp>
      <p:sp>
        <p:nvSpPr>
          <p:cNvPr id="19" name="Shape 15"/>
          <p:cNvSpPr/>
          <p:nvPr/>
        </p:nvSpPr>
        <p:spPr>
          <a:xfrm>
            <a:off x="5998464" y="1207008"/>
            <a:ext cx="2706624" cy="1463040"/>
          </a:xfrm>
          <a:prstGeom prst="rect">
            <a:avLst/>
          </a:prstGeom>
          <a:solidFill>
            <a:srgbClr val="FFFFFF"/>
          </a:solidFill>
          <a:ln w="19050">
            <a:solidFill>
              <a:srgbClr val="7C3AED"/>
            </a:solidFill>
            <a:prstDash val="solid"/>
          </a:ln>
          <a:effectLst>
            <a:outerShdw sx="100000" sy="100000" kx="0" ky="0" algn="bl" rotWithShape="0" blurRad="63500" dist="25400" dir="8100000">
              <a:srgbClr val="000000">
                <a:alpha val="12000"/>
              </a:srgbClr>
            </a:outerShdw>
          </a:effectLst>
        </p:spPr>
      </p:sp>
      <p:sp>
        <p:nvSpPr>
          <p:cNvPr id="20" name="Shape 16"/>
          <p:cNvSpPr/>
          <p:nvPr/>
        </p:nvSpPr>
        <p:spPr>
          <a:xfrm>
            <a:off x="5998464" y="1207008"/>
            <a:ext cx="2706624" cy="310896"/>
          </a:xfrm>
          <a:prstGeom prst="rect">
            <a:avLst/>
          </a:prstGeom>
          <a:solidFill>
            <a:srgbClr val="7C3AED"/>
          </a:solidFill>
          <a:ln w="12700">
            <a:solidFill>
              <a:srgbClr val="7C3AED"/>
            </a:solidFill>
            <a:prstDash val="solid"/>
          </a:ln>
        </p:spPr>
      </p:sp>
      <p:sp>
        <p:nvSpPr>
          <p:cNvPr id="21" name="Text 17"/>
          <p:cNvSpPr/>
          <p:nvPr/>
        </p:nvSpPr>
        <p:spPr>
          <a:xfrm>
            <a:off x="5998464" y="1207008"/>
            <a:ext cx="270662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Harnesses</a:t>
            </a:r>
            <a:endParaRPr lang="en-US" sz="1100" dirty="0"/>
          </a:p>
        </p:txBody>
      </p:sp>
      <p:sp>
        <p:nvSpPr>
          <p:cNvPr id="22" name="Text 18"/>
          <p:cNvSpPr/>
          <p:nvPr/>
        </p:nvSpPr>
        <p:spPr>
          <a:xfrm>
            <a:off x="6089904" y="1554480"/>
            <a:ext cx="2523744" cy="1060704"/>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Inspect all stitching, buckles, load-bearing components; check for UV degradation (fading/stiffness). Retire after any significant fall.</a:t>
            </a:r>
            <a:endParaRPr lang="en-US" sz="950" dirty="0"/>
          </a:p>
        </p:txBody>
      </p:sp>
      <p:sp>
        <p:nvSpPr>
          <p:cNvPr id="23" name="Shape 19"/>
          <p:cNvSpPr/>
          <p:nvPr/>
        </p:nvSpPr>
        <p:spPr>
          <a:xfrm>
            <a:off x="365760" y="2798064"/>
            <a:ext cx="2706624" cy="1463040"/>
          </a:xfrm>
          <a:prstGeom prst="rect">
            <a:avLst/>
          </a:prstGeom>
          <a:solidFill>
            <a:srgbClr val="FFFFFF"/>
          </a:solidFill>
          <a:ln w="19050">
            <a:solidFill>
              <a:srgbClr val="0F4525"/>
            </a:solidFill>
            <a:prstDash val="solid"/>
          </a:ln>
          <a:effectLst>
            <a:outerShdw sx="100000" sy="100000" kx="0" ky="0" algn="bl" rotWithShape="0" blurRad="63500" dist="25400" dir="8100000">
              <a:srgbClr val="000000">
                <a:alpha val="12000"/>
              </a:srgbClr>
            </a:outerShdw>
          </a:effectLst>
        </p:spPr>
      </p:sp>
      <p:sp>
        <p:nvSpPr>
          <p:cNvPr id="24" name="Shape 20"/>
          <p:cNvSpPr/>
          <p:nvPr/>
        </p:nvSpPr>
        <p:spPr>
          <a:xfrm>
            <a:off x="365760" y="2798064"/>
            <a:ext cx="2706624" cy="310896"/>
          </a:xfrm>
          <a:prstGeom prst="rect">
            <a:avLst/>
          </a:prstGeom>
          <a:solidFill>
            <a:srgbClr val="0F4525"/>
          </a:solidFill>
          <a:ln w="12700">
            <a:solidFill>
              <a:srgbClr val="0F4525"/>
            </a:solidFill>
            <a:prstDash val="solid"/>
          </a:ln>
        </p:spPr>
      </p:sp>
      <p:sp>
        <p:nvSpPr>
          <p:cNvPr id="25" name="Text 21"/>
          <p:cNvSpPr/>
          <p:nvPr/>
        </p:nvSpPr>
        <p:spPr>
          <a:xfrm>
            <a:off x="365760" y="2798064"/>
            <a:ext cx="270662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Ropes</a:t>
            </a:r>
            <a:endParaRPr lang="en-US" sz="1100" dirty="0"/>
          </a:p>
        </p:txBody>
      </p:sp>
      <p:sp>
        <p:nvSpPr>
          <p:cNvPr id="26" name="Text 22"/>
          <p:cNvSpPr/>
          <p:nvPr/>
        </p:nvSpPr>
        <p:spPr>
          <a:xfrm>
            <a:off x="457200" y="3145536"/>
            <a:ext cx="2523744" cy="1060704"/>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Check for cuts, kinks, soft spots (core damage). Retire after shock load. Log usage and age. Replace per manufacturer guidance.</a:t>
            </a:r>
            <a:endParaRPr lang="en-US" sz="950" dirty="0"/>
          </a:p>
        </p:txBody>
      </p:sp>
      <p:sp>
        <p:nvSpPr>
          <p:cNvPr id="27" name="Shape 23"/>
          <p:cNvSpPr/>
          <p:nvPr/>
        </p:nvSpPr>
        <p:spPr>
          <a:xfrm>
            <a:off x="3182112" y="2798064"/>
            <a:ext cx="2706624" cy="1463040"/>
          </a:xfrm>
          <a:prstGeom prst="rect">
            <a:avLst/>
          </a:prstGeom>
          <a:solidFill>
            <a:srgbClr val="FFFFFF"/>
          </a:solidFill>
          <a:ln w="19050">
            <a:solidFill>
              <a:srgbClr val="1A6B3C"/>
            </a:solidFill>
            <a:prstDash val="solid"/>
          </a:ln>
          <a:effectLst>
            <a:outerShdw sx="100000" sy="100000" kx="0" ky="0" algn="bl" rotWithShape="0" blurRad="63500" dist="25400" dir="8100000">
              <a:srgbClr val="000000">
                <a:alpha val="12000"/>
              </a:srgbClr>
            </a:outerShdw>
          </a:effectLst>
        </p:spPr>
      </p:sp>
      <p:sp>
        <p:nvSpPr>
          <p:cNvPr id="28" name="Shape 24"/>
          <p:cNvSpPr/>
          <p:nvPr/>
        </p:nvSpPr>
        <p:spPr>
          <a:xfrm>
            <a:off x="3182112" y="2798064"/>
            <a:ext cx="2706624" cy="310896"/>
          </a:xfrm>
          <a:prstGeom prst="rect">
            <a:avLst/>
          </a:prstGeom>
          <a:solidFill>
            <a:srgbClr val="1A6B3C"/>
          </a:solidFill>
          <a:ln w="12700">
            <a:solidFill>
              <a:srgbClr val="1A6B3C"/>
            </a:solidFill>
            <a:prstDash val="solid"/>
          </a:ln>
        </p:spPr>
      </p:sp>
      <p:sp>
        <p:nvSpPr>
          <p:cNvPr id="29" name="Text 25"/>
          <p:cNvSpPr/>
          <p:nvPr/>
        </p:nvSpPr>
        <p:spPr>
          <a:xfrm>
            <a:off x="3182112" y="2798064"/>
            <a:ext cx="270662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Waterproof Clothing</a:t>
            </a:r>
            <a:endParaRPr lang="en-US" sz="1100" dirty="0"/>
          </a:p>
        </p:txBody>
      </p:sp>
      <p:sp>
        <p:nvSpPr>
          <p:cNvPr id="30" name="Text 26"/>
          <p:cNvSpPr/>
          <p:nvPr/>
        </p:nvSpPr>
        <p:spPr>
          <a:xfrm>
            <a:off x="3273552" y="3145536"/>
            <a:ext cx="2523744" cy="1060704"/>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Check for delamination; seam tape integrity; zipper function. Test DWR treatment (water should bead up). Ensure layering system complete.</a:t>
            </a:r>
            <a:endParaRPr lang="en-US" sz="950" dirty="0"/>
          </a:p>
        </p:txBody>
      </p:sp>
      <p:sp>
        <p:nvSpPr>
          <p:cNvPr id="31" name="Shape 27"/>
          <p:cNvSpPr/>
          <p:nvPr/>
        </p:nvSpPr>
        <p:spPr>
          <a:xfrm>
            <a:off x="5998464" y="2798064"/>
            <a:ext cx="2706624" cy="1463040"/>
          </a:xfrm>
          <a:prstGeom prst="rect">
            <a:avLst/>
          </a:prstGeom>
          <a:solidFill>
            <a:srgbClr val="FFFFFF"/>
          </a:solidFill>
          <a:ln w="19050">
            <a:solidFill>
              <a:srgbClr val="D97706"/>
            </a:solidFill>
            <a:prstDash val="solid"/>
          </a:ln>
          <a:effectLst>
            <a:outerShdw sx="100000" sy="100000" kx="0" ky="0" algn="bl" rotWithShape="0" blurRad="63500" dist="25400" dir="8100000">
              <a:srgbClr val="000000">
                <a:alpha val="12000"/>
              </a:srgbClr>
            </a:outerShdw>
          </a:effectLst>
        </p:spPr>
      </p:sp>
      <p:sp>
        <p:nvSpPr>
          <p:cNvPr id="32" name="Shape 28"/>
          <p:cNvSpPr/>
          <p:nvPr/>
        </p:nvSpPr>
        <p:spPr>
          <a:xfrm>
            <a:off x="5998464" y="2798064"/>
            <a:ext cx="2706624" cy="310896"/>
          </a:xfrm>
          <a:prstGeom prst="rect">
            <a:avLst/>
          </a:prstGeom>
          <a:solidFill>
            <a:srgbClr val="D97706"/>
          </a:solidFill>
          <a:ln w="12700">
            <a:solidFill>
              <a:srgbClr val="D97706"/>
            </a:solidFill>
            <a:prstDash val="solid"/>
          </a:ln>
        </p:spPr>
      </p:sp>
      <p:sp>
        <p:nvSpPr>
          <p:cNvPr id="33" name="Text 29"/>
          <p:cNvSpPr/>
          <p:nvPr/>
        </p:nvSpPr>
        <p:spPr>
          <a:xfrm>
            <a:off x="5998464" y="2798064"/>
            <a:ext cx="2706624"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Footwear</a:t>
            </a:r>
            <a:endParaRPr lang="en-US" sz="1100" dirty="0"/>
          </a:p>
        </p:txBody>
      </p:sp>
      <p:sp>
        <p:nvSpPr>
          <p:cNvPr id="34" name="Text 30"/>
          <p:cNvSpPr/>
          <p:nvPr/>
        </p:nvSpPr>
        <p:spPr>
          <a:xfrm>
            <a:off x="6089904" y="3145536"/>
            <a:ext cx="2523744" cy="1060704"/>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Check sole tread depth and bonding; ankle support; lace integrity. Correctly fitted — no heel slippage. Waterproofed before use.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69480" y="64008"/>
            <a:ext cx="694944" cy="484632"/>
          </a:xfrm>
          <a:prstGeom prst="rect">
            <a:avLst/>
          </a:prstGeom>
        </p:spPr>
      </p:pic>
      <p:pic>
        <p:nvPicPr>
          <p:cNvPr id="3" name="Image 1" descr="preencoded.png">    </p:cNvPr>
          <p:cNvPicPr>
            <a:picLocks noChangeAspect="1"/>
          </p:cNvPicPr>
          <p:nvPr/>
        </p:nvPicPr>
        <p:blipFill>
          <a:blip r:embed="rId2"/>
          <a:stretch>
            <a:fillRect/>
          </a:stretch>
        </p:blipFill>
        <p:spPr>
          <a:xfrm>
            <a:off x="8019288" y="91440"/>
            <a:ext cx="969264" cy="402336"/>
          </a:xfrm>
          <a:prstGeom prst="rect">
            <a:avLst/>
          </a:prstGeom>
        </p:spPr>
      </p:pic>
      <p:sp>
        <p:nvSpPr>
          <p:cNvPr id="4" name="Shape 0"/>
          <p:cNvSpPr/>
          <p:nvPr/>
        </p:nvSpPr>
        <p:spPr>
          <a:xfrm>
            <a:off x="0" y="4983480"/>
            <a:ext cx="9144000" cy="160020"/>
          </a:xfrm>
          <a:prstGeom prst="rect">
            <a:avLst/>
          </a:prstGeom>
          <a:solidFill>
            <a:srgbClr val="1A6B3C"/>
          </a:solidFill>
          <a:ln w="12700">
            <a:solidFill>
              <a:srgbClr val="1A6B3C"/>
            </a:solidFill>
            <a:prstDash val="solid"/>
          </a:ln>
        </p:spPr>
      </p:sp>
      <p:sp>
        <p:nvSpPr>
          <p:cNvPr id="5" name="Text 1"/>
          <p:cNvSpPr/>
          <p:nvPr/>
        </p:nvSpPr>
        <p:spPr>
          <a:xfrm>
            <a:off x="109728" y="4983480"/>
            <a:ext cx="2286000" cy="160020"/>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HB93CY003</a:t>
            </a:r>
            <a:endParaRPr lang="en-US" sz="800" dirty="0"/>
          </a:p>
        </p:txBody>
      </p:sp>
      <p:sp>
        <p:nvSpPr>
          <p:cNvPr id="6" name="Text 2"/>
          <p:cNvSpPr/>
          <p:nvPr/>
        </p:nvSpPr>
        <p:spPr>
          <a:xfrm>
            <a:off x="3200400" y="4983480"/>
            <a:ext cx="5833872" cy="160020"/>
          </a:xfrm>
          <a:prstGeom prst="rect">
            <a:avLst/>
          </a:prstGeom>
          <a:noFill/>
          <a:ln/>
        </p:spPr>
        <p:txBody>
          <a:bodyPr wrap="square" lIns="0" tIns="0" rIns="0" bIns="0" rtlCol="0" anchor="ctr"/>
          <a:lstStyle/>
          <a:p>
            <a:pPr algn="r" indent="0" marL="0">
              <a:buNone/>
            </a:pPr>
            <a:r>
              <a:rPr lang="en-US" sz="800" dirty="0">
                <a:solidFill>
                  <a:srgbClr val="FFFFFF"/>
                </a:solidFill>
                <a:latin typeface="Calibri" pitchFamily="34" charset="0"/>
                <a:ea typeface="Calibri" pitchFamily="34" charset="-122"/>
                <a:cs typeface="Calibri" pitchFamily="34" charset="-120"/>
              </a:rPr>
              <a:t>Risk Management when Learning in the Outdoors  |  Level 3</a:t>
            </a:r>
            <a:endParaRPr lang="en-US" sz="800" dirty="0"/>
          </a:p>
        </p:txBody>
      </p:sp>
      <p:sp>
        <p:nvSpPr>
          <p:cNvPr id="7" name="Text 3"/>
          <p:cNvSpPr/>
          <p:nvPr/>
        </p:nvSpPr>
        <p:spPr>
          <a:xfrm>
            <a:off x="365760" y="109728"/>
            <a:ext cx="6812280" cy="530352"/>
          </a:xfrm>
          <a:prstGeom prst="rect">
            <a:avLst/>
          </a:prstGeom>
          <a:noFill/>
          <a:ln/>
        </p:spPr>
        <p:txBody>
          <a:bodyPr wrap="square" lIns="0" tIns="0" rIns="0" bIns="0" rtlCol="0" anchor="ctr"/>
          <a:lstStyle/>
          <a:p>
            <a:pPr indent="0" marL="0">
              <a:buNone/>
            </a:pPr>
            <a:r>
              <a:rPr lang="en-US" sz="2200" b="1" dirty="0">
                <a:solidFill>
                  <a:srgbClr val="0F4525"/>
                </a:solidFill>
                <a:latin typeface="Calibri" pitchFamily="34" charset="0"/>
                <a:ea typeface="Calibri" pitchFamily="34" charset="-122"/>
                <a:cs typeface="Calibri" pitchFamily="34" charset="-120"/>
              </a:rPr>
              <a:t>Reviewing Your Risk Assessment After the Activity (AC 3.4)</a:t>
            </a:r>
            <a:endParaRPr lang="en-US" sz="2200" dirty="0"/>
          </a:p>
        </p:txBody>
      </p:sp>
      <p:sp>
        <p:nvSpPr>
          <p:cNvPr id="8" name="Shape 4"/>
          <p:cNvSpPr/>
          <p:nvPr/>
        </p:nvSpPr>
        <p:spPr>
          <a:xfrm>
            <a:off x="365760" y="877824"/>
            <a:ext cx="1143000" cy="201168"/>
          </a:xfrm>
          <a:prstGeom prst="rect">
            <a:avLst/>
          </a:prstGeom>
          <a:solidFill>
            <a:srgbClr val="C8A951"/>
          </a:solidFill>
          <a:ln w="12700">
            <a:solidFill>
              <a:srgbClr val="C8A951"/>
            </a:solidFill>
            <a:prstDash val="solid"/>
          </a:ln>
        </p:spPr>
      </p:sp>
      <p:sp>
        <p:nvSpPr>
          <p:cNvPr id="9" name="Text 5"/>
          <p:cNvSpPr/>
          <p:nvPr/>
        </p:nvSpPr>
        <p:spPr>
          <a:xfrm>
            <a:off x="365760" y="877824"/>
            <a:ext cx="1143000" cy="201168"/>
          </a:xfrm>
          <a:prstGeom prst="rect">
            <a:avLst/>
          </a:prstGeom>
          <a:noFill/>
          <a:ln/>
        </p:spPr>
        <p:txBody>
          <a:bodyPr wrap="square" lIns="0" tIns="0" rIns="0" bIns="0" rtlCol="0" anchor="ctr"/>
          <a:lstStyle/>
          <a:p>
            <a:pPr algn="ctr" indent="0" marL="0">
              <a:buNone/>
            </a:pPr>
            <a:r>
              <a:rPr lang="en-US" sz="900" b="1" dirty="0">
                <a:solidFill>
                  <a:srgbClr val="3D2A00"/>
                </a:solidFill>
                <a:latin typeface="Calibri" pitchFamily="34" charset="0"/>
                <a:ea typeface="Calibri" pitchFamily="34" charset="-122"/>
                <a:cs typeface="Calibri" pitchFamily="34" charset="-120"/>
              </a:rPr>
              <a:t>AC 3.4</a:t>
            </a:r>
            <a:endParaRPr lang="en-US" sz="900" dirty="0"/>
          </a:p>
        </p:txBody>
      </p:sp>
      <p:sp>
        <p:nvSpPr>
          <p:cNvPr id="10" name="Text 6"/>
          <p:cNvSpPr/>
          <p:nvPr/>
        </p:nvSpPr>
        <p:spPr>
          <a:xfrm>
            <a:off x="365760" y="914400"/>
            <a:ext cx="8412480" cy="237744"/>
          </a:xfrm>
          <a:prstGeom prst="rect">
            <a:avLst/>
          </a:prstGeom>
          <a:noFill/>
          <a:ln/>
        </p:spPr>
        <p:txBody>
          <a:bodyPr wrap="square" lIns="0" tIns="0" rIns="0" bIns="0" rtlCol="0" anchor="ctr"/>
          <a:lstStyle/>
          <a:p>
            <a:pPr indent="0" marL="0">
              <a:buNone/>
            </a:pPr>
            <a:r>
              <a:rPr lang="en-US" sz="1000" i="1" dirty="0">
                <a:solidFill>
                  <a:srgbClr val="6B7B8C"/>
                </a:solidFill>
                <a:latin typeface="Calibri" pitchFamily="34" charset="0"/>
                <a:ea typeface="Calibri" pitchFamily="34" charset="-122"/>
                <a:cs typeface="Calibri" pitchFamily="34" charset="-120"/>
              </a:rPr>
              <a:t>AC 3.4: Explain how the RA worked in practice and whether any revisions are needed.</a:t>
            </a:r>
            <a:endParaRPr lang="en-US" sz="1000" dirty="0"/>
          </a:p>
        </p:txBody>
      </p:sp>
      <p:sp>
        <p:nvSpPr>
          <p:cNvPr id="11" name="Shape 7"/>
          <p:cNvSpPr/>
          <p:nvPr/>
        </p:nvSpPr>
        <p:spPr>
          <a:xfrm>
            <a:off x="365760" y="1188720"/>
            <a:ext cx="4114800" cy="1060704"/>
          </a:xfrm>
          <a:prstGeom prst="rect">
            <a:avLst/>
          </a:prstGeom>
          <a:solidFill>
            <a:srgbClr val="FFFFFF"/>
          </a:solidFill>
          <a:ln w="9525">
            <a:solidFill>
              <a:srgbClr val="D4D4CC"/>
            </a:solidFill>
            <a:prstDash val="solid"/>
          </a:ln>
          <a:effectLst>
            <a:outerShdw sx="100000" sy="100000" kx="0" ky="0" algn="bl" rotWithShape="0" blurRad="63500" dist="25400" dir="8100000">
              <a:srgbClr val="000000">
                <a:alpha val="12000"/>
              </a:srgbClr>
            </a:outerShdw>
          </a:effectLst>
        </p:spPr>
      </p:sp>
      <p:sp>
        <p:nvSpPr>
          <p:cNvPr id="12" name="Shape 8"/>
          <p:cNvSpPr/>
          <p:nvPr/>
        </p:nvSpPr>
        <p:spPr>
          <a:xfrm>
            <a:off x="365760" y="1188720"/>
            <a:ext cx="50292" cy="1060704"/>
          </a:xfrm>
          <a:prstGeom prst="rect">
            <a:avLst/>
          </a:prstGeom>
          <a:solidFill>
            <a:srgbClr val="1A6B3C"/>
          </a:solidFill>
          <a:ln w="12700">
            <a:solidFill>
              <a:srgbClr val="1A6B3C"/>
            </a:solidFill>
            <a:prstDash val="solid"/>
          </a:ln>
        </p:spPr>
      </p:sp>
      <p:sp>
        <p:nvSpPr>
          <p:cNvPr id="13" name="Text 9"/>
          <p:cNvSpPr/>
          <p:nvPr/>
        </p:nvSpPr>
        <p:spPr>
          <a:xfrm>
            <a:off x="457200" y="1225296"/>
            <a:ext cx="3968496" cy="292608"/>
          </a:xfrm>
          <a:prstGeom prst="rect">
            <a:avLst/>
          </a:prstGeom>
          <a:noFill/>
          <a:ln/>
        </p:spPr>
        <p:txBody>
          <a:bodyPr wrap="square" lIns="0" tIns="0" rIns="0" bIns="0" rtlCol="0" anchor="ctr"/>
          <a:lstStyle/>
          <a:p>
            <a:pPr indent="0" marL="0">
              <a:buNone/>
            </a:pPr>
            <a:r>
              <a:rPr lang="en-US" sz="1050" b="1" dirty="0">
                <a:solidFill>
                  <a:srgbClr val="0F4525"/>
                </a:solidFill>
                <a:latin typeface="Calibri" pitchFamily="34" charset="0"/>
                <a:ea typeface="Calibri" pitchFamily="34" charset="-122"/>
                <a:cs typeface="Calibri" pitchFamily="34" charset="-120"/>
              </a:rPr>
              <a:t>Were all hazards correctly identified?</a:t>
            </a:r>
            <a:endParaRPr lang="en-US" sz="1050" dirty="0"/>
          </a:p>
        </p:txBody>
      </p:sp>
      <p:sp>
        <p:nvSpPr>
          <p:cNvPr id="14" name="Text 10"/>
          <p:cNvSpPr/>
          <p:nvPr/>
        </p:nvSpPr>
        <p:spPr>
          <a:xfrm>
            <a:off x="457200" y="1554480"/>
            <a:ext cx="3968496" cy="64008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Did any hazards arise that were not in your RA? Or were some hazards you identified not a problem in practice? Evaluate the quality of your initial hazard identification.</a:t>
            </a:r>
            <a:endParaRPr lang="en-US" sz="1000" dirty="0"/>
          </a:p>
        </p:txBody>
      </p:sp>
      <p:sp>
        <p:nvSpPr>
          <p:cNvPr id="15" name="Shape 11"/>
          <p:cNvSpPr/>
          <p:nvPr/>
        </p:nvSpPr>
        <p:spPr>
          <a:xfrm>
            <a:off x="4590288" y="1188720"/>
            <a:ext cx="4114800" cy="1060704"/>
          </a:xfrm>
          <a:prstGeom prst="rect">
            <a:avLst/>
          </a:prstGeom>
          <a:solidFill>
            <a:srgbClr val="FFFFFF"/>
          </a:solidFill>
          <a:ln w="9525">
            <a:solidFill>
              <a:srgbClr val="D4D4CC"/>
            </a:solidFill>
            <a:prstDash val="solid"/>
          </a:ln>
          <a:effectLst>
            <a:outerShdw sx="100000" sy="100000" kx="0" ky="0" algn="bl" rotWithShape="0" blurRad="63500" dist="25400" dir="8100000">
              <a:srgbClr val="000000">
                <a:alpha val="12000"/>
              </a:srgbClr>
            </a:outerShdw>
          </a:effectLst>
        </p:spPr>
      </p:sp>
      <p:sp>
        <p:nvSpPr>
          <p:cNvPr id="16" name="Shape 12"/>
          <p:cNvSpPr/>
          <p:nvPr/>
        </p:nvSpPr>
        <p:spPr>
          <a:xfrm>
            <a:off x="4590288" y="1188720"/>
            <a:ext cx="50292" cy="1060704"/>
          </a:xfrm>
          <a:prstGeom prst="rect">
            <a:avLst/>
          </a:prstGeom>
          <a:solidFill>
            <a:srgbClr val="1A6B3C"/>
          </a:solidFill>
          <a:ln w="12700">
            <a:solidFill>
              <a:srgbClr val="1A6B3C"/>
            </a:solidFill>
            <a:prstDash val="solid"/>
          </a:ln>
        </p:spPr>
      </p:sp>
      <p:sp>
        <p:nvSpPr>
          <p:cNvPr id="17" name="Text 13"/>
          <p:cNvSpPr/>
          <p:nvPr/>
        </p:nvSpPr>
        <p:spPr>
          <a:xfrm>
            <a:off x="4681728" y="1225296"/>
            <a:ext cx="3968496" cy="292608"/>
          </a:xfrm>
          <a:prstGeom prst="rect">
            <a:avLst/>
          </a:prstGeom>
          <a:noFill/>
          <a:ln/>
        </p:spPr>
        <p:txBody>
          <a:bodyPr wrap="square" lIns="0" tIns="0" rIns="0" bIns="0" rtlCol="0" anchor="ctr"/>
          <a:lstStyle/>
          <a:p>
            <a:pPr indent="0" marL="0">
              <a:buNone/>
            </a:pPr>
            <a:r>
              <a:rPr lang="en-US" sz="1050" b="1" dirty="0">
                <a:solidFill>
                  <a:srgbClr val="0F4525"/>
                </a:solidFill>
                <a:latin typeface="Calibri" pitchFamily="34" charset="0"/>
                <a:ea typeface="Calibri" pitchFamily="34" charset="-122"/>
                <a:cs typeface="Calibri" pitchFamily="34" charset="-120"/>
              </a:rPr>
              <a:t>Were control measures effective?</a:t>
            </a:r>
            <a:endParaRPr lang="en-US" sz="1050" dirty="0"/>
          </a:p>
        </p:txBody>
      </p:sp>
      <p:sp>
        <p:nvSpPr>
          <p:cNvPr id="18" name="Text 14"/>
          <p:cNvSpPr/>
          <p:nvPr/>
        </p:nvSpPr>
        <p:spPr>
          <a:xfrm>
            <a:off x="4681728" y="1554480"/>
            <a:ext cx="3968496" cy="64008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Did the controls actually reduce risk in practice? Were there cases where a control measure was not followed — and what was the outcome?</a:t>
            </a:r>
            <a:endParaRPr lang="en-US" sz="1000" dirty="0"/>
          </a:p>
        </p:txBody>
      </p:sp>
      <p:sp>
        <p:nvSpPr>
          <p:cNvPr id="19" name="Shape 15"/>
          <p:cNvSpPr/>
          <p:nvPr/>
        </p:nvSpPr>
        <p:spPr>
          <a:xfrm>
            <a:off x="365760" y="2359152"/>
            <a:ext cx="4114800" cy="1060704"/>
          </a:xfrm>
          <a:prstGeom prst="rect">
            <a:avLst/>
          </a:prstGeom>
          <a:solidFill>
            <a:srgbClr val="FFFFFF"/>
          </a:solidFill>
          <a:ln w="9525">
            <a:solidFill>
              <a:srgbClr val="D4D4CC"/>
            </a:solidFill>
            <a:prstDash val="solid"/>
          </a:ln>
          <a:effectLst>
            <a:outerShdw sx="100000" sy="100000" kx="0" ky="0" algn="bl" rotWithShape="0" blurRad="63500" dist="25400" dir="8100000">
              <a:srgbClr val="000000">
                <a:alpha val="12000"/>
              </a:srgbClr>
            </a:outerShdw>
          </a:effectLst>
        </p:spPr>
      </p:sp>
      <p:sp>
        <p:nvSpPr>
          <p:cNvPr id="20" name="Shape 16"/>
          <p:cNvSpPr/>
          <p:nvPr/>
        </p:nvSpPr>
        <p:spPr>
          <a:xfrm>
            <a:off x="365760" y="2359152"/>
            <a:ext cx="50292" cy="1060704"/>
          </a:xfrm>
          <a:prstGeom prst="rect">
            <a:avLst/>
          </a:prstGeom>
          <a:solidFill>
            <a:srgbClr val="1A6B3C"/>
          </a:solidFill>
          <a:ln w="12700">
            <a:solidFill>
              <a:srgbClr val="1A6B3C"/>
            </a:solidFill>
            <a:prstDash val="solid"/>
          </a:ln>
        </p:spPr>
      </p:sp>
      <p:sp>
        <p:nvSpPr>
          <p:cNvPr id="21" name="Text 17"/>
          <p:cNvSpPr/>
          <p:nvPr/>
        </p:nvSpPr>
        <p:spPr>
          <a:xfrm>
            <a:off x="457200" y="2395728"/>
            <a:ext cx="3968496" cy="292608"/>
          </a:xfrm>
          <a:prstGeom prst="rect">
            <a:avLst/>
          </a:prstGeom>
          <a:noFill/>
          <a:ln/>
        </p:spPr>
        <p:txBody>
          <a:bodyPr wrap="square" lIns="0" tIns="0" rIns="0" bIns="0" rtlCol="0" anchor="ctr"/>
          <a:lstStyle/>
          <a:p>
            <a:pPr indent="0" marL="0">
              <a:buNone/>
            </a:pPr>
            <a:r>
              <a:rPr lang="en-US" sz="1050" b="1" dirty="0">
                <a:solidFill>
                  <a:srgbClr val="0F4525"/>
                </a:solidFill>
                <a:latin typeface="Calibri" pitchFamily="34" charset="0"/>
                <a:ea typeface="Calibri" pitchFamily="34" charset="-122"/>
                <a:cs typeface="Calibri" pitchFamily="34" charset="-120"/>
              </a:rPr>
              <a:t>Did any unexpected hazards arise?</a:t>
            </a:r>
            <a:endParaRPr lang="en-US" sz="1050" dirty="0"/>
          </a:p>
        </p:txBody>
      </p:sp>
      <p:sp>
        <p:nvSpPr>
          <p:cNvPr id="22" name="Text 18"/>
          <p:cNvSpPr/>
          <p:nvPr/>
        </p:nvSpPr>
        <p:spPr>
          <a:xfrm>
            <a:off x="457200" y="2724912"/>
            <a:ext cx="3968496" cy="64008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Dynamic risk assessment in action — describe any on-the-spot risk decisions you made that were not covered by the static RA.</a:t>
            </a:r>
            <a:endParaRPr lang="en-US" sz="1000" dirty="0"/>
          </a:p>
        </p:txBody>
      </p:sp>
      <p:sp>
        <p:nvSpPr>
          <p:cNvPr id="23" name="Shape 19"/>
          <p:cNvSpPr/>
          <p:nvPr/>
        </p:nvSpPr>
        <p:spPr>
          <a:xfrm>
            <a:off x="4590288" y="2359152"/>
            <a:ext cx="4114800" cy="1060704"/>
          </a:xfrm>
          <a:prstGeom prst="rect">
            <a:avLst/>
          </a:prstGeom>
          <a:solidFill>
            <a:srgbClr val="FFFFFF"/>
          </a:solidFill>
          <a:ln w="9525">
            <a:solidFill>
              <a:srgbClr val="D4D4CC"/>
            </a:solidFill>
            <a:prstDash val="solid"/>
          </a:ln>
          <a:effectLst>
            <a:outerShdw sx="100000" sy="100000" kx="0" ky="0" algn="bl" rotWithShape="0" blurRad="63500" dist="25400" dir="8100000">
              <a:srgbClr val="000000">
                <a:alpha val="12000"/>
              </a:srgbClr>
            </a:outerShdw>
          </a:effectLst>
        </p:spPr>
      </p:sp>
      <p:sp>
        <p:nvSpPr>
          <p:cNvPr id="24" name="Shape 20"/>
          <p:cNvSpPr/>
          <p:nvPr/>
        </p:nvSpPr>
        <p:spPr>
          <a:xfrm>
            <a:off x="4590288" y="2359152"/>
            <a:ext cx="50292" cy="1060704"/>
          </a:xfrm>
          <a:prstGeom prst="rect">
            <a:avLst/>
          </a:prstGeom>
          <a:solidFill>
            <a:srgbClr val="1A6B3C"/>
          </a:solidFill>
          <a:ln w="12700">
            <a:solidFill>
              <a:srgbClr val="1A6B3C"/>
            </a:solidFill>
            <a:prstDash val="solid"/>
          </a:ln>
        </p:spPr>
      </p:sp>
      <p:sp>
        <p:nvSpPr>
          <p:cNvPr id="25" name="Text 21"/>
          <p:cNvSpPr/>
          <p:nvPr/>
        </p:nvSpPr>
        <p:spPr>
          <a:xfrm>
            <a:off x="4681728" y="2395728"/>
            <a:ext cx="3968496" cy="292608"/>
          </a:xfrm>
          <a:prstGeom prst="rect">
            <a:avLst/>
          </a:prstGeom>
          <a:noFill/>
          <a:ln/>
        </p:spPr>
        <p:txBody>
          <a:bodyPr wrap="square" lIns="0" tIns="0" rIns="0" bIns="0" rtlCol="0" anchor="ctr"/>
          <a:lstStyle/>
          <a:p>
            <a:pPr indent="0" marL="0">
              <a:buNone/>
            </a:pPr>
            <a:r>
              <a:rPr lang="en-US" sz="1050" b="1" dirty="0">
                <a:solidFill>
                  <a:srgbClr val="0F4525"/>
                </a:solidFill>
                <a:latin typeface="Calibri" pitchFamily="34" charset="0"/>
                <a:ea typeface="Calibri" pitchFamily="34" charset="-122"/>
                <a:cs typeface="Calibri" pitchFamily="34" charset="-120"/>
              </a:rPr>
              <a:t>What revisions are needed?</a:t>
            </a:r>
            <a:endParaRPr lang="en-US" sz="1050" dirty="0"/>
          </a:p>
        </p:txBody>
      </p:sp>
      <p:sp>
        <p:nvSpPr>
          <p:cNvPr id="26" name="Text 22"/>
          <p:cNvSpPr/>
          <p:nvPr/>
        </p:nvSpPr>
        <p:spPr>
          <a:xfrm>
            <a:off x="4681728" y="2724912"/>
            <a:ext cx="3968496" cy="64008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Would you add, remove or change any rows? Does the RA need updated likelihood/severity scores following the session? Are codes of conduct adequate?</a:t>
            </a:r>
            <a:endParaRPr lang="en-US" sz="1000" dirty="0"/>
          </a:p>
        </p:txBody>
      </p:sp>
      <p:sp>
        <p:nvSpPr>
          <p:cNvPr id="27" name="Shape 23"/>
          <p:cNvSpPr/>
          <p:nvPr/>
        </p:nvSpPr>
        <p:spPr>
          <a:xfrm>
            <a:off x="365760" y="3529584"/>
            <a:ext cx="4114800" cy="1060704"/>
          </a:xfrm>
          <a:prstGeom prst="rect">
            <a:avLst/>
          </a:prstGeom>
          <a:solidFill>
            <a:srgbClr val="FFFFFF"/>
          </a:solidFill>
          <a:ln w="9525">
            <a:solidFill>
              <a:srgbClr val="D4D4CC"/>
            </a:solidFill>
            <a:prstDash val="solid"/>
          </a:ln>
          <a:effectLst>
            <a:outerShdw sx="100000" sy="100000" kx="0" ky="0" algn="bl" rotWithShape="0" blurRad="63500" dist="25400" dir="8100000">
              <a:srgbClr val="000000">
                <a:alpha val="12000"/>
              </a:srgbClr>
            </a:outerShdw>
          </a:effectLst>
        </p:spPr>
      </p:sp>
      <p:sp>
        <p:nvSpPr>
          <p:cNvPr id="28" name="Shape 24"/>
          <p:cNvSpPr/>
          <p:nvPr/>
        </p:nvSpPr>
        <p:spPr>
          <a:xfrm>
            <a:off x="365760" y="3529584"/>
            <a:ext cx="50292" cy="1060704"/>
          </a:xfrm>
          <a:prstGeom prst="rect">
            <a:avLst/>
          </a:prstGeom>
          <a:solidFill>
            <a:srgbClr val="1A6B3C"/>
          </a:solidFill>
          <a:ln w="12700">
            <a:solidFill>
              <a:srgbClr val="1A6B3C"/>
            </a:solidFill>
            <a:prstDash val="solid"/>
          </a:ln>
        </p:spPr>
      </p:sp>
      <p:sp>
        <p:nvSpPr>
          <p:cNvPr id="29" name="Text 25"/>
          <p:cNvSpPr/>
          <p:nvPr/>
        </p:nvSpPr>
        <p:spPr>
          <a:xfrm>
            <a:off x="457200" y="3566160"/>
            <a:ext cx="3968496" cy="292608"/>
          </a:xfrm>
          <a:prstGeom prst="rect">
            <a:avLst/>
          </a:prstGeom>
          <a:noFill/>
          <a:ln/>
        </p:spPr>
        <p:txBody>
          <a:bodyPr wrap="square" lIns="0" tIns="0" rIns="0" bIns="0" rtlCol="0" anchor="ctr"/>
          <a:lstStyle/>
          <a:p>
            <a:pPr indent="0" marL="0">
              <a:buNone/>
            </a:pPr>
            <a:r>
              <a:rPr lang="en-US" sz="1050" b="1" dirty="0">
                <a:solidFill>
                  <a:srgbClr val="0F4525"/>
                </a:solidFill>
                <a:latin typeface="Calibri" pitchFamily="34" charset="0"/>
                <a:ea typeface="Calibri" pitchFamily="34" charset="-122"/>
                <a:cs typeface="Calibri" pitchFamily="34" charset="-120"/>
              </a:rPr>
              <a:t>Were any incidents or near-misses recorded?</a:t>
            </a:r>
            <a:endParaRPr lang="en-US" sz="1050" dirty="0"/>
          </a:p>
        </p:txBody>
      </p:sp>
      <p:sp>
        <p:nvSpPr>
          <p:cNvPr id="30" name="Text 26"/>
          <p:cNvSpPr/>
          <p:nvPr/>
        </p:nvSpPr>
        <p:spPr>
          <a:xfrm>
            <a:off x="457200" y="3895344"/>
            <a:ext cx="3968496" cy="64008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Under RIDDOR, certain incidents must be reported. Document near-misses too — they are early warnings of system failures.</a:t>
            </a:r>
            <a:endParaRPr lang="en-US" sz="1000" dirty="0"/>
          </a:p>
        </p:txBody>
      </p:sp>
      <p:sp>
        <p:nvSpPr>
          <p:cNvPr id="31" name="Shape 27"/>
          <p:cNvSpPr/>
          <p:nvPr/>
        </p:nvSpPr>
        <p:spPr>
          <a:xfrm>
            <a:off x="4590288" y="3529584"/>
            <a:ext cx="4114800" cy="1060704"/>
          </a:xfrm>
          <a:prstGeom prst="rect">
            <a:avLst/>
          </a:prstGeom>
          <a:solidFill>
            <a:srgbClr val="FFFFFF"/>
          </a:solidFill>
          <a:ln w="9525">
            <a:solidFill>
              <a:srgbClr val="D4D4CC"/>
            </a:solidFill>
            <a:prstDash val="solid"/>
          </a:ln>
          <a:effectLst>
            <a:outerShdw sx="100000" sy="100000" kx="0" ky="0" algn="bl" rotWithShape="0" blurRad="63500" dist="25400" dir="8100000">
              <a:srgbClr val="000000">
                <a:alpha val="12000"/>
              </a:srgbClr>
            </a:outerShdw>
          </a:effectLst>
        </p:spPr>
      </p:sp>
      <p:sp>
        <p:nvSpPr>
          <p:cNvPr id="32" name="Shape 28"/>
          <p:cNvSpPr/>
          <p:nvPr/>
        </p:nvSpPr>
        <p:spPr>
          <a:xfrm>
            <a:off x="4590288" y="3529584"/>
            <a:ext cx="50292" cy="1060704"/>
          </a:xfrm>
          <a:prstGeom prst="rect">
            <a:avLst/>
          </a:prstGeom>
          <a:solidFill>
            <a:srgbClr val="1A6B3C"/>
          </a:solidFill>
          <a:ln w="12700">
            <a:solidFill>
              <a:srgbClr val="1A6B3C"/>
            </a:solidFill>
            <a:prstDash val="solid"/>
          </a:ln>
        </p:spPr>
      </p:sp>
      <p:sp>
        <p:nvSpPr>
          <p:cNvPr id="33" name="Text 29"/>
          <p:cNvSpPr/>
          <p:nvPr/>
        </p:nvSpPr>
        <p:spPr>
          <a:xfrm>
            <a:off x="4681728" y="3566160"/>
            <a:ext cx="3968496" cy="292608"/>
          </a:xfrm>
          <a:prstGeom prst="rect">
            <a:avLst/>
          </a:prstGeom>
          <a:noFill/>
          <a:ln/>
        </p:spPr>
        <p:txBody>
          <a:bodyPr wrap="square" lIns="0" tIns="0" rIns="0" bIns="0" rtlCol="0" anchor="ctr"/>
          <a:lstStyle/>
          <a:p>
            <a:pPr indent="0" marL="0">
              <a:buNone/>
            </a:pPr>
            <a:r>
              <a:rPr lang="en-US" sz="1050" b="1" dirty="0">
                <a:solidFill>
                  <a:srgbClr val="0F4525"/>
                </a:solidFill>
                <a:latin typeface="Calibri" pitchFamily="34" charset="0"/>
                <a:ea typeface="Calibri" pitchFamily="34" charset="-122"/>
                <a:cs typeface="Calibri" pitchFamily="34" charset="-120"/>
              </a:rPr>
              <a:t>Overall: is this RA fit for the next session?</a:t>
            </a:r>
            <a:endParaRPr lang="en-US" sz="1050" dirty="0"/>
          </a:p>
        </p:txBody>
      </p:sp>
      <p:sp>
        <p:nvSpPr>
          <p:cNvPr id="34" name="Text 30"/>
          <p:cNvSpPr/>
          <p:nvPr/>
        </p:nvSpPr>
        <p:spPr>
          <a:xfrm>
            <a:off x="4681728" y="3895344"/>
            <a:ext cx="3968496" cy="64008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Yes — with minor revisions? Or does a fundamental redesign of the activity's risk management approach need to be considered?</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452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69480" y="64008"/>
            <a:ext cx="694944" cy="484632"/>
          </a:xfrm>
          <a:prstGeom prst="rect">
            <a:avLst/>
          </a:prstGeom>
        </p:spPr>
      </p:pic>
      <p:pic>
        <p:nvPicPr>
          <p:cNvPr id="3" name="Image 1" descr="preencoded.png">    </p:cNvPr>
          <p:cNvPicPr>
            <a:picLocks noChangeAspect="1"/>
          </p:cNvPicPr>
          <p:nvPr/>
        </p:nvPicPr>
        <p:blipFill>
          <a:blip r:embed="rId2"/>
          <a:stretch>
            <a:fillRect/>
          </a:stretch>
        </p:blipFill>
        <p:spPr>
          <a:xfrm>
            <a:off x="8019288" y="91440"/>
            <a:ext cx="969264" cy="402336"/>
          </a:xfrm>
          <a:prstGeom prst="rect">
            <a:avLst/>
          </a:prstGeom>
        </p:spPr>
      </p:pic>
      <p:sp>
        <p:nvSpPr>
          <p:cNvPr id="4" name="Text 0"/>
          <p:cNvSpPr/>
          <p:nvPr/>
        </p:nvSpPr>
        <p:spPr>
          <a:xfrm>
            <a:off x="5943600" y="-365760"/>
            <a:ext cx="2926080" cy="3657600"/>
          </a:xfrm>
          <a:prstGeom prst="rect">
            <a:avLst/>
          </a:prstGeom>
          <a:noFill/>
          <a:ln/>
        </p:spPr>
        <p:txBody>
          <a:bodyPr wrap="square" lIns="0" tIns="0" rIns="0" bIns="0" rtlCol="0" anchor="t"/>
          <a:lstStyle/>
          <a:p>
            <a:pPr algn="r" indent="0" marL="0">
              <a:buNone/>
            </a:pPr>
            <a:r>
              <a:rPr lang="en-US" sz="22000" b="1" dirty="0">
                <a:solidFill>
                  <a:srgbClr val="FFFFFF">
                    <a:alpha val="15000"/>
                  </a:srgbClr>
                </a:solidFill>
                <a:latin typeface="Calibri" pitchFamily="34" charset="0"/>
                <a:ea typeface="Calibri" pitchFamily="34" charset="-122"/>
                <a:cs typeface="Calibri" pitchFamily="34" charset="-120"/>
              </a:rPr>
              <a:t>4</a:t>
            </a:r>
            <a:endParaRPr lang="en-US" sz="22000" dirty="0"/>
          </a:p>
        </p:txBody>
      </p:sp>
      <p:sp>
        <p:nvSpPr>
          <p:cNvPr id="5" name="Shape 1"/>
          <p:cNvSpPr/>
          <p:nvPr/>
        </p:nvSpPr>
        <p:spPr>
          <a:xfrm>
            <a:off x="0" y="0"/>
            <a:ext cx="164592" cy="5143500"/>
          </a:xfrm>
          <a:prstGeom prst="rect">
            <a:avLst/>
          </a:prstGeom>
          <a:solidFill>
            <a:srgbClr val="C8A951"/>
          </a:solidFill>
          <a:ln w="12700">
            <a:solidFill>
              <a:srgbClr val="C8A951"/>
            </a:solidFill>
            <a:prstDash val="solid"/>
          </a:ln>
        </p:spPr>
      </p:sp>
      <p:sp>
        <p:nvSpPr>
          <p:cNvPr id="6" name="Text 2"/>
          <p:cNvSpPr/>
          <p:nvPr/>
        </p:nvSpPr>
        <p:spPr>
          <a:xfrm>
            <a:off x="347472" y="502920"/>
            <a:ext cx="6400800" cy="256032"/>
          </a:xfrm>
          <a:prstGeom prst="rect">
            <a:avLst/>
          </a:prstGeom>
          <a:noFill/>
          <a:ln/>
        </p:spPr>
        <p:txBody>
          <a:bodyPr wrap="square" lIns="0" tIns="0" rIns="0" bIns="0" rtlCol="0" anchor="ctr"/>
          <a:lstStyle/>
          <a:p>
            <a:pPr indent="0" marL="0">
              <a:buNone/>
            </a:pPr>
            <a:r>
              <a:rPr lang="en-US" sz="1100" b="1" spc="300" kern="0" dirty="0">
                <a:solidFill>
                  <a:srgbClr val="C8A951"/>
                </a:solidFill>
                <a:latin typeface="Calibri" pitchFamily="34" charset="0"/>
                <a:ea typeface="Calibri" pitchFamily="34" charset="-122"/>
                <a:cs typeface="Calibri" pitchFamily="34" charset="-120"/>
              </a:rPr>
              <a:t>LEARNING OUTCOME 4</a:t>
            </a:r>
            <a:endParaRPr lang="en-US" sz="1100" dirty="0"/>
          </a:p>
        </p:txBody>
      </p:sp>
      <p:sp>
        <p:nvSpPr>
          <p:cNvPr id="7" name="Text 3"/>
          <p:cNvSpPr/>
          <p:nvPr/>
        </p:nvSpPr>
        <p:spPr>
          <a:xfrm>
            <a:off x="347472" y="804672"/>
            <a:ext cx="6949440" cy="10058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Use Appropriate Safety Clothing and Equipment</a:t>
            </a:r>
            <a:endParaRPr lang="en-US" sz="3000" dirty="0"/>
          </a:p>
        </p:txBody>
      </p:sp>
      <p:sp>
        <p:nvSpPr>
          <p:cNvPr id="8" name="Text 4"/>
          <p:cNvSpPr/>
          <p:nvPr/>
        </p:nvSpPr>
        <p:spPr>
          <a:xfrm>
            <a:off x="347472" y="1901952"/>
            <a:ext cx="6217920" cy="384048"/>
          </a:xfrm>
          <a:prstGeom prst="rect">
            <a:avLst/>
          </a:prstGeom>
          <a:noFill/>
          <a:ln/>
        </p:spPr>
        <p:txBody>
          <a:bodyPr wrap="square" lIns="0" tIns="0" rIns="0" bIns="0" rtlCol="0" anchor="ctr"/>
          <a:lstStyle/>
          <a:p>
            <a:pPr indent="0" marL="0">
              <a:buNone/>
            </a:pPr>
            <a:r>
              <a:rPr lang="en-US" sz="1200" i="1" dirty="0">
                <a:solidFill>
                  <a:srgbClr val="E8F5EE"/>
                </a:solidFill>
                <a:latin typeface="Calibri" pitchFamily="34" charset="0"/>
                <a:ea typeface="Calibri" pitchFamily="34" charset="-122"/>
                <a:cs typeface="Calibri" pitchFamily="34" charset="-120"/>
              </a:rPr>
              <a:t>Put your equipment knowledge into practice and know how to adapt when standard kit isn't suitable.</a:t>
            </a:r>
            <a:endParaRPr lang="en-US" sz="1200" dirty="0"/>
          </a:p>
        </p:txBody>
      </p:sp>
      <p:sp>
        <p:nvSpPr>
          <p:cNvPr id="9" name="Shape 5"/>
          <p:cNvSpPr/>
          <p:nvPr/>
        </p:nvSpPr>
        <p:spPr>
          <a:xfrm>
            <a:off x="347472" y="2395728"/>
            <a:ext cx="5943600" cy="2377440"/>
          </a:xfrm>
          <a:prstGeom prst="rect">
            <a:avLst/>
          </a:prstGeom>
          <a:solidFill>
            <a:srgbClr val="0A2E18"/>
          </a:solidFill>
          <a:ln w="12700">
            <a:solidFill>
              <a:srgbClr val="1A6B3C"/>
            </a:solidFill>
            <a:prstDash val="solid"/>
          </a:ln>
        </p:spPr>
      </p:sp>
      <p:sp>
        <p:nvSpPr>
          <p:cNvPr id="10" name="Text 6"/>
          <p:cNvSpPr/>
          <p:nvPr/>
        </p:nvSpPr>
        <p:spPr>
          <a:xfrm>
            <a:off x="457200" y="2432304"/>
            <a:ext cx="5669280" cy="256032"/>
          </a:xfrm>
          <a:prstGeom prst="rect">
            <a:avLst/>
          </a:prstGeom>
          <a:noFill/>
          <a:ln/>
        </p:spPr>
        <p:txBody>
          <a:bodyPr wrap="square" lIns="0" tIns="0" rIns="0" bIns="0" rtlCol="0" anchor="ctr"/>
          <a:lstStyle/>
          <a:p>
            <a:pPr indent="0" marL="0">
              <a:buNone/>
            </a:pPr>
            <a:r>
              <a:rPr lang="en-US" sz="1000" b="1" dirty="0">
                <a:solidFill>
                  <a:srgbClr val="C8A951"/>
                </a:solidFill>
                <a:latin typeface="Calibri" pitchFamily="34" charset="0"/>
                <a:ea typeface="Calibri" pitchFamily="34" charset="-122"/>
                <a:cs typeface="Calibri" pitchFamily="34" charset="-120"/>
              </a:rPr>
              <a:t>Assessment Criteria</a:t>
            </a:r>
            <a:endParaRPr lang="en-US" sz="1000" dirty="0"/>
          </a:p>
        </p:txBody>
      </p:sp>
      <p:sp>
        <p:nvSpPr>
          <p:cNvPr id="11" name="Text 7"/>
          <p:cNvSpPr/>
          <p:nvPr/>
        </p:nvSpPr>
        <p:spPr>
          <a:xfrm>
            <a:off x="457200" y="2724912"/>
            <a:ext cx="5687568" cy="1993392"/>
          </a:xfrm>
          <a:prstGeom prst="rect">
            <a:avLst/>
          </a:prstGeom>
          <a:noFill/>
          <a:ln/>
        </p:spPr>
        <p:txBody>
          <a:bodyPr wrap="square" lIns="0" tIns="0" rIns="0" bIns="0" rtlCol="0" anchor="t"/>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4.1  Demonstrate safe use of equipment and/or clothing from 3.2 during the activity — OBSERVATION</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       (Must explain how you checked equipment before AND after use)</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4.2  Describe at least TWO situations where environmental or other considerations require alternative equipment</a:t>
            </a:r>
            <a:endParaRPr lang="en-US" sz="1100" dirty="0"/>
          </a:p>
        </p:txBody>
      </p:sp>
      <p:sp>
        <p:nvSpPr>
          <p:cNvPr id="12" name="Shape 8"/>
          <p:cNvSpPr/>
          <p:nvPr/>
        </p:nvSpPr>
        <p:spPr>
          <a:xfrm>
            <a:off x="0" y="4983480"/>
            <a:ext cx="9144000" cy="160020"/>
          </a:xfrm>
          <a:prstGeom prst="rect">
            <a:avLst/>
          </a:prstGeom>
          <a:solidFill>
            <a:srgbClr val="0A2E18"/>
          </a:solidFill>
          <a:ln w="12700">
            <a:solidFill>
              <a:srgbClr val="0A2E18"/>
            </a:solidFill>
            <a:prstDash val="solid"/>
          </a:ln>
        </p:spPr>
      </p:sp>
      <p:sp>
        <p:nvSpPr>
          <p:cNvPr id="13" name="Text 9"/>
          <p:cNvSpPr/>
          <p:nvPr/>
        </p:nvSpPr>
        <p:spPr>
          <a:xfrm>
            <a:off x="274320" y="4983480"/>
            <a:ext cx="8595360" cy="160020"/>
          </a:xfrm>
          <a:prstGeom prst="rect">
            <a:avLst/>
          </a:prstGeom>
          <a:noFill/>
          <a:ln/>
        </p:spPr>
        <p:txBody>
          <a:bodyPr wrap="square" lIns="0" tIns="0" rIns="0" bIns="0" rtlCol="0" anchor="ctr"/>
          <a:lstStyle/>
          <a:p>
            <a:pPr algn="ctr" indent="0" marL="0">
              <a:buNone/>
            </a:pPr>
            <a:r>
              <a:rPr lang="en-US" sz="800" dirty="0">
                <a:solidFill>
                  <a:srgbClr val="E8F5EE"/>
                </a:solidFill>
                <a:latin typeface="Calibri" pitchFamily="34" charset="0"/>
                <a:ea typeface="Calibri" pitchFamily="34" charset="-122"/>
                <a:cs typeface="Calibri" pitchFamily="34" charset="-120"/>
              </a:rPr>
              <a:t>HB93CY003  |  Risk Management when Learning in the Outdoors</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69480" y="64008"/>
            <a:ext cx="694944" cy="484632"/>
          </a:xfrm>
          <a:prstGeom prst="rect">
            <a:avLst/>
          </a:prstGeom>
        </p:spPr>
      </p:pic>
      <p:pic>
        <p:nvPicPr>
          <p:cNvPr id="3" name="Image 1" descr="preencoded.png">    </p:cNvPr>
          <p:cNvPicPr>
            <a:picLocks noChangeAspect="1"/>
          </p:cNvPicPr>
          <p:nvPr/>
        </p:nvPicPr>
        <p:blipFill>
          <a:blip r:embed="rId2"/>
          <a:stretch>
            <a:fillRect/>
          </a:stretch>
        </p:blipFill>
        <p:spPr>
          <a:xfrm>
            <a:off x="8019288" y="91440"/>
            <a:ext cx="969264" cy="402336"/>
          </a:xfrm>
          <a:prstGeom prst="rect">
            <a:avLst/>
          </a:prstGeom>
        </p:spPr>
      </p:pic>
      <p:sp>
        <p:nvSpPr>
          <p:cNvPr id="4" name="Shape 0"/>
          <p:cNvSpPr/>
          <p:nvPr/>
        </p:nvSpPr>
        <p:spPr>
          <a:xfrm>
            <a:off x="0" y="4983480"/>
            <a:ext cx="9144000" cy="160020"/>
          </a:xfrm>
          <a:prstGeom prst="rect">
            <a:avLst/>
          </a:prstGeom>
          <a:solidFill>
            <a:srgbClr val="1A6B3C"/>
          </a:solidFill>
          <a:ln w="12700">
            <a:solidFill>
              <a:srgbClr val="1A6B3C"/>
            </a:solidFill>
            <a:prstDash val="solid"/>
          </a:ln>
        </p:spPr>
      </p:sp>
      <p:sp>
        <p:nvSpPr>
          <p:cNvPr id="5" name="Text 1"/>
          <p:cNvSpPr/>
          <p:nvPr/>
        </p:nvSpPr>
        <p:spPr>
          <a:xfrm>
            <a:off x="109728" y="4983480"/>
            <a:ext cx="2286000" cy="160020"/>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HB93CY003</a:t>
            </a:r>
            <a:endParaRPr lang="en-US" sz="800" dirty="0"/>
          </a:p>
        </p:txBody>
      </p:sp>
      <p:sp>
        <p:nvSpPr>
          <p:cNvPr id="6" name="Text 2"/>
          <p:cNvSpPr/>
          <p:nvPr/>
        </p:nvSpPr>
        <p:spPr>
          <a:xfrm>
            <a:off x="3200400" y="4983480"/>
            <a:ext cx="5833872" cy="160020"/>
          </a:xfrm>
          <a:prstGeom prst="rect">
            <a:avLst/>
          </a:prstGeom>
          <a:noFill/>
          <a:ln/>
        </p:spPr>
        <p:txBody>
          <a:bodyPr wrap="square" lIns="0" tIns="0" rIns="0" bIns="0" rtlCol="0" anchor="ctr"/>
          <a:lstStyle/>
          <a:p>
            <a:pPr algn="r" indent="0" marL="0">
              <a:buNone/>
            </a:pPr>
            <a:r>
              <a:rPr lang="en-US" sz="800" dirty="0">
                <a:solidFill>
                  <a:srgbClr val="FFFFFF"/>
                </a:solidFill>
                <a:latin typeface="Calibri" pitchFamily="34" charset="0"/>
                <a:ea typeface="Calibri" pitchFamily="34" charset="-122"/>
                <a:cs typeface="Calibri" pitchFamily="34" charset="-120"/>
              </a:rPr>
              <a:t>Risk Management when Learning in the Outdoors  |  Level 3</a:t>
            </a:r>
            <a:endParaRPr lang="en-US" sz="800" dirty="0"/>
          </a:p>
        </p:txBody>
      </p:sp>
      <p:sp>
        <p:nvSpPr>
          <p:cNvPr id="7" name="Text 3"/>
          <p:cNvSpPr/>
          <p:nvPr/>
        </p:nvSpPr>
        <p:spPr>
          <a:xfrm>
            <a:off x="365760" y="109728"/>
            <a:ext cx="6812280" cy="530352"/>
          </a:xfrm>
          <a:prstGeom prst="rect">
            <a:avLst/>
          </a:prstGeom>
          <a:noFill/>
          <a:ln/>
        </p:spPr>
        <p:txBody>
          <a:bodyPr wrap="square" lIns="0" tIns="0" rIns="0" bIns="0" rtlCol="0" anchor="ctr"/>
          <a:lstStyle/>
          <a:p>
            <a:pPr indent="0" marL="0">
              <a:buNone/>
            </a:pPr>
            <a:r>
              <a:rPr lang="en-US" sz="2200" b="1" dirty="0">
                <a:solidFill>
                  <a:srgbClr val="0F4525"/>
                </a:solidFill>
                <a:latin typeface="Calibri" pitchFamily="34" charset="0"/>
                <a:ea typeface="Calibri" pitchFamily="34" charset="-122"/>
                <a:cs typeface="Calibri" pitchFamily="34" charset="-120"/>
              </a:rPr>
              <a:t>When Alternative Equipment Is Needed (AC 4.2)</a:t>
            </a:r>
            <a:endParaRPr lang="en-US" sz="2200" dirty="0"/>
          </a:p>
        </p:txBody>
      </p:sp>
      <p:sp>
        <p:nvSpPr>
          <p:cNvPr id="8" name="Shape 4"/>
          <p:cNvSpPr/>
          <p:nvPr/>
        </p:nvSpPr>
        <p:spPr>
          <a:xfrm>
            <a:off x="365760" y="877824"/>
            <a:ext cx="1143000" cy="201168"/>
          </a:xfrm>
          <a:prstGeom prst="rect">
            <a:avLst/>
          </a:prstGeom>
          <a:solidFill>
            <a:srgbClr val="C8A951"/>
          </a:solidFill>
          <a:ln w="12700">
            <a:solidFill>
              <a:srgbClr val="C8A951"/>
            </a:solidFill>
            <a:prstDash val="solid"/>
          </a:ln>
        </p:spPr>
      </p:sp>
      <p:sp>
        <p:nvSpPr>
          <p:cNvPr id="9" name="Text 5"/>
          <p:cNvSpPr/>
          <p:nvPr/>
        </p:nvSpPr>
        <p:spPr>
          <a:xfrm>
            <a:off x="365760" y="877824"/>
            <a:ext cx="1143000" cy="201168"/>
          </a:xfrm>
          <a:prstGeom prst="rect">
            <a:avLst/>
          </a:prstGeom>
          <a:noFill/>
          <a:ln/>
        </p:spPr>
        <p:txBody>
          <a:bodyPr wrap="square" lIns="0" tIns="0" rIns="0" bIns="0" rtlCol="0" anchor="ctr"/>
          <a:lstStyle/>
          <a:p>
            <a:pPr algn="ctr" indent="0" marL="0">
              <a:buNone/>
            </a:pPr>
            <a:r>
              <a:rPr lang="en-US" sz="900" b="1" dirty="0">
                <a:solidFill>
                  <a:srgbClr val="3D2A00"/>
                </a:solidFill>
                <a:latin typeface="Calibri" pitchFamily="34" charset="0"/>
                <a:ea typeface="Calibri" pitchFamily="34" charset="-122"/>
                <a:cs typeface="Calibri" pitchFamily="34" charset="-120"/>
              </a:rPr>
              <a:t>AC 4.2</a:t>
            </a:r>
            <a:endParaRPr lang="en-US" sz="900" dirty="0"/>
          </a:p>
        </p:txBody>
      </p:sp>
      <p:sp>
        <p:nvSpPr>
          <p:cNvPr id="10" name="Text 6"/>
          <p:cNvSpPr/>
          <p:nvPr/>
        </p:nvSpPr>
        <p:spPr>
          <a:xfrm>
            <a:off x="365760" y="914400"/>
            <a:ext cx="8412480" cy="237744"/>
          </a:xfrm>
          <a:prstGeom prst="rect">
            <a:avLst/>
          </a:prstGeom>
          <a:noFill/>
          <a:ln/>
        </p:spPr>
        <p:txBody>
          <a:bodyPr wrap="square" lIns="0" tIns="0" rIns="0" bIns="0" rtlCol="0" anchor="ctr"/>
          <a:lstStyle/>
          <a:p>
            <a:pPr indent="0" marL="0">
              <a:buNone/>
            </a:pPr>
            <a:r>
              <a:rPr lang="en-US" sz="1000" i="1" dirty="0">
                <a:solidFill>
                  <a:srgbClr val="6B7B8C"/>
                </a:solidFill>
                <a:latin typeface="Calibri" pitchFamily="34" charset="0"/>
                <a:ea typeface="Calibri" pitchFamily="34" charset="-122"/>
                <a:cs typeface="Calibri" pitchFamily="34" charset="-120"/>
              </a:rPr>
              <a:t>Minimum TWO situations. For each: describe the situation, explain why standard equipment is unsuitable, state the alternative.</a:t>
            </a:r>
            <a:endParaRPr lang="en-US" sz="1000" dirty="0"/>
          </a:p>
        </p:txBody>
      </p:sp>
      <p:sp>
        <p:nvSpPr>
          <p:cNvPr id="11" name="Shape 7"/>
          <p:cNvSpPr/>
          <p:nvPr/>
        </p:nvSpPr>
        <p:spPr>
          <a:xfrm>
            <a:off x="365760" y="1207008"/>
            <a:ext cx="2706624" cy="1609344"/>
          </a:xfrm>
          <a:prstGeom prst="rect">
            <a:avLst/>
          </a:prstGeom>
          <a:solidFill>
            <a:srgbClr val="FFFFFF"/>
          </a:solidFill>
          <a:ln w="19050">
            <a:solidFill>
              <a:srgbClr val="1E40AF"/>
            </a:solidFill>
            <a:prstDash val="solid"/>
          </a:ln>
          <a:effectLst>
            <a:outerShdw sx="100000" sy="100000" kx="0" ky="0" algn="bl" rotWithShape="0" blurRad="63500" dist="25400" dir="8100000">
              <a:srgbClr val="000000">
                <a:alpha val="12000"/>
              </a:srgbClr>
            </a:outerShdw>
          </a:effectLst>
        </p:spPr>
      </p:sp>
      <p:sp>
        <p:nvSpPr>
          <p:cNvPr id="12" name="Shape 8"/>
          <p:cNvSpPr/>
          <p:nvPr/>
        </p:nvSpPr>
        <p:spPr>
          <a:xfrm>
            <a:off x="365760" y="1207008"/>
            <a:ext cx="50292" cy="1609344"/>
          </a:xfrm>
          <a:prstGeom prst="rect">
            <a:avLst/>
          </a:prstGeom>
          <a:solidFill>
            <a:srgbClr val="1E40AF"/>
          </a:solidFill>
          <a:ln w="12700">
            <a:solidFill>
              <a:srgbClr val="1E40AF"/>
            </a:solidFill>
            <a:prstDash val="solid"/>
          </a:ln>
        </p:spPr>
      </p:sp>
      <p:sp>
        <p:nvSpPr>
          <p:cNvPr id="13" name="Text 9"/>
          <p:cNvSpPr/>
          <p:nvPr/>
        </p:nvSpPr>
        <p:spPr>
          <a:xfrm>
            <a:off x="457200" y="1243584"/>
            <a:ext cx="2560320" cy="274320"/>
          </a:xfrm>
          <a:prstGeom prst="rect">
            <a:avLst/>
          </a:prstGeom>
          <a:noFill/>
          <a:ln/>
        </p:spPr>
        <p:txBody>
          <a:bodyPr wrap="square" lIns="0" tIns="0" rIns="0" bIns="0" rtlCol="0" anchor="ctr"/>
          <a:lstStyle/>
          <a:p>
            <a:pPr indent="0" marL="0">
              <a:buNone/>
            </a:pPr>
            <a:r>
              <a:rPr lang="en-US" sz="1050" b="1" dirty="0">
                <a:solidFill>
                  <a:srgbClr val="1E40AF"/>
                </a:solidFill>
                <a:latin typeface="Calibri" pitchFamily="34" charset="0"/>
                <a:ea typeface="Calibri" pitchFamily="34" charset="-122"/>
                <a:cs typeface="Calibri" pitchFamily="34" charset="-120"/>
              </a:rPr>
              <a:t>River level too high</a:t>
            </a:r>
            <a:endParaRPr lang="en-US" sz="1050" dirty="0"/>
          </a:p>
        </p:txBody>
      </p:sp>
      <p:sp>
        <p:nvSpPr>
          <p:cNvPr id="14" name="Text 10"/>
          <p:cNvSpPr/>
          <p:nvPr/>
        </p:nvSpPr>
        <p:spPr>
          <a:xfrm>
            <a:off x="457200" y="1554480"/>
            <a:ext cx="2560320" cy="1207008"/>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After heavy rainfall, a river rises above the safe grading for the group. Standard Grade 2 kit (e.g. sit-on-top kayaks) is unsuitable on Grade 3+ water. Alternative: switch to a Grade 1 section, or substitute a land-based activity entirely.</a:t>
            </a:r>
            <a:endParaRPr lang="en-US" sz="950" dirty="0"/>
          </a:p>
        </p:txBody>
      </p:sp>
      <p:sp>
        <p:nvSpPr>
          <p:cNvPr id="15" name="Shape 11"/>
          <p:cNvSpPr/>
          <p:nvPr/>
        </p:nvSpPr>
        <p:spPr>
          <a:xfrm>
            <a:off x="3182112" y="1207008"/>
            <a:ext cx="2706624" cy="1609344"/>
          </a:xfrm>
          <a:prstGeom prst="rect">
            <a:avLst/>
          </a:prstGeom>
          <a:solidFill>
            <a:srgbClr val="FFFFFF"/>
          </a:solidFill>
          <a:ln w="19050">
            <a:solidFill>
              <a:srgbClr val="0F4525"/>
            </a:solidFill>
            <a:prstDash val="solid"/>
          </a:ln>
          <a:effectLst>
            <a:outerShdw sx="100000" sy="100000" kx="0" ky="0" algn="bl" rotWithShape="0" blurRad="63500" dist="25400" dir="8100000">
              <a:srgbClr val="000000">
                <a:alpha val="12000"/>
              </a:srgbClr>
            </a:outerShdw>
          </a:effectLst>
        </p:spPr>
      </p:sp>
      <p:sp>
        <p:nvSpPr>
          <p:cNvPr id="16" name="Shape 12"/>
          <p:cNvSpPr/>
          <p:nvPr/>
        </p:nvSpPr>
        <p:spPr>
          <a:xfrm>
            <a:off x="3182112" y="1207008"/>
            <a:ext cx="50292" cy="1609344"/>
          </a:xfrm>
          <a:prstGeom prst="rect">
            <a:avLst/>
          </a:prstGeom>
          <a:solidFill>
            <a:srgbClr val="0F4525"/>
          </a:solidFill>
          <a:ln w="12700">
            <a:solidFill>
              <a:srgbClr val="0F4525"/>
            </a:solidFill>
            <a:prstDash val="solid"/>
          </a:ln>
        </p:spPr>
      </p:sp>
      <p:sp>
        <p:nvSpPr>
          <p:cNvPr id="17" name="Text 13"/>
          <p:cNvSpPr/>
          <p:nvPr/>
        </p:nvSpPr>
        <p:spPr>
          <a:xfrm>
            <a:off x="3273552" y="1243584"/>
            <a:ext cx="2560320" cy="274320"/>
          </a:xfrm>
          <a:prstGeom prst="rect">
            <a:avLst/>
          </a:prstGeom>
          <a:noFill/>
          <a:ln/>
        </p:spPr>
        <p:txBody>
          <a:bodyPr wrap="square" lIns="0" tIns="0" rIns="0" bIns="0" rtlCol="0" anchor="ctr"/>
          <a:lstStyle/>
          <a:p>
            <a:pPr indent="0" marL="0">
              <a:buNone/>
            </a:pPr>
            <a:r>
              <a:rPr lang="en-US" sz="1050" b="1" dirty="0">
                <a:solidFill>
                  <a:srgbClr val="0F4525"/>
                </a:solidFill>
                <a:latin typeface="Calibri" pitchFamily="34" charset="0"/>
                <a:ea typeface="Calibri" pitchFamily="34" charset="-122"/>
                <a:cs typeface="Calibri" pitchFamily="34" charset="-120"/>
              </a:rPr>
              <a:t>Extreme cold / icing on rock</a:t>
            </a:r>
            <a:endParaRPr lang="en-US" sz="1050" dirty="0"/>
          </a:p>
        </p:txBody>
      </p:sp>
      <p:sp>
        <p:nvSpPr>
          <p:cNvPr id="18" name="Text 14"/>
          <p:cNvSpPr/>
          <p:nvPr/>
        </p:nvSpPr>
        <p:spPr>
          <a:xfrm>
            <a:off x="3273552" y="1554480"/>
            <a:ext cx="2560320" cy="1207008"/>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Sub-zero temperatures make rock climbing grips icy and dangerous. Standard rock shoes provide insufficient friction. Alternative: crampons and ice axes for winter mountaineering, or substitute to a lower-altitude walking route.</a:t>
            </a:r>
            <a:endParaRPr lang="en-US" sz="950" dirty="0"/>
          </a:p>
        </p:txBody>
      </p:sp>
      <p:sp>
        <p:nvSpPr>
          <p:cNvPr id="19" name="Shape 15"/>
          <p:cNvSpPr/>
          <p:nvPr/>
        </p:nvSpPr>
        <p:spPr>
          <a:xfrm>
            <a:off x="5998464" y="1207008"/>
            <a:ext cx="2706624" cy="1609344"/>
          </a:xfrm>
          <a:prstGeom prst="rect">
            <a:avLst/>
          </a:prstGeom>
          <a:solidFill>
            <a:srgbClr val="FFFFFF"/>
          </a:solidFill>
          <a:ln w="19050">
            <a:solidFill>
              <a:srgbClr val="7C3AED"/>
            </a:solidFill>
            <a:prstDash val="solid"/>
          </a:ln>
          <a:effectLst>
            <a:outerShdw sx="100000" sy="100000" kx="0" ky="0" algn="bl" rotWithShape="0" blurRad="63500" dist="25400" dir="8100000">
              <a:srgbClr val="000000">
                <a:alpha val="12000"/>
              </a:srgbClr>
            </a:outerShdw>
          </a:effectLst>
        </p:spPr>
      </p:sp>
      <p:sp>
        <p:nvSpPr>
          <p:cNvPr id="20" name="Shape 16"/>
          <p:cNvSpPr/>
          <p:nvPr/>
        </p:nvSpPr>
        <p:spPr>
          <a:xfrm>
            <a:off x="5998464" y="1207008"/>
            <a:ext cx="50292" cy="1609344"/>
          </a:xfrm>
          <a:prstGeom prst="rect">
            <a:avLst/>
          </a:prstGeom>
          <a:solidFill>
            <a:srgbClr val="7C3AED"/>
          </a:solidFill>
          <a:ln w="12700">
            <a:solidFill>
              <a:srgbClr val="7C3AED"/>
            </a:solidFill>
            <a:prstDash val="solid"/>
          </a:ln>
        </p:spPr>
      </p:sp>
      <p:sp>
        <p:nvSpPr>
          <p:cNvPr id="21" name="Text 17"/>
          <p:cNvSpPr/>
          <p:nvPr/>
        </p:nvSpPr>
        <p:spPr>
          <a:xfrm>
            <a:off x="6089904" y="1243584"/>
            <a:ext cx="2560320" cy="274320"/>
          </a:xfrm>
          <a:prstGeom prst="rect">
            <a:avLst/>
          </a:prstGeom>
          <a:noFill/>
          <a:ln/>
        </p:spPr>
        <p:txBody>
          <a:bodyPr wrap="square" lIns="0" tIns="0" rIns="0" bIns="0" rtlCol="0" anchor="ctr"/>
          <a:lstStyle/>
          <a:p>
            <a:pPr indent="0" marL="0">
              <a:buNone/>
            </a:pPr>
            <a:r>
              <a:rPr lang="en-US" sz="1050" b="1" dirty="0">
                <a:solidFill>
                  <a:srgbClr val="7C3AED"/>
                </a:solidFill>
                <a:latin typeface="Calibri" pitchFamily="34" charset="0"/>
                <a:ea typeface="Calibri" pitchFamily="34" charset="-122"/>
                <a:cs typeface="Calibri" pitchFamily="34" charset="-120"/>
              </a:rPr>
              <a:t>Participant mobility impairment</a:t>
            </a:r>
            <a:endParaRPr lang="en-US" sz="1050" dirty="0"/>
          </a:p>
        </p:txBody>
      </p:sp>
      <p:sp>
        <p:nvSpPr>
          <p:cNvPr id="22" name="Text 18"/>
          <p:cNvSpPr/>
          <p:nvPr/>
        </p:nvSpPr>
        <p:spPr>
          <a:xfrm>
            <a:off x="6089904" y="1554480"/>
            <a:ext cx="2560320" cy="1207008"/>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A participant with a lower leg injury cannot use standard walking boots or a sit-in kayak. Alternative: trekking poles to redistribute load; adaptive kayak with back support and footrests; selection of accessible terrain.</a:t>
            </a:r>
            <a:endParaRPr lang="en-US" sz="950" dirty="0"/>
          </a:p>
        </p:txBody>
      </p:sp>
      <p:sp>
        <p:nvSpPr>
          <p:cNvPr id="23" name="Shape 19"/>
          <p:cNvSpPr/>
          <p:nvPr/>
        </p:nvSpPr>
        <p:spPr>
          <a:xfrm>
            <a:off x="365760" y="2944368"/>
            <a:ext cx="2706624" cy="1609344"/>
          </a:xfrm>
          <a:prstGeom prst="rect">
            <a:avLst/>
          </a:prstGeom>
          <a:solidFill>
            <a:srgbClr val="FFFFFF"/>
          </a:solidFill>
          <a:ln w="19050">
            <a:solidFill>
              <a:srgbClr val="D97706"/>
            </a:solidFill>
            <a:prstDash val="solid"/>
          </a:ln>
          <a:effectLst>
            <a:outerShdw sx="100000" sy="100000" kx="0" ky="0" algn="bl" rotWithShape="0" blurRad="63500" dist="25400" dir="8100000">
              <a:srgbClr val="000000">
                <a:alpha val="12000"/>
              </a:srgbClr>
            </a:outerShdw>
          </a:effectLst>
        </p:spPr>
      </p:sp>
      <p:sp>
        <p:nvSpPr>
          <p:cNvPr id="24" name="Shape 20"/>
          <p:cNvSpPr/>
          <p:nvPr/>
        </p:nvSpPr>
        <p:spPr>
          <a:xfrm>
            <a:off x="365760" y="2944368"/>
            <a:ext cx="50292" cy="1609344"/>
          </a:xfrm>
          <a:prstGeom prst="rect">
            <a:avLst/>
          </a:prstGeom>
          <a:solidFill>
            <a:srgbClr val="D97706"/>
          </a:solidFill>
          <a:ln w="12700">
            <a:solidFill>
              <a:srgbClr val="D97706"/>
            </a:solidFill>
            <a:prstDash val="solid"/>
          </a:ln>
        </p:spPr>
      </p:sp>
      <p:sp>
        <p:nvSpPr>
          <p:cNvPr id="25" name="Text 21"/>
          <p:cNvSpPr/>
          <p:nvPr/>
        </p:nvSpPr>
        <p:spPr>
          <a:xfrm>
            <a:off x="457200" y="2980944"/>
            <a:ext cx="2560320" cy="274320"/>
          </a:xfrm>
          <a:prstGeom prst="rect">
            <a:avLst/>
          </a:prstGeom>
          <a:noFill/>
          <a:ln/>
        </p:spPr>
        <p:txBody>
          <a:bodyPr wrap="square" lIns="0" tIns="0" rIns="0" bIns="0" rtlCol="0" anchor="ctr"/>
          <a:lstStyle/>
          <a:p>
            <a:pPr indent="0" marL="0">
              <a:buNone/>
            </a:pPr>
            <a:r>
              <a:rPr lang="en-US" sz="1050" b="1" dirty="0">
                <a:solidFill>
                  <a:srgbClr val="D97706"/>
                </a:solidFill>
                <a:latin typeface="Calibri" pitchFamily="34" charset="0"/>
                <a:ea typeface="Calibri" pitchFamily="34" charset="-122"/>
                <a:cs typeface="Calibri" pitchFamily="34" charset="-120"/>
              </a:rPr>
              <a:t>Lightning risk on exposed terrain</a:t>
            </a:r>
            <a:endParaRPr lang="en-US" sz="1050" dirty="0"/>
          </a:p>
        </p:txBody>
      </p:sp>
      <p:sp>
        <p:nvSpPr>
          <p:cNvPr id="26" name="Text 22"/>
          <p:cNvSpPr/>
          <p:nvPr/>
        </p:nvSpPr>
        <p:spPr>
          <a:xfrm>
            <a:off x="457200" y="3291840"/>
            <a:ext cx="2560320" cy="1207008"/>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A storm developing during a hill walk creates lightning risk on exposed ridges. Standard waterproofs offer no lightning protection. Alternative: descend off the ridge, move to low ground, shelter in valley away from isolated trees.</a:t>
            </a:r>
            <a:endParaRPr lang="en-US" sz="950" dirty="0"/>
          </a:p>
        </p:txBody>
      </p:sp>
      <p:sp>
        <p:nvSpPr>
          <p:cNvPr id="27" name="Shape 23"/>
          <p:cNvSpPr/>
          <p:nvPr/>
        </p:nvSpPr>
        <p:spPr>
          <a:xfrm>
            <a:off x="3182112" y="2944368"/>
            <a:ext cx="2706624" cy="1609344"/>
          </a:xfrm>
          <a:prstGeom prst="rect">
            <a:avLst/>
          </a:prstGeom>
          <a:solidFill>
            <a:srgbClr val="FFFFFF"/>
          </a:solidFill>
          <a:ln w="19050">
            <a:solidFill>
              <a:srgbClr val="991B1B"/>
            </a:solidFill>
            <a:prstDash val="solid"/>
          </a:ln>
          <a:effectLst>
            <a:outerShdw sx="100000" sy="100000" kx="0" ky="0" algn="bl" rotWithShape="0" blurRad="63500" dist="25400" dir="8100000">
              <a:srgbClr val="000000">
                <a:alpha val="12000"/>
              </a:srgbClr>
            </a:outerShdw>
          </a:effectLst>
        </p:spPr>
      </p:sp>
      <p:sp>
        <p:nvSpPr>
          <p:cNvPr id="28" name="Shape 24"/>
          <p:cNvSpPr/>
          <p:nvPr/>
        </p:nvSpPr>
        <p:spPr>
          <a:xfrm>
            <a:off x="3182112" y="2944368"/>
            <a:ext cx="50292" cy="1609344"/>
          </a:xfrm>
          <a:prstGeom prst="rect">
            <a:avLst/>
          </a:prstGeom>
          <a:solidFill>
            <a:srgbClr val="991B1B"/>
          </a:solidFill>
          <a:ln w="12700">
            <a:solidFill>
              <a:srgbClr val="991B1B"/>
            </a:solidFill>
            <a:prstDash val="solid"/>
          </a:ln>
        </p:spPr>
      </p:sp>
      <p:sp>
        <p:nvSpPr>
          <p:cNvPr id="29" name="Text 25"/>
          <p:cNvSpPr/>
          <p:nvPr/>
        </p:nvSpPr>
        <p:spPr>
          <a:xfrm>
            <a:off x="3273552" y="2980944"/>
            <a:ext cx="2560320" cy="274320"/>
          </a:xfrm>
          <a:prstGeom prst="rect">
            <a:avLst/>
          </a:prstGeom>
          <a:noFill/>
          <a:ln/>
        </p:spPr>
        <p:txBody>
          <a:bodyPr wrap="square" lIns="0" tIns="0" rIns="0" bIns="0" rtlCol="0" anchor="ctr"/>
          <a:lstStyle/>
          <a:p>
            <a:pPr indent="0" marL="0">
              <a:buNone/>
            </a:pPr>
            <a:r>
              <a:rPr lang="en-US" sz="1050" b="1" dirty="0">
                <a:solidFill>
                  <a:srgbClr val="991B1B"/>
                </a:solidFill>
                <a:latin typeface="Calibri" pitchFamily="34" charset="0"/>
                <a:ea typeface="Calibri" pitchFamily="34" charset="-122"/>
                <a:cs typeface="Calibri" pitchFamily="34" charset="-120"/>
              </a:rPr>
              <a:t>Equipment failure on activity</a:t>
            </a:r>
            <a:endParaRPr lang="en-US" sz="1050" dirty="0"/>
          </a:p>
        </p:txBody>
      </p:sp>
      <p:sp>
        <p:nvSpPr>
          <p:cNvPr id="30" name="Text 26"/>
          <p:cNvSpPr/>
          <p:nvPr/>
        </p:nvSpPr>
        <p:spPr>
          <a:xfrm>
            <a:off x="3273552" y="3291840"/>
            <a:ext cx="2560320" cy="1207008"/>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A punctured tyre on a mountain bike leaves one participant unable to complete the route. Alternative: spare inner tube and repair kit (always carried); or a shorter return route that doesn't require that bike.</a:t>
            </a:r>
            <a:endParaRPr lang="en-US" sz="950" dirty="0"/>
          </a:p>
        </p:txBody>
      </p:sp>
      <p:sp>
        <p:nvSpPr>
          <p:cNvPr id="31" name="Shape 27"/>
          <p:cNvSpPr/>
          <p:nvPr/>
        </p:nvSpPr>
        <p:spPr>
          <a:xfrm>
            <a:off x="5998464" y="2944368"/>
            <a:ext cx="2706624" cy="1609344"/>
          </a:xfrm>
          <a:prstGeom prst="rect">
            <a:avLst/>
          </a:prstGeom>
          <a:solidFill>
            <a:srgbClr val="FFFFFF"/>
          </a:solidFill>
          <a:ln w="19050">
            <a:solidFill>
              <a:srgbClr val="6B7B8C"/>
            </a:solidFill>
            <a:prstDash val="solid"/>
          </a:ln>
          <a:effectLst>
            <a:outerShdw sx="100000" sy="100000" kx="0" ky="0" algn="bl" rotWithShape="0" blurRad="63500" dist="25400" dir="8100000">
              <a:srgbClr val="000000">
                <a:alpha val="12000"/>
              </a:srgbClr>
            </a:outerShdw>
          </a:effectLst>
        </p:spPr>
      </p:sp>
      <p:sp>
        <p:nvSpPr>
          <p:cNvPr id="32" name="Shape 28"/>
          <p:cNvSpPr/>
          <p:nvPr/>
        </p:nvSpPr>
        <p:spPr>
          <a:xfrm>
            <a:off x="5998464" y="2944368"/>
            <a:ext cx="50292" cy="1609344"/>
          </a:xfrm>
          <a:prstGeom prst="rect">
            <a:avLst/>
          </a:prstGeom>
          <a:solidFill>
            <a:srgbClr val="6B7B8C"/>
          </a:solidFill>
          <a:ln w="12700">
            <a:solidFill>
              <a:srgbClr val="6B7B8C"/>
            </a:solidFill>
            <a:prstDash val="solid"/>
          </a:ln>
        </p:spPr>
      </p:sp>
      <p:sp>
        <p:nvSpPr>
          <p:cNvPr id="33" name="Text 29"/>
          <p:cNvSpPr/>
          <p:nvPr/>
        </p:nvSpPr>
        <p:spPr>
          <a:xfrm>
            <a:off x="6089904" y="2980944"/>
            <a:ext cx="2560320" cy="274320"/>
          </a:xfrm>
          <a:prstGeom prst="rect">
            <a:avLst/>
          </a:prstGeom>
          <a:noFill/>
          <a:ln/>
        </p:spPr>
        <p:txBody>
          <a:bodyPr wrap="square" lIns="0" tIns="0" rIns="0" bIns="0" rtlCol="0" anchor="ctr"/>
          <a:lstStyle/>
          <a:p>
            <a:pPr indent="0" marL="0">
              <a:buNone/>
            </a:pPr>
            <a:r>
              <a:rPr lang="en-US" sz="1050" b="1" dirty="0">
                <a:solidFill>
                  <a:srgbClr val="6B7B8C"/>
                </a:solidFill>
                <a:latin typeface="Calibri" pitchFamily="34" charset="0"/>
                <a:ea typeface="Calibri" pitchFamily="34" charset="-122"/>
                <a:cs typeface="Calibri" pitchFamily="34" charset="-120"/>
              </a:rPr>
              <a:t>Visibility reduced — fog/mist</a:t>
            </a:r>
            <a:endParaRPr lang="en-US" sz="1050" dirty="0"/>
          </a:p>
        </p:txBody>
      </p:sp>
      <p:sp>
        <p:nvSpPr>
          <p:cNvPr id="34" name="Text 30"/>
          <p:cNvSpPr/>
          <p:nvPr/>
        </p:nvSpPr>
        <p:spPr>
          <a:xfrm>
            <a:off x="6089904" y="3291840"/>
            <a:ext cx="2560320" cy="1207008"/>
          </a:xfrm>
          <a:prstGeom prst="rect">
            <a:avLst/>
          </a:prstGeom>
          <a:noFill/>
          <a:ln/>
        </p:spPr>
        <p:txBody>
          <a:bodyPr wrap="square" lIns="0" tIns="0" rIns="0" bIns="0" rtlCol="0" anchor="t"/>
          <a:lstStyle/>
          <a:p>
            <a:pPr indent="0" marL="0">
              <a:buNone/>
            </a:pPr>
            <a:r>
              <a:rPr lang="en-US" sz="950" dirty="0">
                <a:solidFill>
                  <a:srgbClr val="1A1A1A"/>
                </a:solidFill>
                <a:latin typeface="Calibri" pitchFamily="34" charset="0"/>
                <a:ea typeface="Calibri" pitchFamily="34" charset="-122"/>
                <a:cs typeface="Calibri" pitchFamily="34" charset="-120"/>
              </a:rPr>
              <a:t>Thick fog on a navigation exercise makes the intended terrain too hazardous. Map and compass skills are not sufficient for the group's level. Alternative: lower terrain, more distinct navigational features, or a supervised exercise on a simpler route.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269480" y="64008"/>
            <a:ext cx="694944" cy="484632"/>
          </a:xfrm>
          <a:prstGeom prst="rect">
            <a:avLst/>
          </a:prstGeom>
        </p:spPr>
      </p:pic>
      <p:pic>
        <p:nvPicPr>
          <p:cNvPr id="3" name="Image 1" descr="preencoded.png">    </p:cNvPr>
          <p:cNvPicPr>
            <a:picLocks noChangeAspect="1"/>
          </p:cNvPicPr>
          <p:nvPr/>
        </p:nvPicPr>
        <p:blipFill>
          <a:blip r:embed="rId2"/>
          <a:stretch>
            <a:fillRect/>
          </a:stretch>
        </p:blipFill>
        <p:spPr>
          <a:xfrm>
            <a:off x="8019288" y="91440"/>
            <a:ext cx="969264" cy="402336"/>
          </a:xfrm>
          <a:prstGeom prst="rect">
            <a:avLst/>
          </a:prstGeom>
        </p:spPr>
      </p:pic>
      <p:sp>
        <p:nvSpPr>
          <p:cNvPr id="4" name="Shape 0"/>
          <p:cNvSpPr/>
          <p:nvPr/>
        </p:nvSpPr>
        <p:spPr>
          <a:xfrm>
            <a:off x="0" y="4983480"/>
            <a:ext cx="9144000" cy="160020"/>
          </a:xfrm>
          <a:prstGeom prst="rect">
            <a:avLst/>
          </a:prstGeom>
          <a:solidFill>
            <a:srgbClr val="1A6B3C"/>
          </a:solidFill>
          <a:ln w="12700">
            <a:solidFill>
              <a:srgbClr val="1A6B3C"/>
            </a:solidFill>
            <a:prstDash val="solid"/>
          </a:ln>
        </p:spPr>
      </p:sp>
      <p:sp>
        <p:nvSpPr>
          <p:cNvPr id="5" name="Text 1"/>
          <p:cNvSpPr/>
          <p:nvPr/>
        </p:nvSpPr>
        <p:spPr>
          <a:xfrm>
            <a:off x="109728" y="4983480"/>
            <a:ext cx="2286000" cy="160020"/>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HB93CY003</a:t>
            </a:r>
            <a:endParaRPr lang="en-US" sz="800" dirty="0"/>
          </a:p>
        </p:txBody>
      </p:sp>
      <p:sp>
        <p:nvSpPr>
          <p:cNvPr id="6" name="Text 2"/>
          <p:cNvSpPr/>
          <p:nvPr/>
        </p:nvSpPr>
        <p:spPr>
          <a:xfrm>
            <a:off x="3200400" y="4983480"/>
            <a:ext cx="5833872" cy="160020"/>
          </a:xfrm>
          <a:prstGeom prst="rect">
            <a:avLst/>
          </a:prstGeom>
          <a:noFill/>
          <a:ln/>
        </p:spPr>
        <p:txBody>
          <a:bodyPr wrap="square" lIns="0" tIns="0" rIns="0" bIns="0" rtlCol="0" anchor="ctr"/>
          <a:lstStyle/>
          <a:p>
            <a:pPr algn="r" indent="0" marL="0">
              <a:buNone/>
            </a:pPr>
            <a:r>
              <a:rPr lang="en-US" sz="800" dirty="0">
                <a:solidFill>
                  <a:srgbClr val="FFFFFF"/>
                </a:solidFill>
                <a:latin typeface="Calibri" pitchFamily="34" charset="0"/>
                <a:ea typeface="Calibri" pitchFamily="34" charset="-122"/>
                <a:cs typeface="Calibri" pitchFamily="34" charset="-120"/>
              </a:rPr>
              <a:t>Risk Management when Learning in the Outdoors  |  Level 3</a:t>
            </a:r>
            <a:endParaRPr lang="en-US" sz="800" dirty="0"/>
          </a:p>
        </p:txBody>
      </p:sp>
      <p:sp>
        <p:nvSpPr>
          <p:cNvPr id="7" name="Text 3"/>
          <p:cNvSpPr/>
          <p:nvPr/>
        </p:nvSpPr>
        <p:spPr>
          <a:xfrm>
            <a:off x="365760" y="109728"/>
            <a:ext cx="6812280" cy="530352"/>
          </a:xfrm>
          <a:prstGeom prst="rect">
            <a:avLst/>
          </a:prstGeom>
          <a:noFill/>
          <a:ln/>
        </p:spPr>
        <p:txBody>
          <a:bodyPr wrap="square" lIns="0" tIns="0" rIns="0" bIns="0" rtlCol="0" anchor="ctr"/>
          <a:lstStyle/>
          <a:p>
            <a:pPr indent="0" marL="0">
              <a:buNone/>
            </a:pPr>
            <a:r>
              <a:rPr lang="en-US" sz="2200" b="1" dirty="0">
                <a:solidFill>
                  <a:srgbClr val="0F4525"/>
                </a:solidFill>
                <a:latin typeface="Calibri" pitchFamily="34" charset="0"/>
                <a:ea typeface="Calibri" pitchFamily="34" charset="-122"/>
                <a:cs typeface="Calibri" pitchFamily="34" charset="-120"/>
              </a:rPr>
              <a:t>Key Terms Revision</a:t>
            </a:r>
            <a:endParaRPr lang="en-US" sz="2200" dirty="0"/>
          </a:p>
        </p:txBody>
      </p:sp>
      <p:sp>
        <p:nvSpPr>
          <p:cNvPr id="8" name="Shape 4"/>
          <p:cNvSpPr/>
          <p:nvPr/>
        </p:nvSpPr>
        <p:spPr>
          <a:xfrm>
            <a:off x="365760" y="658368"/>
            <a:ext cx="8412480" cy="237744"/>
          </a:xfrm>
          <a:prstGeom prst="rect">
            <a:avLst/>
          </a:prstGeom>
          <a:solidFill>
            <a:srgbClr val="E8F5EE"/>
          </a:solidFill>
          <a:ln w="12700">
            <a:solidFill>
              <a:srgbClr val="1A6B3C"/>
            </a:solidFill>
            <a:prstDash val="solid"/>
          </a:ln>
        </p:spPr>
      </p:sp>
      <p:sp>
        <p:nvSpPr>
          <p:cNvPr id="9" name="Text 5"/>
          <p:cNvSpPr/>
          <p:nvPr/>
        </p:nvSpPr>
        <p:spPr>
          <a:xfrm>
            <a:off x="475488" y="658368"/>
            <a:ext cx="8229600" cy="237744"/>
          </a:xfrm>
          <a:prstGeom prst="rect">
            <a:avLst/>
          </a:prstGeom>
          <a:noFill/>
          <a:ln/>
        </p:spPr>
        <p:txBody>
          <a:bodyPr wrap="square" lIns="0" tIns="0" rIns="0" bIns="0" rtlCol="0" anchor="ctr"/>
          <a:lstStyle/>
          <a:p>
            <a:pPr indent="0" marL="0">
              <a:buNone/>
            </a:pPr>
            <a:r>
              <a:rPr lang="en-US" sz="1000" b="1" dirty="0">
                <a:solidFill>
                  <a:srgbClr val="0F4525"/>
                </a:solidFill>
                <a:latin typeface="Calibri" pitchFamily="34" charset="0"/>
                <a:ea typeface="Calibri" pitchFamily="34" charset="-122"/>
                <a:cs typeface="Calibri" pitchFamily="34" charset="-120"/>
              </a:rPr>
              <a:t>Can you define each term without looking? Test yourself with a partner.</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969264"/>
          <a:ext cx="4169664" cy="3913632"/>
        </p:xfrm>
        <a:graphic>
          <a:graphicData uri="http://schemas.openxmlformats.org/drawingml/2006/table">
            <a:tbl>
              <a:tblPr/>
              <a:tblGrid>
                <a:gridCol w="1280160"/>
                <a:gridCol w="2889504"/>
              </a:tblGrid>
              <a:tr h="566928">
                <a:tc>
                  <a:txBody>
                    <a:bodyPr/>
                    <a:lstStyle/>
                    <a:p>
                      <a:pPr indent="0" marL="0">
                        <a:buNone/>
                      </a:pPr>
                      <a:r>
                        <a:rPr lang="en-US" sz="950" b="1" dirty="0">
                          <a:solidFill>
                            <a:srgbClr val="0F4525"/>
                          </a:solidFill>
                          <a:latin typeface="Calibri" pitchFamily="34" charset="0"/>
                          <a:ea typeface="Calibri" pitchFamily="34" charset="-122"/>
                          <a:cs typeface="Calibri" pitchFamily="34" charset="-120"/>
                        </a:rPr>
                        <a:t>Hazard</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solidFill>
                      <a:srgbClr val="E8F5EE"/>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Source of potential harm — anything that could cause injury or illness.</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tcPr>
                </a:tc>
              </a:tr>
              <a:tr h="566928">
                <a:tc>
                  <a:txBody>
                    <a:bodyPr/>
                    <a:lstStyle/>
                    <a:p>
                      <a:pPr indent="0" marL="0">
                        <a:buNone/>
                      </a:pPr>
                      <a:r>
                        <a:rPr lang="en-US" sz="950" b="1" dirty="0">
                          <a:solidFill>
                            <a:srgbClr val="0F4525"/>
                          </a:solidFill>
                          <a:latin typeface="Calibri" pitchFamily="34" charset="0"/>
                          <a:ea typeface="Calibri" pitchFamily="34" charset="-122"/>
                          <a:cs typeface="Calibri" pitchFamily="34" charset="-120"/>
                        </a:rPr>
                        <a:t>Risk</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solidFill>
                      <a:srgbClr val="E8F5EE"/>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Likelihood × severity that harm will occur from a specific hazard.</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tcPr>
                </a:tc>
              </a:tr>
              <a:tr h="566928">
                <a:tc>
                  <a:txBody>
                    <a:bodyPr/>
                    <a:lstStyle/>
                    <a:p>
                      <a:pPr indent="0" marL="0">
                        <a:buNone/>
                      </a:pPr>
                      <a:r>
                        <a:rPr lang="en-US" sz="950" b="1" dirty="0">
                          <a:solidFill>
                            <a:srgbClr val="0F4525"/>
                          </a:solidFill>
                          <a:latin typeface="Calibri" pitchFamily="34" charset="0"/>
                          <a:ea typeface="Calibri" pitchFamily="34" charset="-122"/>
                          <a:cs typeface="Calibri" pitchFamily="34" charset="-120"/>
                        </a:rPr>
                        <a:t>Risk Rating</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solidFill>
                      <a:srgbClr val="E8F5EE"/>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Likelihood × Severity score: Low 1–4 / Medium 5–9 / High 10–15 / Very High 16–25.</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tcPr>
                </a:tc>
              </a:tr>
              <a:tr h="566928">
                <a:tc>
                  <a:txBody>
                    <a:bodyPr/>
                    <a:lstStyle/>
                    <a:p>
                      <a:pPr indent="0" marL="0">
                        <a:buNone/>
                      </a:pPr>
                      <a:r>
                        <a:rPr lang="en-US" sz="950" b="1" dirty="0">
                          <a:solidFill>
                            <a:srgbClr val="0F4525"/>
                          </a:solidFill>
                          <a:latin typeface="Calibri" pitchFamily="34" charset="0"/>
                          <a:ea typeface="Calibri" pitchFamily="34" charset="-122"/>
                          <a:cs typeface="Calibri" pitchFamily="34" charset="-120"/>
                        </a:rPr>
                        <a:t>Control Measure</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solidFill>
                      <a:srgbClr val="E8F5EE"/>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Action that reduces the likelihood or severity of a risk.</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tcPr>
                </a:tc>
              </a:tr>
              <a:tr h="566928">
                <a:tc>
                  <a:txBody>
                    <a:bodyPr/>
                    <a:lstStyle/>
                    <a:p>
                      <a:pPr indent="0" marL="0">
                        <a:buNone/>
                      </a:pPr>
                      <a:r>
                        <a:rPr lang="en-US" sz="950" b="1" dirty="0">
                          <a:solidFill>
                            <a:srgbClr val="0F4525"/>
                          </a:solidFill>
                          <a:latin typeface="Calibri" pitchFamily="34" charset="0"/>
                          <a:ea typeface="Calibri" pitchFamily="34" charset="-122"/>
                          <a:cs typeface="Calibri" pitchFamily="34" charset="-120"/>
                        </a:rPr>
                        <a:t>Dynamic RA (DRA)</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solidFill>
                      <a:srgbClr val="E8F5EE"/>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Ongoing real-time risk assessment carried out during the activity as conditions change.</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tcPr>
                </a:tc>
              </a:tr>
              <a:tr h="566928">
                <a:tc>
                  <a:txBody>
                    <a:bodyPr/>
                    <a:lstStyle/>
                    <a:p>
                      <a:pPr indent="0" marL="0">
                        <a:buNone/>
                      </a:pPr>
                      <a:r>
                        <a:rPr lang="en-US" sz="950" b="1" dirty="0">
                          <a:solidFill>
                            <a:srgbClr val="0F4525"/>
                          </a:solidFill>
                          <a:latin typeface="Calibri" pitchFamily="34" charset="0"/>
                          <a:ea typeface="Calibri" pitchFamily="34" charset="-122"/>
                          <a:cs typeface="Calibri" pitchFamily="34" charset="-120"/>
                        </a:rPr>
                        <a:t>Residual Risk</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solidFill>
                      <a:srgbClr val="E8F5EE"/>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Risk level remaining after control measures have been implemented.</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tcPr>
                </a:tc>
              </a:tr>
            </a:tbl>
          </a:graphicData>
        </a:graphic>
      </p:graphicFrame>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4608576" y="969264"/>
          <a:ext cx="4169664" cy="3913632"/>
        </p:xfrm>
        <a:graphic>
          <a:graphicData uri="http://schemas.openxmlformats.org/drawingml/2006/table">
            <a:tbl>
              <a:tblPr/>
              <a:tblGrid>
                <a:gridCol w="1280160"/>
                <a:gridCol w="2889504"/>
              </a:tblGrid>
              <a:tr h="566928">
                <a:tc>
                  <a:txBody>
                    <a:bodyPr/>
                    <a:lstStyle/>
                    <a:p>
                      <a:pPr indent="0" marL="0">
                        <a:buNone/>
                      </a:pPr>
                      <a:r>
                        <a:rPr lang="en-US" sz="950" b="1" dirty="0">
                          <a:solidFill>
                            <a:srgbClr val="0F4525"/>
                          </a:solidFill>
                          <a:latin typeface="Calibri" pitchFamily="34" charset="0"/>
                          <a:ea typeface="Calibri" pitchFamily="34" charset="-122"/>
                          <a:cs typeface="Calibri" pitchFamily="34" charset="-120"/>
                        </a:rPr>
                        <a:t>HSWA 1974</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solidFill>
                      <a:srgbClr val="E8F5EE"/>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Health and Safety at Work Act — primary UK workplace health and safety legislation.</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tcPr>
                </a:tc>
              </a:tr>
              <a:tr h="566928">
                <a:tc>
                  <a:txBody>
                    <a:bodyPr/>
                    <a:lstStyle/>
                    <a:p>
                      <a:pPr indent="0" marL="0">
                        <a:buNone/>
                      </a:pPr>
                      <a:r>
                        <a:rPr lang="en-US" sz="950" b="1" dirty="0">
                          <a:solidFill>
                            <a:srgbClr val="0F4525"/>
                          </a:solidFill>
                          <a:latin typeface="Calibri" pitchFamily="34" charset="0"/>
                          <a:ea typeface="Calibri" pitchFamily="34" charset="-122"/>
                          <a:cs typeface="Calibri" pitchFamily="34" charset="-120"/>
                        </a:rPr>
                        <a:t>RIDDOR</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solidFill>
                      <a:srgbClr val="E8F5EE"/>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Reporting of Injuries, Diseases and Dangerous Occurrences Regulations 2013.</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tcPr>
                </a:tc>
              </a:tr>
              <a:tr h="566928">
                <a:tc>
                  <a:txBody>
                    <a:bodyPr/>
                    <a:lstStyle/>
                    <a:p>
                      <a:pPr indent="0" marL="0">
                        <a:buNone/>
                      </a:pPr>
                      <a:r>
                        <a:rPr lang="en-US" sz="950" b="1" dirty="0">
                          <a:solidFill>
                            <a:srgbClr val="0F4525"/>
                          </a:solidFill>
                          <a:latin typeface="Calibri" pitchFamily="34" charset="0"/>
                          <a:ea typeface="Calibri" pitchFamily="34" charset="-122"/>
                          <a:cs typeface="Calibri" pitchFamily="34" charset="-120"/>
                        </a:rPr>
                        <a:t>AALA</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solidFill>
                      <a:srgbClr val="E8F5EE"/>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Adventure Activities Licensing Authority — licenses providers selling activities to under-18s.</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tcPr>
                </a:tc>
              </a:tr>
              <a:tr h="566928">
                <a:tc>
                  <a:txBody>
                    <a:bodyPr/>
                    <a:lstStyle/>
                    <a:p>
                      <a:pPr indent="0" marL="0">
                        <a:buNone/>
                      </a:pPr>
                      <a:r>
                        <a:rPr lang="en-US" sz="950" b="1" dirty="0">
                          <a:solidFill>
                            <a:srgbClr val="0F4525"/>
                          </a:solidFill>
                          <a:latin typeface="Calibri" pitchFamily="34" charset="0"/>
                          <a:ea typeface="Calibri" pitchFamily="34" charset="-122"/>
                          <a:cs typeface="Calibri" pitchFamily="34" charset="-120"/>
                        </a:rPr>
                        <a:t>OEAP</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solidFill>
                      <a:srgbClr val="E8F5EE"/>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Outdoor Education Advisers Panel — produces National Guidance for educational visits.</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tcPr>
                </a:tc>
              </a:tr>
              <a:tr h="566928">
                <a:tc>
                  <a:txBody>
                    <a:bodyPr/>
                    <a:lstStyle/>
                    <a:p>
                      <a:pPr indent="0" marL="0">
                        <a:buNone/>
                      </a:pPr>
                      <a:r>
                        <a:rPr lang="en-US" sz="950" b="1" dirty="0">
                          <a:solidFill>
                            <a:srgbClr val="0F4525"/>
                          </a:solidFill>
                          <a:latin typeface="Calibri" pitchFamily="34" charset="0"/>
                          <a:ea typeface="Calibri" pitchFamily="34" charset="-122"/>
                          <a:cs typeface="Calibri" pitchFamily="34" charset="-120"/>
                        </a:rPr>
                        <a:t>NORMS</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solidFill>
                      <a:srgbClr val="E8F5EE"/>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Helmet check: No damage; One impact max; Retention system; Manufacturer date; Size.</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tcPr>
                </a:tc>
              </a:tr>
              <a:tr h="566928">
                <a:tc>
                  <a:txBody>
                    <a:bodyPr/>
                    <a:lstStyle/>
                    <a:p>
                      <a:pPr indent="0" marL="0">
                        <a:buNone/>
                      </a:pPr>
                      <a:r>
                        <a:rPr lang="en-US" sz="950" b="1" dirty="0">
                          <a:solidFill>
                            <a:srgbClr val="0F4525"/>
                          </a:solidFill>
                          <a:latin typeface="Calibri" pitchFamily="34" charset="0"/>
                          <a:ea typeface="Calibri" pitchFamily="34" charset="-122"/>
                          <a:cs typeface="Calibri" pitchFamily="34" charset="-120"/>
                        </a:rPr>
                        <a:t>Codes of Conduct</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solidFill>
                      <a:srgbClr val="E8F5EE"/>
                    </a:solidFill>
                  </a:tcPr>
                </a:tc>
                <a:tc>
                  <a:txBody>
                    <a:bodyPr/>
                    <a:lstStyle/>
                    <a:p>
                      <a:pPr indent="0" marL="0">
                        <a:buNone/>
                      </a:pPr>
                      <a:r>
                        <a:rPr lang="en-US" sz="950" dirty="0">
                          <a:solidFill>
                            <a:srgbClr val="1A1A1A"/>
                          </a:solidFill>
                          <a:latin typeface="Calibri" pitchFamily="34" charset="0"/>
                          <a:ea typeface="Calibri" pitchFamily="34" charset="-122"/>
                          <a:cs typeface="Calibri" pitchFamily="34" charset="-120"/>
                        </a:rPr>
                        <a:t>Rules participants and leaders agree to follow during the outdoor activity.</a:t>
                      </a:r>
                      <a:endParaRPr lang="en-US" sz="950" dirty="0">
                        <a:latin typeface="Calibri" charset="0"/>
                        <a:ea typeface="Calibri" charset="0"/>
                        <a:cs typeface="Calibri" charset="0"/>
                      </a:endParaRPr>
                    </a:p>
                  </a:txBody>
                  <a:tcPr marL="76200" marR="76200" marT="50800" marB="50800" anchor="ctr">
                    <a:lnL w="6350" cap="flat" cmpd="sng" algn="ctr">
                      <a:solidFill>
                        <a:srgbClr val="D4D4CC"/>
                      </a:solidFill>
                      <a:prstDash val="solid"/>
                      <a:round/>
                      <a:headEnd type="none" w="med" len="med"/>
                      <a:tailEnd type="none" w="med" len="med"/>
                    </a:lnL>
                    <a:lnR w="6350" cap="flat" cmpd="sng" algn="ctr">
                      <a:solidFill>
                        <a:srgbClr val="D4D4CC"/>
                      </a:solidFill>
                      <a:prstDash val="solid"/>
                      <a:round/>
                      <a:headEnd type="none" w="med" len="med"/>
                      <a:tailEnd type="none" w="med" len="med"/>
                    </a:lnR>
                    <a:lnT w="6350" cap="flat" cmpd="sng" algn="ctr">
                      <a:solidFill>
                        <a:srgbClr val="D4D4CC"/>
                      </a:solidFill>
                      <a:prstDash val="solid"/>
                      <a:round/>
                      <a:headEnd type="none" w="med" len="med"/>
                      <a:tailEnd type="none" w="med" len="med"/>
                    </a:lnT>
                    <a:lnB w="6350" cap="flat" cmpd="sng" algn="ctr">
                      <a:solidFill>
                        <a:srgbClr val="D4D4CC"/>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52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8A951"/>
          </a:solidFill>
          <a:ln w="12700">
            <a:solidFill>
              <a:srgbClr val="C8A951"/>
            </a:solidFill>
            <a:prstDash val="solid"/>
          </a:ln>
        </p:spPr>
      </p:sp>
      <p:sp>
        <p:nvSpPr>
          <p:cNvPr id="3" name="Text 1"/>
          <p:cNvSpPr/>
          <p:nvPr/>
        </p:nvSpPr>
        <p:spPr>
          <a:xfrm>
            <a:off x="365760" y="731520"/>
            <a:ext cx="6949440" cy="91440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Now Open Your Digital Workbook</a:t>
            </a:r>
            <a:endParaRPr lang="en-US" sz="3200" dirty="0"/>
          </a:p>
        </p:txBody>
      </p:sp>
      <p:sp>
        <p:nvSpPr>
          <p:cNvPr id="4" name="Text 2"/>
          <p:cNvSpPr/>
          <p:nvPr/>
        </p:nvSpPr>
        <p:spPr>
          <a:xfrm>
            <a:off x="365760" y="1737360"/>
            <a:ext cx="6949440" cy="329184"/>
          </a:xfrm>
          <a:prstGeom prst="rect">
            <a:avLst/>
          </a:prstGeom>
          <a:noFill/>
          <a:ln/>
        </p:spPr>
        <p:txBody>
          <a:bodyPr wrap="square" lIns="0" tIns="0" rIns="0" bIns="0" rtlCol="0" anchor="ctr"/>
          <a:lstStyle/>
          <a:p>
            <a:pPr indent="0" marL="0">
              <a:buNone/>
            </a:pPr>
            <a:r>
              <a:rPr lang="en-US" sz="1400" b="1" dirty="0">
                <a:solidFill>
                  <a:srgbClr val="C8A951"/>
                </a:solidFill>
                <a:latin typeface="Calibri" pitchFamily="34" charset="0"/>
                <a:ea typeface="Calibri" pitchFamily="34" charset="-122"/>
                <a:cs typeface="Calibri" pitchFamily="34" charset="-120"/>
              </a:rPr>
              <a:t>HB93CY003RiskManagementDigital.html</a:t>
            </a:r>
            <a:endParaRPr lang="en-US" sz="1400" dirty="0"/>
          </a:p>
        </p:txBody>
      </p:sp>
      <p:sp>
        <p:nvSpPr>
          <p:cNvPr id="5" name="Text 3"/>
          <p:cNvSpPr/>
          <p:nvPr/>
        </p:nvSpPr>
        <p:spPr>
          <a:xfrm>
            <a:off x="365760" y="2176272"/>
            <a:ext cx="6949440" cy="2377440"/>
          </a:xfrm>
          <a:prstGeom prst="rect">
            <a:avLst/>
          </a:prstGeom>
          <a:noFill/>
          <a:ln/>
        </p:spPr>
        <p:txBody>
          <a:bodyPr wrap="square" lIns="0" tIns="0" rIns="0" bIns="0" rtlCol="0" anchor="t"/>
          <a:lstStyle/>
          <a:p>
            <a:pPr marL="342900" indent="-342900">
              <a:buSzPct val="100000"/>
              <a:buChar char="•"/>
            </a:pPr>
            <a:r>
              <a:rPr lang="en-US" sz="1200" dirty="0">
                <a:solidFill>
                  <a:srgbClr val="E8F5EE"/>
                </a:solidFill>
                <a:latin typeface="Calibri" pitchFamily="34" charset="0"/>
                <a:ea typeface="Calibri" pitchFamily="34" charset="-122"/>
                <a:cs typeface="Calibri" pitchFamily="34" charset="-120"/>
              </a:rPr>
              <a:t>Complete student details including your chosen activity on the Cover page</a:t>
            </a:r>
            <a:endParaRPr lang="en-US" sz="1200" dirty="0"/>
          </a:p>
          <a:p>
            <a:pPr marL="342900" indent="-342900">
              <a:buSzPct val="100000"/>
              <a:buChar char="•"/>
            </a:pPr>
            <a:r>
              <a:rPr lang="en-US" sz="1200" dirty="0">
                <a:solidFill>
                  <a:srgbClr val="E8F5EE"/>
                </a:solidFill>
                <a:latin typeface="Calibri" pitchFamily="34" charset="0"/>
                <a:ea typeface="Calibri" pitchFamily="34" charset="-122"/>
                <a:cs typeface="Calibri" pitchFamily="34" charset="-120"/>
              </a:rPr>
              <a:t>LO 1: Name at least TWO pieces of legislation and TWO sets of NGB guidelines</a:t>
            </a:r>
            <a:endParaRPr lang="en-US" sz="1200" dirty="0"/>
          </a:p>
          <a:p>
            <a:pPr marL="342900" indent="-342900">
              <a:buSzPct val="100000"/>
              <a:buChar char="•"/>
            </a:pPr>
            <a:r>
              <a:rPr lang="en-US" sz="1200" dirty="0">
                <a:solidFill>
                  <a:srgbClr val="E8F5EE"/>
                </a:solidFill>
                <a:latin typeface="Calibri" pitchFamily="34" charset="0"/>
                <a:ea typeface="Calibri" pitchFamily="34" charset="-122"/>
                <a:cs typeface="Calibri" pitchFamily="34" charset="-120"/>
              </a:rPr>
              <a:t>LO 2: Complete the hazard/risk table (min. 2 rows) and the emergency scenario</a:t>
            </a:r>
            <a:endParaRPr lang="en-US" sz="1200" dirty="0"/>
          </a:p>
          <a:p>
            <a:pPr marL="342900" indent="-342900">
              <a:buSzPct val="100000"/>
              <a:buChar char="•"/>
            </a:pPr>
            <a:r>
              <a:rPr lang="en-US" sz="1200" dirty="0">
                <a:solidFill>
                  <a:srgbClr val="E8F5EE"/>
                </a:solidFill>
                <a:latin typeface="Calibri" pitchFamily="34" charset="0"/>
                <a:ea typeface="Calibri" pitchFamily="34" charset="-122"/>
                <a:cs typeface="Calibri" pitchFamily="34" charset="-120"/>
              </a:rPr>
              <a:t>LO 3: Build your risk assessment (min. 5 rows) — this is the core piece of evidence</a:t>
            </a:r>
            <a:endParaRPr lang="en-US" sz="1200" dirty="0"/>
          </a:p>
          <a:p>
            <a:pPr marL="342900" indent="-342900">
              <a:buSzPct val="100000"/>
              <a:buChar char="•"/>
            </a:pPr>
            <a:r>
              <a:rPr lang="en-US" sz="1200" dirty="0">
                <a:solidFill>
                  <a:srgbClr val="E8F5EE"/>
                </a:solidFill>
                <a:latin typeface="Calibri" pitchFamily="34" charset="0"/>
                <a:ea typeface="Calibri" pitchFamily="34" charset="-122"/>
                <a:cs typeface="Calibri" pitchFamily="34" charset="-120"/>
              </a:rPr>
              <a:t>AC 3.3 and 4.1 require your assessor to observe you during the practical activity</a:t>
            </a:r>
            <a:endParaRPr lang="en-US" sz="1200" dirty="0"/>
          </a:p>
          <a:p>
            <a:pPr marL="342900" indent="-342900">
              <a:buSzPct val="100000"/>
              <a:buChar char="•"/>
            </a:pPr>
            <a:r>
              <a:rPr lang="en-US" sz="1200" dirty="0">
                <a:solidFill>
                  <a:srgbClr val="E8F5EE"/>
                </a:solidFill>
                <a:latin typeface="Calibri" pitchFamily="34" charset="0"/>
                <a:ea typeface="Calibri" pitchFamily="34" charset="-122"/>
                <a:cs typeface="Calibri" pitchFamily="34" charset="-120"/>
              </a:rPr>
              <a:t>LO 4: Explain your equipment checks (pre AND post activity) + two alternative scenarios</a:t>
            </a:r>
            <a:endParaRPr lang="en-US" sz="1200" dirty="0"/>
          </a:p>
          <a:p>
            <a:pPr marL="342900" indent="-342900">
              <a:buSzPct val="100000"/>
              <a:buChar char="•"/>
            </a:pPr>
            <a:r>
              <a:rPr lang="en-US" sz="1200" dirty="0">
                <a:solidFill>
                  <a:srgbClr val="E8F5EE"/>
                </a:solidFill>
                <a:latin typeface="Calibri" pitchFamily="34" charset="0"/>
                <a:ea typeface="Calibri" pitchFamily="34" charset="-122"/>
                <a:cs typeface="Calibri" pitchFamily="34" charset="-120"/>
              </a:rPr>
              <a:t>Save your work after every session using the ↓ Save button</a:t>
            </a:r>
            <a:endParaRPr lang="en-US" sz="1200" dirty="0"/>
          </a:p>
        </p:txBody>
      </p:sp>
      <p:pic>
        <p:nvPicPr>
          <p:cNvPr id="6" name="Image 0" descr="preencoded.png">    </p:cNvPr>
          <p:cNvPicPr>
            <a:picLocks noChangeAspect="1"/>
          </p:cNvPicPr>
          <p:nvPr/>
        </p:nvPicPr>
        <p:blipFill>
          <a:blip r:embed="rId1"/>
          <a:stretch>
            <a:fillRect/>
          </a:stretch>
        </p:blipFill>
        <p:spPr>
          <a:xfrm>
            <a:off x="7269480" y="3977640"/>
            <a:ext cx="841248" cy="585216"/>
          </a:xfrm>
          <a:prstGeom prst="rect">
            <a:avLst/>
          </a:prstGeom>
        </p:spPr>
      </p:pic>
      <p:pic>
        <p:nvPicPr>
          <p:cNvPr id="7" name="Image 1" descr="preencoded.png">    </p:cNvPr>
          <p:cNvPicPr>
            <a:picLocks noChangeAspect="1"/>
          </p:cNvPicPr>
          <p:nvPr/>
        </p:nvPicPr>
        <p:blipFill>
          <a:blip r:embed="rId2"/>
          <a:stretch>
            <a:fillRect/>
          </a:stretch>
        </p:blipFill>
        <p:spPr>
          <a:xfrm>
            <a:off x="8183880" y="4023360"/>
            <a:ext cx="914400" cy="512064"/>
          </a:xfrm>
          <a:prstGeom prst="rect">
            <a:avLst/>
          </a:prstGeom>
        </p:spPr>
      </p:pic>
      <p:sp>
        <p:nvSpPr>
          <p:cNvPr id="8" name="Shape 4"/>
          <p:cNvSpPr/>
          <p:nvPr/>
        </p:nvSpPr>
        <p:spPr>
          <a:xfrm>
            <a:off x="0" y="4983480"/>
            <a:ext cx="9144000" cy="160020"/>
          </a:xfrm>
          <a:prstGeom prst="rect">
            <a:avLst/>
          </a:prstGeom>
          <a:solidFill>
            <a:srgbClr val="0A2E18"/>
          </a:solidFill>
          <a:ln w="12700">
            <a:solidFill>
              <a:srgbClr val="0A2E18"/>
            </a:solidFill>
            <a:prstDash val="solid"/>
          </a:ln>
        </p:spPr>
      </p:sp>
      <p:sp>
        <p:nvSpPr>
          <p:cNvPr id="9" name="Text 5"/>
          <p:cNvSpPr/>
          <p:nvPr/>
        </p:nvSpPr>
        <p:spPr>
          <a:xfrm>
            <a:off x="274320" y="4983480"/>
            <a:ext cx="8595360" cy="160020"/>
          </a:xfrm>
          <a:prstGeom prst="rect">
            <a:avLst/>
          </a:prstGeom>
          <a:noFill/>
          <a:ln/>
        </p:spPr>
        <p:txBody>
          <a:bodyPr wrap="square" lIns="0" tIns="0" rIns="0" bIns="0" rtlCol="0" anchor="ctr"/>
          <a:lstStyle/>
          <a:p>
            <a:pPr algn="ctr" indent="0" marL="0">
              <a:buNone/>
            </a:pPr>
            <a:r>
              <a:rPr lang="en-US" sz="800" dirty="0">
                <a:solidFill>
                  <a:srgbClr val="E8F5EE"/>
                </a:solidFill>
                <a:latin typeface="Calibri" pitchFamily="34" charset="0"/>
                <a:ea typeface="Calibri" pitchFamily="34" charset="-122"/>
                <a:cs typeface="Calibri" pitchFamily="34" charset="-120"/>
              </a:rPr>
              <a:t>HB93CY003  |  Risk Management when Learning in the Outdoors  |  Jonathan Jones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HB93CY003 Risk Management when Learning in the Outdoors</dc:title>
  <dc:subject>PptxGenJS Presentation</dc:subject>
  <dc:creator>Jonathan Jones</dc:creator>
  <cp:lastModifiedBy>Jonathan Jones</cp:lastModifiedBy>
  <cp:revision>1</cp:revision>
  <dcterms:created xsi:type="dcterms:W3CDTF">2026-06-02T20:03:21Z</dcterms:created>
  <dcterms:modified xsi:type="dcterms:W3CDTF">2026-06-02T20:03:21Z</dcterms:modified>
</cp:coreProperties>
</file>