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Social and Legal Aspects of Personal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Level 2 Certificate/Extended Certificate in Personal and Social Education</a:t>
            </a:r>
          </a:p>
          <a:p>
            <a:r>
              <a:t>Unit Code: HB11CY075  •  Level One  •  1 Credit  •  10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Know about alcohol</a:t>
            </a:r>
          </a:p>
          <a:p>
            <a:pPr>
              <a:defRPr sz="2000"/>
            </a:pPr>
            <a:r>
              <a:t>LO2: Know about drugs</a:t>
            </a:r>
          </a:p>
          <a:p>
            <a:pPr>
              <a:defRPr sz="2000"/>
            </a:pPr>
            <a:r>
              <a:t>LO3: Know about safer relationships</a:t>
            </a:r>
          </a:p>
          <a:p>
            <a:pPr>
              <a:defRPr sz="2000"/>
            </a:pPr>
            <a:r>
              <a:t>LO4: Know about the dangers of sexual exploitation</a:t>
            </a:r>
          </a:p>
          <a:p>
            <a:pPr>
              <a:defRPr sz="2000"/>
            </a:pPr>
            <a:r>
              <a:t>LO5: Know about the impact of distractions whilst driving</a:t>
            </a:r>
          </a:p>
          <a:p>
            <a:pPr>
              <a:defRPr sz="2000"/>
            </a:pPr>
            <a:r>
              <a:t>LO6: Know of help and support organisations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Know about alcohol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Identify the strength of a range of alcoholic drinks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1.2: State the recommended safety guidelines for alcohol consumption for men and women.</a:t>
            </a:r>
          </a:p>
          <a:p>
            <a:pPr lvl="1">
              <a:defRPr sz="1600"/>
            </a:pPr>
            <a:r>
              <a:t>Men</a:t>
            </a:r>
          </a:p>
          <a:p>
            <a:pPr lvl="1">
              <a:defRPr sz="1600"/>
            </a:pPr>
            <a:r>
              <a:t>Women</a:t>
            </a:r>
          </a:p>
          <a:p>
            <a:pPr>
              <a:defRPr sz="2000"/>
            </a:pPr>
            <a:r>
              <a:t>AC 1.3: Give examples of the consequences of consuming alcohol (at least three, to include legal and social).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1.4: Identify ways of reducing the harm associated with alcohol consumption (at least three).</a:t>
            </a:r>
          </a:p>
          <a:p>
            <a:pPr lvl="1">
              <a:defRPr sz="1600"/>
            </a:pPr>
            <a:r>
              <a:t>At least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Know about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State the potential dangers of newly emerging drugs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2.2: State reasons why people misuse drugs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2.3: Identify drugs as set out by the Misuse of Drugs Act 1971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2.4: Identify the legal consequences of substance misuse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2.5: Identify the impact of substance misuse on an individual (at least three).</a:t>
            </a:r>
          </a:p>
          <a:p>
            <a:pPr lvl="1">
              <a:defRPr sz="1600"/>
            </a:pPr>
            <a:r>
              <a:t>At least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Know about safer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Identify when a person cannot give sexual consent (at least five factors).</a:t>
            </a:r>
          </a:p>
          <a:p>
            <a:pPr lvl="1">
              <a:defRPr sz="1600"/>
            </a:pPr>
            <a:r>
              <a:t>At least 5</a:t>
            </a:r>
          </a:p>
          <a:p>
            <a:pPr>
              <a:defRPr sz="2000"/>
            </a:pPr>
            <a:r>
              <a:t>AC 3.2: State the legal consequences of breaking the law in relation to sexual consent (at least three).</a:t>
            </a:r>
          </a:p>
          <a:p>
            <a:pPr lvl="1">
              <a:defRPr sz="1600"/>
            </a:pPr>
            <a:r>
              <a:t>At least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LO4: Know about the dangers of sexual 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4.1: Identify a range of warning signs associated with sexual exploitation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4.2: Give examples of ways for keeping safe in relation to sexual exploitation (at least three).</a:t>
            </a:r>
          </a:p>
          <a:p>
            <a:pPr lvl="1">
              <a:defRPr sz="1600"/>
            </a:pPr>
            <a:r>
              <a:t>At least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LO5: Know about the impact of distractions whilst driving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5.1: Identify distractions that could cause traffic accidents — the “Fatal Five” (at least five).</a:t>
            </a:r>
          </a:p>
          <a:p>
            <a:pPr lvl="1">
              <a:defRPr sz="1600"/>
            </a:pPr>
            <a:r>
              <a:t>At least 5</a:t>
            </a:r>
          </a:p>
          <a:p>
            <a:pPr>
              <a:defRPr sz="2000"/>
            </a:pPr>
            <a:r>
              <a:t>AC 5.2: Identify the consequences of unsafe driving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5.3: State the traffic law in relation to the following.</a:t>
            </a:r>
          </a:p>
          <a:p>
            <a:pPr lvl="1">
              <a:defRPr sz="1600"/>
            </a:pPr>
            <a:r>
              <a:t>Seatbelts</a:t>
            </a:r>
          </a:p>
          <a:p>
            <a:pPr lvl="1">
              <a:defRPr sz="1600"/>
            </a:pPr>
            <a:r>
              <a:t>Mobile Phones</a:t>
            </a:r>
          </a:p>
          <a:p>
            <a:pPr lvl="1">
              <a:defRPr sz="1600"/>
            </a:pPr>
            <a:r>
              <a:t>Drugs and Alcohol</a:t>
            </a:r>
          </a:p>
          <a:p>
            <a:pPr lvl="1">
              <a:defRPr sz="1600"/>
            </a:pPr>
            <a:r>
              <a:t>Speed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LO6: Know of help and support organisations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6.1: Identify organisations that can provide support and guidance for each of the following (at least one each).</a:t>
            </a:r>
          </a:p>
          <a:p>
            <a:pPr lvl="1">
              <a:defRPr sz="1600"/>
            </a:pPr>
            <a:r>
              <a:t>Alcohol</a:t>
            </a:r>
          </a:p>
          <a:p>
            <a:pPr lvl="1">
              <a:defRPr sz="1600"/>
            </a:pPr>
            <a:r>
              <a:t>Drugs</a:t>
            </a:r>
          </a:p>
          <a:p>
            <a:pPr lvl="1">
              <a:defRPr sz="1600"/>
            </a:pPr>
            <a:r>
              <a:t>Sexual Exploitation</a:t>
            </a:r>
          </a:p>
          <a:p>
            <a:pPr lvl="1">
              <a:defRPr sz="1600"/>
            </a:pPr>
            <a:r>
              <a:t>Relationships</a:t>
            </a:r>
          </a:p>
          <a:p>
            <a:pPr lvl="1">
              <a:defRPr sz="1600"/>
            </a:pPr>
            <a:r>
              <a:t>Driving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Consent: Freely and knowingly agreeing to something. A person cannot give consent if they are unable to understand or communicate a choice.</a:t>
            </a:r>
          </a:p>
          <a:p>
            <a:pPr>
              <a:defRPr sz="2000"/>
            </a:pPr>
            <a:r>
              <a:t>Sexual exploitation: When someone is manipulated, pressured or forced into sexual activity, often through a false sense of trust or power imbalance.</a:t>
            </a:r>
          </a:p>
          <a:p>
            <a:pPr>
              <a:defRPr sz="2000"/>
            </a:pPr>
            <a:r>
              <a:t>Substance misuse: Using drugs or alcohol in a way that is harmful to your health or the health of others.</a:t>
            </a:r>
          </a:p>
          <a:p>
            <a:pPr>
              <a:defRPr sz="2000"/>
            </a:pPr>
            <a:r>
              <a:t>Legal consequence: A penalty or outcome set out by law, such as a fine, caution, or prosecution.</a:t>
            </a:r>
          </a:p>
          <a:p>
            <a:pPr>
              <a:defRPr sz="2000"/>
            </a:pPr>
            <a:r>
              <a:t>The Fatal Five: The five most common causes of fatal road traffic collisions: speed, drink/drug driving, not wearing a seatbelt, using a mobile phone, and careless driving.</a:t>
            </a:r>
          </a:p>
          <a:p>
            <a:pPr>
              <a:defRPr sz="2000"/>
            </a:pPr>
            <a:r>
              <a:t>Units (alcohol): A measure of the amount of pure alcohol in a drink, used to track safe drinking guidelines.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