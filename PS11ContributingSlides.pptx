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05840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BTEC LEVEL 1 INTRODUCTORY  ·  PUBLIC SERVICES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48640" y="24231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PS11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2971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 to Your Community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4160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Guided Learning Hours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484632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E4A80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498348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530352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out about a volunteering organisation and how its activities have a positive impact on the community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4846320"/>
            <a:ext cx="5349240" cy="1463040"/>
          </a:xfrm>
          <a:prstGeom prst="roundRect">
            <a:avLst>
              <a:gd name="adj" fmla="val 5000"/>
            </a:avLst>
          </a:prstGeom>
          <a:solidFill>
            <a:srgbClr val="1E4A80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498348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92240" y="530352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a volunteering activity that contributes to your community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Overview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learning aims, nine assessment criteria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8EEF7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1527048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A — Researching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383280" y="152704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select from given sources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172200" y="152704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A.M1 outline impact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152704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A.D1 own + given sources, describe impact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8EEF7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944368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A — Producing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383280" y="294436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A.P2 produce information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172200" y="294436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A.M2 produce clear info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961120" y="294436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A.D2 produce detailed info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25196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E8EEF7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4361688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B — Volunteering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383280" y="436168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B.P3 take part, some commitment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72200" y="4361688"/>
            <a:ext cx="2651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B.M3 positive &amp; helpful attitude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961120" y="436168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B.D3 effective, commitment &amp; responsibility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 to Your Community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265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3840480" y="237744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0" y="292608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Out About a Volunteering Organisation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840480" y="397764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A.P1  ·  A.P2  ·  A.M1  ·  A.M2  ·  A.D1  ·  A.D2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274320"/>
            <a:ext cx="269748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0" y="2743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· A.M1 · A.D1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Volunteers Matter to the Public Services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9601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volunteer gives their time to help others or an organisation — without being paid.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E8EEF7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691640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RNLI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657600" y="169164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lifeboats and raise money to save lives at sea — most crew are unpaid volunteers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65176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E8EEF7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743200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Rescue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657600" y="274320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and rescue people lost or injured in the mountains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E8EEF7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3794760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/ college governors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657600" y="379476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run schools and colleges, giving their time for free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754880"/>
            <a:ext cx="11064240" cy="896112"/>
          </a:xfrm>
          <a:prstGeom prst="roundRect">
            <a:avLst>
              <a:gd name="adj" fmla="val 6122"/>
            </a:avLst>
          </a:prstGeom>
          <a:solidFill>
            <a:srgbClr val="E8EEF7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4846320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 John Ambulance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657600" y="4846320"/>
            <a:ext cx="7772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first aid cover at events, run by trained volunteers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/>
        </p:spPr>
      </p:sp>
      <p:sp>
        <p:nvSpPr>
          <p:cNvPr id="20" name="Text 17"/>
          <p:cNvSpPr/>
          <p:nvPr/>
        </p:nvSpPr>
        <p:spPr>
          <a:xfrm>
            <a:off x="822960" y="5861304"/>
            <a:ext cx="10515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 </a:t>
            </a:r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Volunteering helps the community and helps the volunteer gain new skills and experience.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PS11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1 — Volunteering and the Public Services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274320"/>
            <a:ext cx="269748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0" y="2743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A.P1 · A.M1 · A.D1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Community Volunteering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9601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type has a positive impact on the community — you must show HOW, not just WHAT.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2078"/>
            </a:avLst>
          </a:prstGeom>
          <a:solidFill>
            <a:srgbClr val="F7F9FC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8288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Advice, support or care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260604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28803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bank, befriending, disability charity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37033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impact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77240" y="397764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Helps disadvantaged people, improves wellbeing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43400" y="1600200"/>
            <a:ext cx="3520440" cy="3840480"/>
          </a:xfrm>
          <a:prstGeom prst="roundRect">
            <a:avLst>
              <a:gd name="adj" fmla="val 2078"/>
            </a:avLst>
          </a:prstGeom>
          <a:solidFill>
            <a:srgbClr val="E8EEF7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0" y="18288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cohesion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72000" y="260604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572000" y="28803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club, music club, sports team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572000" y="37033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impact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572000" y="397764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people together, sense of belonging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38160" y="1600200"/>
            <a:ext cx="3520440" cy="3840480"/>
          </a:xfrm>
          <a:prstGeom prst="roundRect">
            <a:avLst>
              <a:gd name="adj" fmla="val 2078"/>
            </a:avLst>
          </a:prstGeom>
          <a:solidFill>
            <a:srgbClr val="F7F9FC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182880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experience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366760" y="260604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366760" y="2880360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Charity shop, community centre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366760" y="37033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impact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66760" y="397764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services running, supports good causes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6" name="Text 23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PS11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2 — Types of Community Volunteering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27432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E40A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74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82296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Good Source? Two to Compare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48640" y="1417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A.D1 you find your own source — not every source is equally trustworthy.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5349240" cy="3749040"/>
          </a:xfrm>
          <a:prstGeom prst="roundRect">
            <a:avLst>
              <a:gd name="adj" fmla="val 1951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1031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three-year-old forum post from someone claiming to have once donated to the charity, with no name or date given.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34747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379476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2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— can't check who wrote it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42062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2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— the charity's work may have changed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2296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✗"/>
            </a:pPr>
            <a:r>
              <a:rPr lang="en-US" sz="12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opinion, not fact-checked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63640" y="1920240"/>
            <a:ext cx="5349240" cy="3749040"/>
          </a:xfrm>
          <a:prstGeom prst="roundRect">
            <a:avLst>
              <a:gd name="adj" fmla="val 1951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37960" y="21031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B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37960" y="2514600"/>
            <a:ext cx="4800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charity's own official website, with an 'About Us' page updated this year and named trustees.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37960" y="34747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stronger: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537960" y="379476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— comes from the organisation itself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37960" y="42062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— reflects current activities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53796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✓"/>
            </a:pPr>
            <a:r>
              <a:rPr lang="en-US" sz="1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Named, accountable authors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PS11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4 — Judging Source Quality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274320"/>
            <a:ext cx="269748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0" y="2743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A.P2 · A.M2 · A.D2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to You and Skills You Need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for the individual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and improved skills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0574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of your community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56032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and giving back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063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▪"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of public-service work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72200" y="1097280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E8EEF7"/>
          </a:solidFill>
          <a:ln/>
        </p:spPr>
      </p:sp>
      <p:sp>
        <p:nvSpPr>
          <p:cNvPr id="12" name="Text 9"/>
          <p:cNvSpPr/>
          <p:nvPr/>
        </p:nvSpPr>
        <p:spPr>
          <a:xfrm>
            <a:off x="644652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needed to volunteer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46520" y="1874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skills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46520" y="224028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Commitment, discipline, self-management, time management, punctuality, reliability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46520" y="3017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Interpersonal skills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46520" y="338328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Teamwork, respect, helping others, taking part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46520" y="41605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skills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46520" y="4526280"/>
            <a:ext cx="4937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Driving, cooking, computer use, sign language, physical fitness (for some roles)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0" name="Text 17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PS11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3 — Benefits to You and Skills You Need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0"/>
            <a:ext cx="2743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265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3840480" y="237744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Aim B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840480" y="292608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a Volunteering Activity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840480" y="397764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Covers: B.P3  ·  B.M3  ·  B.D3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274320"/>
            <a:ext cx="2697480" cy="384048"/>
          </a:xfrm>
          <a:prstGeom prst="roundRect">
            <a:avLst>
              <a:gd name="adj" fmla="val 19048"/>
            </a:avLst>
          </a:prstGeom>
          <a:solidFill>
            <a:srgbClr val="C8A951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0" y="274320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B.P3 · B.M3 · B.D3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32004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Part in a Volunteering Activity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you behave is just as important as the task itself.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8A9AA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61848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(B.P3)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08960" y="1618488"/>
            <a:ext cx="8321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part in a volunteering activity, showing some commitment. You may rely on others for direction.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74320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3E6BA8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285292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(B.M3)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108960" y="2852928"/>
            <a:ext cx="8321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part showing a positive and helpful attitude — be reliable and manage your own time.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9776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122952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087368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 (B.D3)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08960" y="4087368"/>
            <a:ext cx="8321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 effectively, showing commitment and responsibility for others — support others and take ownership.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5212080"/>
            <a:ext cx="11064240" cy="594360"/>
          </a:xfrm>
          <a:prstGeom prst="roundRect">
            <a:avLst>
              <a:gd name="adj" fmla="val 9231"/>
            </a:avLst>
          </a:prstGeom>
          <a:solidFill>
            <a:srgbClr val="F0FDF4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52852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needed:  </a:t>
            </a:r>
            <a:pPr indent="0" marL="0">
              <a:buNone/>
            </a:pPr>
            <a:r>
              <a:rPr lang="en-US" sz="13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activity log AND a signed witness statement from your tutor or supervisor.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PS11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5 — Taking Part in a Volunteering Activity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27432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1E40A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274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82296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Reflection — Priya at the Food Bank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8A9AAF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664208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level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017520" y="1664208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helped sort food donations at the food bank for two hours."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3E6BA8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3081528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level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017520" y="3081528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helped sort food donations and made sure I turned up on time both sessions. When a visitor seemed upset, I made time to listen even though it wasn't my job."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38912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22952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498848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 level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017520" y="4498848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didn't just sort donations — I noticed a new volunteer wasn't sure of the process, so I showed them how we label items and checked in with them through the shift. I made sure the stockroom was tidy for the next team before I left."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591616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 </a:t>
            </a:r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 isn't longer — it shows Priya taking responsibility for someone else, not just doing her own task.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8" name="Text 15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PS11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Hub 5 — Model Reflection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28600"/>
            <a:ext cx="7772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— Key Terms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161288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5" name="Text 2"/>
          <p:cNvSpPr/>
          <p:nvPr/>
        </p:nvSpPr>
        <p:spPr>
          <a:xfrm>
            <a:off x="685800" y="1161288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560320" y="116128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time to help without being paid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263640" y="1161288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0" y="1161288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Voluntary organisation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75320" y="1161288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Group/charity organising unpaid work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947672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1947672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impact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560320" y="1947672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or helpful effect on people/community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63640" y="1947672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0" y="1947672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cohesion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75320" y="1947672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backgrounds getting on well together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2734056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2734056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Fund-raising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560320" y="2734056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money to support a cause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63640" y="2734056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2734056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275320" y="2734056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up reliably and trying your best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3520440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3520440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60320" y="352044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 can depend on you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63640" y="3520440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F7F9FC"/>
          </a:solidFill>
          <a:ln/>
        </p:spPr>
      </p:sp>
      <p:sp>
        <p:nvSpPr>
          <p:cNvPr id="26" name="Text 23"/>
          <p:cNvSpPr/>
          <p:nvPr/>
        </p:nvSpPr>
        <p:spPr>
          <a:xfrm>
            <a:off x="6400800" y="3520440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Self-management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275320" y="3520440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Organising yourself without being told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48640" y="4306824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85800" y="4306824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statement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2560320" y="430682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record confirming your contribution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263640" y="4306824"/>
            <a:ext cx="5440680" cy="676656"/>
          </a:xfrm>
          <a:prstGeom prst="roundRect">
            <a:avLst>
              <a:gd name="adj" fmla="val 6757"/>
            </a:avLst>
          </a:prstGeom>
          <a:solidFill>
            <a:srgbClr val="E8EEF7"/>
          </a:solidFill>
          <a:ln/>
        </p:spPr>
      </p:sp>
      <p:sp>
        <p:nvSpPr>
          <p:cNvPr id="32" name="Text 29"/>
          <p:cNvSpPr/>
          <p:nvPr/>
        </p:nvSpPr>
        <p:spPr>
          <a:xfrm>
            <a:off x="6400800" y="4306824"/>
            <a:ext cx="18288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log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8275320" y="4306824"/>
            <a:ext cx="3291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of sources used and info found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274320" y="65379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PS11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7772400" y="6537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Summary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5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05840" cy="7132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377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" y="29260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Digital Workbook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48640" y="3794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PS11ContributingDigital.html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34340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Learning Aim A and Learning Aim B, record your evidence, and submit for assessment.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2026-07-26T22:08:01Z</dcterms:created>
  <dcterms:modified xsi:type="dcterms:W3CDTF">2026-07-26T22:08:01Z</dcterms:modified>
</cp:coreProperties>
</file>